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6.xml" ContentType="application/vnd.openxmlformats-officedocument.drawingml.chart+xml"/>
  <Override PartName="/ppt/notesSlides/notesSlide20.xml" ContentType="application/vnd.openxmlformats-officedocument.presentationml.notesSlide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ppt/charts/chart8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Correlation with charges</c:v>
          </c:tx>
          <c:spPr>
            <a:solidFill>
              <a:srgbClr val="1565A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0D8A8A"/>
              </a:solidFill>
            </c:spPr>
            <c:extLst>
              <c:ext xmlns:c16="http://schemas.microsoft.com/office/drawing/2014/chart" uri="{C3380CC4-5D6E-409C-BE32-E72D297353CC}">
                <c16:uniqueId val="{00000001-8DB8-4C24-82D5-76B185925DC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DB8-4C24-82D5-76B185925DC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DB8-4C24-82D5-76B185925DC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200" b="1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Smoking status</c:v>
                </c:pt>
                <c:pt idx="1">
                  <c:v>Age</c:v>
                </c:pt>
                <c:pt idx="2">
                  <c:v>BMI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0.79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8DB8-4C24-82D5-76B185925D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8890"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rPr>
                  <a:t>Correlation with charges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4F6F7"/>
        </a:solidFill>
      </c:spPr>
    </c:plotArea>
    <c:plotVisOnly val="1"/>
    <c:dispBlanksAs val="zero"/>
    <c:showDLblsOverMax val="1"/>
  </c:chart>
  <c:spPr>
    <a:solidFill>
      <a:srgbClr val="F4F6F7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Medical charges ($)</c:v>
          </c:tx>
          <c:spPr>
            <a:solidFill>
              <a:srgbClr val="1565A0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E4-44F1-89A2-407B857CB7F7}"/>
              </c:ext>
            </c:extLst>
          </c:dPt>
          <c:dPt>
            <c:idx val="1"/>
            <c:invertIfNegative val="0"/>
            <c:bubble3D val="0"/>
            <c:spPr>
              <a:solidFill>
                <a:srgbClr val="0D8A8A"/>
              </a:solidFill>
            </c:spPr>
            <c:extLst>
              <c:ext xmlns:c16="http://schemas.microsoft.com/office/drawing/2014/chart" uri="{C3380CC4-5D6E-409C-BE32-E72D297353CC}">
                <c16:uniqueId val="{00000003-7EE4-44F1-89A2-407B857CB7F7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200" b="1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Benchmark</c:v>
                </c:pt>
                <c:pt idx="1">
                  <c:v>Data average</c:v>
                </c:pt>
              </c:strCache>
            </c:strRef>
          </c:cat>
          <c:val>
            <c:numRef>
              <c:f>'Chart Data'!$B$2:$B$3</c:f>
              <c:numCache>
                <c:formatCode>\$#,##0</c:formatCode>
                <c:ptCount val="2"/>
                <c:pt idx="0">
                  <c:v>10000</c:v>
                </c:pt>
                <c:pt idx="1">
                  <c:v>13279.12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7EE4-44F1-89A2-407B857CB7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6000"/>
          <c:min val="0"/>
        </c:scaling>
        <c:delete val="0"/>
        <c:axPos val="l"/>
        <c:majorGridlines>
          <c:spPr>
            <a:ln w="8890"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rPr>
                  <a:t>Medical charges ($)</a:t>
                </a:r>
              </a:p>
            </c:rich>
          </c:tx>
          <c:overlay val="0"/>
        </c:title>
        <c:numFmt formatCode="\$#,##0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4F6F7"/>
        </a:solidFill>
      </c:spPr>
    </c:plotArea>
    <c:plotVisOnly val="1"/>
    <c:dispBlanksAs val="zero"/>
    <c:showDLblsOverMax val="1"/>
  </c:chart>
  <c:spPr>
    <a:solidFill>
      <a:srgbClr val="F4F6F7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medical charges ($)</c:v>
          </c:tx>
          <c:spPr>
            <a:solidFill>
              <a:srgbClr val="1565A0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0E-452B-83F5-B38DE59537E6}"/>
              </c:ext>
            </c:extLst>
          </c:dPt>
          <c:dPt>
            <c:idx val="1"/>
            <c:invertIfNegative val="0"/>
            <c:bubble3D val="0"/>
            <c:spPr>
              <a:solidFill>
                <a:srgbClr val="0D8A8A"/>
              </a:solidFill>
            </c:spPr>
            <c:extLst>
              <c:ext xmlns:c16="http://schemas.microsoft.com/office/drawing/2014/chart" uri="{C3380CC4-5D6E-409C-BE32-E72D297353CC}">
                <c16:uniqueId val="{00000003-150E-452B-83F5-B38DE59537E6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200" b="1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Non-smokers</c:v>
                </c:pt>
                <c:pt idx="1">
                  <c:v>Smokers</c:v>
                </c:pt>
              </c:strCache>
            </c:strRef>
          </c:cat>
          <c:val>
            <c:numRef>
              <c:f>'Chart Data'!$B$2:$B$3</c:f>
              <c:numCache>
                <c:formatCode>\$#,##0</c:formatCode>
                <c:ptCount val="2"/>
                <c:pt idx="0">
                  <c:v>8440.66</c:v>
                </c:pt>
                <c:pt idx="1">
                  <c:v>32050.23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150E-452B-83F5-B38DE59537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w="8890"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rPr>
                  <a:t>Average medical charges ($)</a:t>
                </a:r>
              </a:p>
            </c:rich>
          </c:tx>
          <c:overlay val="0"/>
        </c:title>
        <c:numFmt formatCode="\$#,##0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4F6F7"/>
        </a:solidFill>
      </c:spPr>
    </c:plotArea>
    <c:plotVisOnly val="1"/>
    <c:dispBlanksAs val="zero"/>
    <c:showDLblsOverMax val="1"/>
  </c:chart>
  <c:spPr>
    <a:solidFill>
      <a:srgbClr val="F4F6F7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Smokers within each group</c:v>
          </c:tx>
          <c:spPr>
            <a:solidFill>
              <a:srgbClr val="1565A0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C1F-4665-A8B6-59E591CBD1F8}"/>
              </c:ext>
            </c:extLst>
          </c:dPt>
          <c:dPt>
            <c:idx val="1"/>
            <c:invertIfNegative val="0"/>
            <c:bubble3D val="0"/>
            <c:spPr>
              <a:solidFill>
                <a:srgbClr val="0D8A8A"/>
              </a:solidFill>
            </c:spPr>
            <c:extLst>
              <c:ext xmlns:c16="http://schemas.microsoft.com/office/drawing/2014/chart" uri="{C3380CC4-5D6E-409C-BE32-E72D297353CC}">
                <c16:uniqueId val="{00000003-0C1F-4665-A8B6-59E591CBD1F8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200" b="1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No covered
dependents</c:v>
                </c:pt>
                <c:pt idx="1">
                  <c:v>Has covered
dependents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0.20069999999999999</c:v>
                </c:pt>
                <c:pt idx="1">
                  <c:v>0.20810000000000001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0C1F-4665-A8B6-59E591CBD1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w="8890"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rPr>
                  <a:t>Smokers within each group</a:t>
                </a:r>
              </a:p>
            </c:rich>
          </c:tx>
          <c:overlay val="0"/>
        </c:title>
        <c:numFmt formatCode="0.0%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4F6F7"/>
        </a:solidFill>
      </c:spPr>
    </c:plotArea>
    <c:plotVisOnly val="1"/>
    <c:dispBlanksAs val="zero"/>
    <c:showDLblsOverMax val="1"/>
  </c:chart>
  <c:spPr>
    <a:solidFill>
      <a:srgbClr val="F4F6F7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Test records</c:v>
          </c:tx>
          <c:spPr>
            <a:ln w="0">
              <a:noFill/>
            </a:ln>
          </c:spPr>
          <c:marker>
            <c:symbol val="circle"/>
            <c:size val="5"/>
            <c:spPr>
              <a:solidFill>
                <a:srgbClr val="1565A0"/>
              </a:solidFill>
            </c:spPr>
          </c:marker>
          <c:xVal>
            <c:numRef>
              <c:f>'Chart Data'!$A$2:$A$269</c:f>
              <c:numCache>
                <c:formatCode>General</c:formatCode>
                <c:ptCount val="268"/>
                <c:pt idx="0">
                  <c:v>8688.8588500000005</c:v>
                </c:pt>
                <c:pt idx="1">
                  <c:v>5708.8670000000002</c:v>
                </c:pt>
                <c:pt idx="2">
                  <c:v>11436.738149999999</c:v>
                </c:pt>
                <c:pt idx="3">
                  <c:v>38746.355100000001</c:v>
                </c:pt>
                <c:pt idx="4">
                  <c:v>4463.2051000000001</c:v>
                </c:pt>
                <c:pt idx="5">
                  <c:v>9304.7019</c:v>
                </c:pt>
                <c:pt idx="6">
                  <c:v>38511.628299999997</c:v>
                </c:pt>
                <c:pt idx="7">
                  <c:v>2150.4690000000001</c:v>
                </c:pt>
                <c:pt idx="8">
                  <c:v>7345.7266</c:v>
                </c:pt>
                <c:pt idx="9">
                  <c:v>10264.4421</c:v>
                </c:pt>
                <c:pt idx="10">
                  <c:v>13415.0381</c:v>
                </c:pt>
                <c:pt idx="11">
                  <c:v>24393.6224</c:v>
                </c:pt>
                <c:pt idx="12">
                  <c:v>37607.527699999999</c:v>
                </c:pt>
                <c:pt idx="13">
                  <c:v>13063.883</c:v>
                </c:pt>
                <c:pt idx="14">
                  <c:v>24915.046259999999</c:v>
                </c:pt>
                <c:pt idx="15">
                  <c:v>8027.9679999999998</c:v>
                </c:pt>
                <c:pt idx="16">
                  <c:v>1980.07</c:v>
                </c:pt>
                <c:pt idx="17">
                  <c:v>38709.175999999999</c:v>
                </c:pt>
                <c:pt idx="18">
                  <c:v>3484.3310000000001</c:v>
                </c:pt>
                <c:pt idx="19">
                  <c:v>3947.4131000000002</c:v>
                </c:pt>
                <c:pt idx="20">
                  <c:v>1880.07</c:v>
                </c:pt>
                <c:pt idx="21">
                  <c:v>20773.62775</c:v>
                </c:pt>
                <c:pt idx="22">
                  <c:v>9800.8881999999994</c:v>
                </c:pt>
                <c:pt idx="23">
                  <c:v>21082.16</c:v>
                </c:pt>
                <c:pt idx="24">
                  <c:v>55135.402090000003</c:v>
                </c:pt>
                <c:pt idx="25">
                  <c:v>3579.8287</c:v>
                </c:pt>
                <c:pt idx="26">
                  <c:v>43896.376300000004</c:v>
                </c:pt>
                <c:pt idx="27">
                  <c:v>52590.829389999999</c:v>
                </c:pt>
                <c:pt idx="28">
                  <c:v>9778.3472000000002</c:v>
                </c:pt>
                <c:pt idx="29">
                  <c:v>10736.87075</c:v>
                </c:pt>
                <c:pt idx="30">
                  <c:v>4347.0233500000004</c:v>
                </c:pt>
                <c:pt idx="31">
                  <c:v>9048.0272999999997</c:v>
                </c:pt>
                <c:pt idx="32">
                  <c:v>1711.0268000000001</c:v>
                </c:pt>
                <c:pt idx="33">
                  <c:v>12333.828</c:v>
                </c:pt>
                <c:pt idx="34">
                  <c:v>63770.428010000003</c:v>
                </c:pt>
                <c:pt idx="35">
                  <c:v>9872.7009999999991</c:v>
                </c:pt>
                <c:pt idx="36">
                  <c:v>4687.7969999999996</c:v>
                </c:pt>
                <c:pt idx="37">
                  <c:v>5693.4305000000004</c:v>
                </c:pt>
                <c:pt idx="38">
                  <c:v>21195.817999999999</c:v>
                </c:pt>
                <c:pt idx="39">
                  <c:v>8233.0974999999999</c:v>
                </c:pt>
                <c:pt idx="40">
                  <c:v>2755.0209500000001</c:v>
                </c:pt>
                <c:pt idx="41">
                  <c:v>19798.054550000001</c:v>
                </c:pt>
                <c:pt idx="42">
                  <c:v>42124.515299999999</c:v>
                </c:pt>
                <c:pt idx="43">
                  <c:v>9964.06</c:v>
                </c:pt>
                <c:pt idx="44">
                  <c:v>9193.8384999999998</c:v>
                </c:pt>
                <c:pt idx="45">
                  <c:v>3161.4540000000002</c:v>
                </c:pt>
                <c:pt idx="46">
                  <c:v>2217.6012000000001</c:v>
                </c:pt>
                <c:pt idx="47">
                  <c:v>7337.7479999999996</c:v>
                </c:pt>
                <c:pt idx="48">
                  <c:v>4133.6416499999996</c:v>
                </c:pt>
                <c:pt idx="49">
                  <c:v>6338.0756000000001</c:v>
                </c:pt>
                <c:pt idx="50">
                  <c:v>4349.4620000000004</c:v>
                </c:pt>
                <c:pt idx="51">
                  <c:v>5757.41345</c:v>
                </c:pt>
                <c:pt idx="52">
                  <c:v>21771.3423</c:v>
                </c:pt>
                <c:pt idx="53">
                  <c:v>1391.5287000000001</c:v>
                </c:pt>
                <c:pt idx="54">
                  <c:v>7160.0940000000001</c:v>
                </c:pt>
                <c:pt idx="55">
                  <c:v>7731.4270999999999</c:v>
                </c:pt>
                <c:pt idx="56">
                  <c:v>9957.7216000000008</c:v>
                </c:pt>
                <c:pt idx="57">
                  <c:v>3594.17085</c:v>
                </c:pt>
                <c:pt idx="58">
                  <c:v>38282.749499999998</c:v>
                </c:pt>
                <c:pt idx="59">
                  <c:v>7256.7231000000002</c:v>
                </c:pt>
                <c:pt idx="60">
                  <c:v>10977.2063</c:v>
                </c:pt>
                <c:pt idx="61">
                  <c:v>5245.2268999999997</c:v>
                </c:pt>
                <c:pt idx="62">
                  <c:v>11187.6567</c:v>
                </c:pt>
                <c:pt idx="63">
                  <c:v>1708.9257500000001</c:v>
                </c:pt>
                <c:pt idx="64">
                  <c:v>11411.684999999999</c:v>
                </c:pt>
                <c:pt idx="65">
                  <c:v>11729.6795</c:v>
                </c:pt>
                <c:pt idx="66">
                  <c:v>6079.6715000000004</c:v>
                </c:pt>
                <c:pt idx="67">
                  <c:v>37829.724199999997</c:v>
                </c:pt>
                <c:pt idx="68">
                  <c:v>16297.846</c:v>
                </c:pt>
                <c:pt idx="69">
                  <c:v>31620.001059999999</c:v>
                </c:pt>
                <c:pt idx="70">
                  <c:v>9991.0376500000002</c:v>
                </c:pt>
                <c:pt idx="71">
                  <c:v>2203.4718499999999</c:v>
                </c:pt>
                <c:pt idx="72">
                  <c:v>6858.4795999999997</c:v>
                </c:pt>
                <c:pt idx="73">
                  <c:v>3167.4558499999998</c:v>
                </c:pt>
                <c:pt idx="74">
                  <c:v>10796.35025</c:v>
                </c:pt>
                <c:pt idx="75">
                  <c:v>1728.8969999999999</c:v>
                </c:pt>
                <c:pt idx="76">
                  <c:v>12574.049000000001</c:v>
                </c:pt>
                <c:pt idx="77">
                  <c:v>4889.9994999999999</c:v>
                </c:pt>
                <c:pt idx="78">
                  <c:v>9182.17</c:v>
                </c:pt>
                <c:pt idx="79">
                  <c:v>30259.995559999999</c:v>
                </c:pt>
                <c:pt idx="80">
                  <c:v>16796.411940000002</c:v>
                </c:pt>
                <c:pt idx="81">
                  <c:v>12592.5345</c:v>
                </c:pt>
                <c:pt idx="82">
                  <c:v>12741.167450000001</c:v>
                </c:pt>
                <c:pt idx="83">
                  <c:v>18806.145469999999</c:v>
                </c:pt>
                <c:pt idx="84">
                  <c:v>29523.1656</c:v>
                </c:pt>
                <c:pt idx="85">
                  <c:v>12925.886</c:v>
                </c:pt>
                <c:pt idx="86">
                  <c:v>3645.0893999999998</c:v>
                </c:pt>
                <c:pt idx="87">
                  <c:v>1719.4363000000001</c:v>
                </c:pt>
                <c:pt idx="88">
                  <c:v>1984.4532999999999</c:v>
                </c:pt>
                <c:pt idx="89">
                  <c:v>1824.2854</c:v>
                </c:pt>
                <c:pt idx="90">
                  <c:v>13919.822899999999</c:v>
                </c:pt>
                <c:pt idx="91">
                  <c:v>18765.87545</c:v>
                </c:pt>
                <c:pt idx="92">
                  <c:v>5615.3689999999997</c:v>
                </c:pt>
                <c:pt idx="93">
                  <c:v>1526.3119999999999</c:v>
                </c:pt>
                <c:pt idx="94">
                  <c:v>1743.2139999999999</c:v>
                </c:pt>
                <c:pt idx="95">
                  <c:v>43254.417950000003</c:v>
                </c:pt>
                <c:pt idx="96">
                  <c:v>9504.3102999999992</c:v>
                </c:pt>
                <c:pt idx="97">
                  <c:v>8232.6388000000006</c:v>
                </c:pt>
                <c:pt idx="98">
                  <c:v>1674.6323</c:v>
                </c:pt>
                <c:pt idx="99">
                  <c:v>8604.4836500000001</c:v>
                </c:pt>
                <c:pt idx="100">
                  <c:v>13880.949000000001</c:v>
                </c:pt>
                <c:pt idx="101">
                  <c:v>12363.547</c:v>
                </c:pt>
                <c:pt idx="102">
                  <c:v>23244.790199999999</c:v>
                </c:pt>
                <c:pt idx="103">
                  <c:v>11264.540999999999</c:v>
                </c:pt>
                <c:pt idx="104">
                  <c:v>39983.425949999997</c:v>
                </c:pt>
                <c:pt idx="105">
                  <c:v>1627.2824499999999</c:v>
                </c:pt>
                <c:pt idx="106">
                  <c:v>37701.876799999998</c:v>
                </c:pt>
                <c:pt idx="107">
                  <c:v>17942.106</c:v>
                </c:pt>
                <c:pt idx="108">
                  <c:v>12269.68865</c:v>
                </c:pt>
                <c:pt idx="109">
                  <c:v>4746.3440000000001</c:v>
                </c:pt>
                <c:pt idx="110">
                  <c:v>6313.759</c:v>
                </c:pt>
                <c:pt idx="111">
                  <c:v>12222.898300000001</c:v>
                </c:pt>
                <c:pt idx="112">
                  <c:v>5594.8455000000004</c:v>
                </c:pt>
                <c:pt idx="113">
                  <c:v>6551.7501000000002</c:v>
                </c:pt>
                <c:pt idx="114">
                  <c:v>1682.597</c:v>
                </c:pt>
                <c:pt idx="115">
                  <c:v>1986.9333999999999</c:v>
                </c:pt>
                <c:pt idx="116">
                  <c:v>2710.8285500000002</c:v>
                </c:pt>
                <c:pt idx="117">
                  <c:v>1135.9407000000001</c:v>
                </c:pt>
                <c:pt idx="118">
                  <c:v>1837.2819</c:v>
                </c:pt>
                <c:pt idx="119">
                  <c:v>10107.220600000001</c:v>
                </c:pt>
                <c:pt idx="120">
                  <c:v>44423.803</c:v>
                </c:pt>
                <c:pt idx="121">
                  <c:v>12404.8791</c:v>
                </c:pt>
                <c:pt idx="122">
                  <c:v>7152.6714000000002</c:v>
                </c:pt>
                <c:pt idx="123">
                  <c:v>5934.3797999999997</c:v>
                </c:pt>
                <c:pt idx="124">
                  <c:v>28340.188849999999</c:v>
                </c:pt>
                <c:pt idx="125">
                  <c:v>6875.9610000000002</c:v>
                </c:pt>
                <c:pt idx="126">
                  <c:v>5080.0959999999995</c:v>
                </c:pt>
                <c:pt idx="127">
                  <c:v>13041.921</c:v>
                </c:pt>
                <c:pt idx="128">
                  <c:v>38126.246500000001</c:v>
                </c:pt>
                <c:pt idx="129">
                  <c:v>48824.45</c:v>
                </c:pt>
                <c:pt idx="130">
                  <c:v>29141.3603</c:v>
                </c:pt>
                <c:pt idx="131">
                  <c:v>7935.29115</c:v>
                </c:pt>
                <c:pt idx="132">
                  <c:v>2137.6536000000001</c:v>
                </c:pt>
                <c:pt idx="133">
                  <c:v>11085.586799999999</c:v>
                </c:pt>
                <c:pt idx="134">
                  <c:v>5972.3779999999997</c:v>
                </c:pt>
                <c:pt idx="135">
                  <c:v>4561.1885000000002</c:v>
                </c:pt>
                <c:pt idx="136">
                  <c:v>42983.458500000001</c:v>
                </c:pt>
                <c:pt idx="137">
                  <c:v>19594.809649999999</c:v>
                </c:pt>
                <c:pt idx="138">
                  <c:v>17748.5062</c:v>
                </c:pt>
                <c:pt idx="139">
                  <c:v>2473.3341</c:v>
                </c:pt>
                <c:pt idx="140">
                  <c:v>5152.134</c:v>
                </c:pt>
                <c:pt idx="141">
                  <c:v>4564.1914500000003</c:v>
                </c:pt>
                <c:pt idx="142">
                  <c:v>45863.205000000002</c:v>
                </c:pt>
                <c:pt idx="143">
                  <c:v>25517.11363</c:v>
                </c:pt>
                <c:pt idx="144">
                  <c:v>1146.7965999999999</c:v>
                </c:pt>
                <c:pt idx="145">
                  <c:v>5649.7150000000001</c:v>
                </c:pt>
                <c:pt idx="146">
                  <c:v>11326.71487</c:v>
                </c:pt>
                <c:pt idx="147">
                  <c:v>7626.9930000000004</c:v>
                </c:pt>
                <c:pt idx="148">
                  <c:v>42969.852700000003</c:v>
                </c:pt>
                <c:pt idx="149">
                  <c:v>13555.0049</c:v>
                </c:pt>
                <c:pt idx="150">
                  <c:v>6571.5439999999999</c:v>
                </c:pt>
                <c:pt idx="151">
                  <c:v>6985.50695</c:v>
                </c:pt>
                <c:pt idx="152">
                  <c:v>4751.07</c:v>
                </c:pt>
                <c:pt idx="153">
                  <c:v>14319.031000000001</c:v>
                </c:pt>
                <c:pt idx="154">
                  <c:v>6593.5083000000004</c:v>
                </c:pt>
                <c:pt idx="155">
                  <c:v>34439.855900000002</c:v>
                </c:pt>
                <c:pt idx="156">
                  <c:v>46113.510999999999</c:v>
                </c:pt>
                <c:pt idx="157">
                  <c:v>9432.9253000000008</c:v>
                </c:pt>
                <c:pt idx="158">
                  <c:v>8280.6226999999999</c:v>
                </c:pt>
                <c:pt idx="159">
                  <c:v>8835.2649500000007</c:v>
                </c:pt>
                <c:pt idx="160">
                  <c:v>10923.933199999999</c:v>
                </c:pt>
                <c:pt idx="161">
                  <c:v>5458.0464499999998</c:v>
                </c:pt>
                <c:pt idx="162">
                  <c:v>11842.623750000001</c:v>
                </c:pt>
                <c:pt idx="163">
                  <c:v>12231.613600000001</c:v>
                </c:pt>
                <c:pt idx="164">
                  <c:v>43578.939400000003</c:v>
                </c:pt>
                <c:pt idx="165">
                  <c:v>39556.494500000001</c:v>
                </c:pt>
                <c:pt idx="166">
                  <c:v>10560.4917</c:v>
                </c:pt>
                <c:pt idx="167">
                  <c:v>17085.267599999999</c:v>
                </c:pt>
                <c:pt idx="168">
                  <c:v>3206.4913499999998</c:v>
                </c:pt>
                <c:pt idx="169">
                  <c:v>3861.2096499999998</c:v>
                </c:pt>
                <c:pt idx="170">
                  <c:v>4239.8926499999998</c:v>
                </c:pt>
                <c:pt idx="171">
                  <c:v>1633.0444</c:v>
                </c:pt>
                <c:pt idx="172">
                  <c:v>4137.5227000000004</c:v>
                </c:pt>
                <c:pt idx="173">
                  <c:v>11833.782300000001</c:v>
                </c:pt>
                <c:pt idx="174">
                  <c:v>8310.8391499999998</c:v>
                </c:pt>
                <c:pt idx="175">
                  <c:v>32734.186300000001</c:v>
                </c:pt>
                <c:pt idx="176">
                  <c:v>2597.779</c:v>
                </c:pt>
                <c:pt idx="177">
                  <c:v>8283.6807000000008</c:v>
                </c:pt>
                <c:pt idx="178">
                  <c:v>8428.0692999999992</c:v>
                </c:pt>
                <c:pt idx="179">
                  <c:v>10141.136200000001</c:v>
                </c:pt>
                <c:pt idx="180">
                  <c:v>14119.62</c:v>
                </c:pt>
                <c:pt idx="181">
                  <c:v>2855.4375500000001</c:v>
                </c:pt>
                <c:pt idx="182">
                  <c:v>25992.821039999999</c:v>
                </c:pt>
                <c:pt idx="183">
                  <c:v>11830.6072</c:v>
                </c:pt>
                <c:pt idx="184">
                  <c:v>40003.332249999999</c:v>
                </c:pt>
                <c:pt idx="185">
                  <c:v>10594.501550000001</c:v>
                </c:pt>
                <c:pt idx="186">
                  <c:v>3597.596</c:v>
                </c:pt>
                <c:pt idx="187">
                  <c:v>3591.48</c:v>
                </c:pt>
                <c:pt idx="188">
                  <c:v>2117.3388500000001</c:v>
                </c:pt>
                <c:pt idx="189">
                  <c:v>38711</c:v>
                </c:pt>
                <c:pt idx="190">
                  <c:v>17878.900679999999</c:v>
                </c:pt>
                <c:pt idx="191">
                  <c:v>23887.662700000001</c:v>
                </c:pt>
                <c:pt idx="192">
                  <c:v>10564.8845</c:v>
                </c:pt>
                <c:pt idx="193">
                  <c:v>4562.8420999999998</c:v>
                </c:pt>
                <c:pt idx="194">
                  <c:v>2198.1898500000002</c:v>
                </c:pt>
                <c:pt idx="195">
                  <c:v>1131.5065999999999</c:v>
                </c:pt>
                <c:pt idx="196">
                  <c:v>39125.332249999999</c:v>
                </c:pt>
                <c:pt idx="197">
                  <c:v>20177.671129999999</c:v>
                </c:pt>
                <c:pt idx="198">
                  <c:v>14001.286700000001</c:v>
                </c:pt>
                <c:pt idx="199">
                  <c:v>15230.324049999999</c:v>
                </c:pt>
                <c:pt idx="200">
                  <c:v>33750.291799999999</c:v>
                </c:pt>
                <c:pt idx="201">
                  <c:v>16577.779500000001</c:v>
                </c:pt>
                <c:pt idx="202">
                  <c:v>4889.0367999999999</c:v>
                </c:pt>
                <c:pt idx="203">
                  <c:v>20781.48892</c:v>
                </c:pt>
                <c:pt idx="204">
                  <c:v>19933.457999999999</c:v>
                </c:pt>
                <c:pt idx="205">
                  <c:v>5012.4709999999995</c:v>
                </c:pt>
                <c:pt idx="206">
                  <c:v>7749.1563999999998</c:v>
                </c:pt>
                <c:pt idx="207">
                  <c:v>7441.5010000000002</c:v>
                </c:pt>
                <c:pt idx="208">
                  <c:v>2690.1138000000001</c:v>
                </c:pt>
                <c:pt idx="209">
                  <c:v>41949.244100000004</c:v>
                </c:pt>
                <c:pt idx="210">
                  <c:v>22478.6</c:v>
                </c:pt>
                <c:pt idx="211">
                  <c:v>9301.8935500000007</c:v>
                </c:pt>
                <c:pt idx="212">
                  <c:v>4779.6022999999996</c:v>
                </c:pt>
                <c:pt idx="213">
                  <c:v>7201.7008500000002</c:v>
                </c:pt>
                <c:pt idx="214">
                  <c:v>12629.896699999999</c:v>
                </c:pt>
                <c:pt idx="215">
                  <c:v>14133.03775</c:v>
                </c:pt>
                <c:pt idx="216">
                  <c:v>2404.7338</c:v>
                </c:pt>
                <c:pt idx="217">
                  <c:v>6948.7007999999996</c:v>
                </c:pt>
                <c:pt idx="218">
                  <c:v>8827.2098999999998</c:v>
                </c:pt>
                <c:pt idx="219">
                  <c:v>2203.7359499999998</c:v>
                </c:pt>
                <c:pt idx="220">
                  <c:v>3213.6220499999999</c:v>
                </c:pt>
                <c:pt idx="221">
                  <c:v>46151.124499999998</c:v>
                </c:pt>
                <c:pt idx="222">
                  <c:v>46200.985099999998</c:v>
                </c:pt>
                <c:pt idx="223">
                  <c:v>14988.432000000001</c:v>
                </c:pt>
                <c:pt idx="224">
                  <c:v>9377.9046999999991</c:v>
                </c:pt>
                <c:pt idx="225">
                  <c:v>46889.261200000001</c:v>
                </c:pt>
                <c:pt idx="226">
                  <c:v>41097.161749999999</c:v>
                </c:pt>
                <c:pt idx="227">
                  <c:v>9644.2525000000005</c:v>
                </c:pt>
                <c:pt idx="228">
                  <c:v>34617.840649999998</c:v>
                </c:pt>
                <c:pt idx="229">
                  <c:v>4032.2406999999998</c:v>
                </c:pt>
                <c:pt idx="230">
                  <c:v>12981.3457</c:v>
                </c:pt>
                <c:pt idx="231">
                  <c:v>35491.64</c:v>
                </c:pt>
                <c:pt idx="232">
                  <c:v>3877.3042500000001</c:v>
                </c:pt>
                <c:pt idx="233">
                  <c:v>5979.7309999999998</c:v>
                </c:pt>
                <c:pt idx="234">
                  <c:v>11534.872649999999</c:v>
                </c:pt>
                <c:pt idx="235">
                  <c:v>8277.5229999999992</c:v>
                </c:pt>
                <c:pt idx="236">
                  <c:v>13204.28565</c:v>
                </c:pt>
                <c:pt idx="237">
                  <c:v>1629.8335</c:v>
                </c:pt>
                <c:pt idx="238">
                  <c:v>3021.80915</c:v>
                </c:pt>
                <c:pt idx="239">
                  <c:v>3392.9767999999999</c:v>
                </c:pt>
                <c:pt idx="240">
                  <c:v>3443.0639999999999</c:v>
                </c:pt>
                <c:pt idx="241">
                  <c:v>2699.56835</c:v>
                </c:pt>
                <c:pt idx="242">
                  <c:v>20277.807509999999</c:v>
                </c:pt>
                <c:pt idx="243">
                  <c:v>8932.0840000000007</c:v>
                </c:pt>
                <c:pt idx="244">
                  <c:v>1632.0362500000001</c:v>
                </c:pt>
                <c:pt idx="245">
                  <c:v>9566.9909000000007</c:v>
                </c:pt>
                <c:pt idx="246">
                  <c:v>4391.652</c:v>
                </c:pt>
                <c:pt idx="247">
                  <c:v>7196.8670000000002</c:v>
                </c:pt>
                <c:pt idx="248">
                  <c:v>7323.7348190000002</c:v>
                </c:pt>
                <c:pt idx="249">
                  <c:v>8410.0468500000006</c:v>
                </c:pt>
                <c:pt idx="250">
                  <c:v>2719.2797500000001</c:v>
                </c:pt>
                <c:pt idx="251">
                  <c:v>11658.11505</c:v>
                </c:pt>
                <c:pt idx="252">
                  <c:v>12146.971</c:v>
                </c:pt>
                <c:pt idx="253">
                  <c:v>13607.36875</c:v>
                </c:pt>
                <c:pt idx="254">
                  <c:v>60021.398970000002</c:v>
                </c:pt>
                <c:pt idx="255">
                  <c:v>13747.87235</c:v>
                </c:pt>
                <c:pt idx="256">
                  <c:v>12029.286700000001</c:v>
                </c:pt>
                <c:pt idx="257">
                  <c:v>6113.2310500000003</c:v>
                </c:pt>
                <c:pt idx="258">
                  <c:v>8059.6791000000003</c:v>
                </c:pt>
                <c:pt idx="259">
                  <c:v>25333.332839999999</c:v>
                </c:pt>
                <c:pt idx="260">
                  <c:v>37465.34375</c:v>
                </c:pt>
                <c:pt idx="261">
                  <c:v>47055.532099999997</c:v>
                </c:pt>
                <c:pt idx="262">
                  <c:v>12949.1554</c:v>
                </c:pt>
                <c:pt idx="263">
                  <c:v>13831.1152</c:v>
                </c:pt>
                <c:pt idx="264">
                  <c:v>13887.204</c:v>
                </c:pt>
                <c:pt idx="265">
                  <c:v>3925.7582000000002</c:v>
                </c:pt>
                <c:pt idx="266">
                  <c:v>47403.88</c:v>
                </c:pt>
                <c:pt idx="267">
                  <c:v>8534.6718000000001</c:v>
                </c:pt>
              </c:numCache>
            </c:numRef>
          </c:xVal>
          <c:yVal>
            <c:numRef>
              <c:f>'Chart Data'!$B$2:$B$269</c:f>
              <c:numCache>
                <c:formatCode>\$#,##0</c:formatCode>
                <c:ptCount val="268"/>
                <c:pt idx="0">
                  <c:v>8433.6744359999993</c:v>
                </c:pt>
                <c:pt idx="1">
                  <c:v>4336.4667799999997</c:v>
                </c:pt>
                <c:pt idx="2">
                  <c:v>13165.038261</c:v>
                </c:pt>
                <c:pt idx="3">
                  <c:v>30593.695349000001</c:v>
                </c:pt>
                <c:pt idx="4">
                  <c:v>8738.6438429999998</c:v>
                </c:pt>
                <c:pt idx="5">
                  <c:v>13004.188783</c:v>
                </c:pt>
                <c:pt idx="6">
                  <c:v>29273.635761000001</c:v>
                </c:pt>
                <c:pt idx="7">
                  <c:v>2177.0902150000002</c:v>
                </c:pt>
                <c:pt idx="8">
                  <c:v>10922.950937</c:v>
                </c:pt>
                <c:pt idx="9">
                  <c:v>10315.830227</c:v>
                </c:pt>
                <c:pt idx="10">
                  <c:v>11021.844918999999</c:v>
                </c:pt>
                <c:pt idx="11">
                  <c:v>33740.333093000001</c:v>
                </c:pt>
                <c:pt idx="12">
                  <c:v>30613.921581999999</c:v>
                </c:pt>
                <c:pt idx="13">
                  <c:v>18004.871507</c:v>
                </c:pt>
                <c:pt idx="14">
                  <c:v>9656.2317980000007</c:v>
                </c:pt>
                <c:pt idx="15">
                  <c:v>9311.373544</c:v>
                </c:pt>
                <c:pt idx="16">
                  <c:v>4325.1201090000004</c:v>
                </c:pt>
                <c:pt idx="17">
                  <c:v>32099.966305999998</c:v>
                </c:pt>
                <c:pt idx="18">
                  <c:v>3001.713389</c:v>
                </c:pt>
                <c:pt idx="19">
                  <c:v>5552.6289839999999</c:v>
                </c:pt>
                <c:pt idx="20">
                  <c:v>4325.1201090000004</c:v>
                </c:pt>
                <c:pt idx="21">
                  <c:v>29913.007957000002</c:v>
                </c:pt>
                <c:pt idx="22">
                  <c:v>14580.018005</c:v>
                </c:pt>
                <c:pt idx="23">
                  <c:v>30752.457192000002</c:v>
                </c:pt>
                <c:pt idx="24">
                  <c:v>31444.922619000001</c:v>
                </c:pt>
                <c:pt idx="25">
                  <c:v>4769.021898</c:v>
                </c:pt>
                <c:pt idx="26">
                  <c:v>35187.052591</c:v>
                </c:pt>
                <c:pt idx="27">
                  <c:v>37413.468422999998</c:v>
                </c:pt>
                <c:pt idx="28">
                  <c:v>10952.867571999999</c:v>
                </c:pt>
                <c:pt idx="29">
                  <c:v>12177.759785</c:v>
                </c:pt>
                <c:pt idx="30">
                  <c:v>6505.9651110000004</c:v>
                </c:pt>
                <c:pt idx="31">
                  <c:v>13121.951835</c:v>
                </c:pt>
                <c:pt idx="32">
                  <c:v>870.87900000000002</c:v>
                </c:pt>
                <c:pt idx="33">
                  <c:v>12471.876957</c:v>
                </c:pt>
                <c:pt idx="34">
                  <c:v>40355.376722000001</c:v>
                </c:pt>
                <c:pt idx="35">
                  <c:v>12499.044673</c:v>
                </c:pt>
                <c:pt idx="36">
                  <c:v>2732.1126800000002</c:v>
                </c:pt>
                <c:pt idx="37">
                  <c:v>2866.2085080000002</c:v>
                </c:pt>
                <c:pt idx="38">
                  <c:v>32023.18475</c:v>
                </c:pt>
                <c:pt idx="39">
                  <c:v>9365.1280590000006</c:v>
                </c:pt>
                <c:pt idx="40">
                  <c:v>6903.0538660000002</c:v>
                </c:pt>
                <c:pt idx="41">
                  <c:v>29243.816791000001</c:v>
                </c:pt>
                <c:pt idx="42">
                  <c:v>34097.797515999999</c:v>
                </c:pt>
                <c:pt idx="43">
                  <c:v>11919.919814000001</c:v>
                </c:pt>
                <c:pt idx="44">
                  <c:v>6896.2273439999999</c:v>
                </c:pt>
                <c:pt idx="45">
                  <c:v>4145.5511139999999</c:v>
                </c:pt>
                <c:pt idx="46">
                  <c:v>6040.3303720000004</c:v>
                </c:pt>
                <c:pt idx="47">
                  <c:v>9173.384258</c:v>
                </c:pt>
                <c:pt idx="48">
                  <c:v>4186.6994599999998</c:v>
                </c:pt>
                <c:pt idx="49">
                  <c:v>8909.5977889999995</c:v>
                </c:pt>
                <c:pt idx="50">
                  <c:v>6340.1295270000001</c:v>
                </c:pt>
                <c:pt idx="51">
                  <c:v>12053.636168000001</c:v>
                </c:pt>
                <c:pt idx="52">
                  <c:v>30836.410153000001</c:v>
                </c:pt>
                <c:pt idx="53">
                  <c:v>4425.7049530000004</c:v>
                </c:pt>
                <c:pt idx="54">
                  <c:v>10719.843169</c:v>
                </c:pt>
                <c:pt idx="55">
                  <c:v>9666.0544559999998</c:v>
                </c:pt>
                <c:pt idx="56">
                  <c:v>10530.020151999999</c:v>
                </c:pt>
                <c:pt idx="57">
                  <c:v>2388.646182</c:v>
                </c:pt>
                <c:pt idx="58">
                  <c:v>31511.979180999999</c:v>
                </c:pt>
                <c:pt idx="59">
                  <c:v>8879.9456680000003</c:v>
                </c:pt>
                <c:pt idx="60">
                  <c:v>14211.206910000001</c:v>
                </c:pt>
                <c:pt idx="61">
                  <c:v>8472.0738619999993</c:v>
                </c:pt>
                <c:pt idx="62">
                  <c:v>11998.058532999999</c:v>
                </c:pt>
                <c:pt idx="63">
                  <c:v>1725.850173</c:v>
                </c:pt>
                <c:pt idx="64">
                  <c:v>15951.347701999999</c:v>
                </c:pt>
                <c:pt idx="65">
                  <c:v>9817.6103029999995</c:v>
                </c:pt>
                <c:pt idx="66">
                  <c:v>10093.341657000001</c:v>
                </c:pt>
                <c:pt idx="67">
                  <c:v>31607.560623000001</c:v>
                </c:pt>
                <c:pt idx="68">
                  <c:v>25532.052113000002</c:v>
                </c:pt>
                <c:pt idx="69">
                  <c:v>16080.457425000001</c:v>
                </c:pt>
                <c:pt idx="70">
                  <c:v>7915.2282779999996</c:v>
                </c:pt>
                <c:pt idx="71">
                  <c:v>2942.012377</c:v>
                </c:pt>
                <c:pt idx="72">
                  <c:v>6853.0086620000002</c:v>
                </c:pt>
                <c:pt idx="73">
                  <c:v>-356.23310400000003</c:v>
                </c:pt>
                <c:pt idx="74">
                  <c:v>11913.95602</c:v>
                </c:pt>
                <c:pt idx="75">
                  <c:v>-315.91289399999999</c:v>
                </c:pt>
                <c:pt idx="76">
                  <c:v>17821.989973</c:v>
                </c:pt>
                <c:pt idx="77">
                  <c:v>8437.7174460000006</c:v>
                </c:pt>
                <c:pt idx="78">
                  <c:v>8063.3393290000004</c:v>
                </c:pt>
                <c:pt idx="79">
                  <c:v>13057.511934</c:v>
                </c:pt>
                <c:pt idx="80">
                  <c:v>5353.6791869999997</c:v>
                </c:pt>
                <c:pt idx="81">
                  <c:v>16576.192944999999</c:v>
                </c:pt>
                <c:pt idx="82">
                  <c:v>15605.661314000001</c:v>
                </c:pt>
                <c:pt idx="83">
                  <c:v>10822.366093000001</c:v>
                </c:pt>
                <c:pt idx="84">
                  <c:v>36626.796014</c:v>
                </c:pt>
                <c:pt idx="85">
                  <c:v>13142.442583</c:v>
                </c:pt>
                <c:pt idx="86">
                  <c:v>4545.670599</c:v>
                </c:pt>
                <c:pt idx="87">
                  <c:v>2714.9344719999999</c:v>
                </c:pt>
                <c:pt idx="88">
                  <c:v>6601.9952130000001</c:v>
                </c:pt>
                <c:pt idx="89">
                  <c:v>4946.6355160000003</c:v>
                </c:pt>
                <c:pt idx="90">
                  <c:v>14433.695481000001</c:v>
                </c:pt>
                <c:pt idx="91">
                  <c:v>27069.763717999998</c:v>
                </c:pt>
                <c:pt idx="92">
                  <c:v>3688.3472780000002</c:v>
                </c:pt>
                <c:pt idx="93">
                  <c:v>3997.871427</c:v>
                </c:pt>
                <c:pt idx="94">
                  <c:v>2823.5534469999998</c:v>
                </c:pt>
                <c:pt idx="95">
                  <c:v>36048.102519</c:v>
                </c:pt>
                <c:pt idx="96">
                  <c:v>15218.711619</c:v>
                </c:pt>
                <c:pt idx="97">
                  <c:v>9264.5432149999997</c:v>
                </c:pt>
                <c:pt idx="98">
                  <c:v>5063.5704329999999</c:v>
                </c:pt>
                <c:pt idx="99">
                  <c:v>7889.4696139999996</c:v>
                </c:pt>
                <c:pt idx="100">
                  <c:v>14790.032662</c:v>
                </c:pt>
                <c:pt idx="101">
                  <c:v>14337.550418000001</c:v>
                </c:pt>
                <c:pt idx="102">
                  <c:v>32626.693813000002</c:v>
                </c:pt>
                <c:pt idx="103">
                  <c:v>13734.323165</c:v>
                </c:pt>
                <c:pt idx="104">
                  <c:v>31514.331329000001</c:v>
                </c:pt>
                <c:pt idx="105">
                  <c:v>645.73917500000005</c:v>
                </c:pt>
                <c:pt idx="106">
                  <c:v>30596.461564000001</c:v>
                </c:pt>
                <c:pt idx="107">
                  <c:v>25426.199353</c:v>
                </c:pt>
                <c:pt idx="108">
                  <c:v>13303.855680999999</c:v>
                </c:pt>
                <c:pt idx="109">
                  <c:v>6304.9276799999998</c:v>
                </c:pt>
                <c:pt idx="110">
                  <c:v>7936.4494960000002</c:v>
                </c:pt>
                <c:pt idx="111">
                  <c:v>12119.415935000001</c:v>
                </c:pt>
                <c:pt idx="112">
                  <c:v>7927.5872300000001</c:v>
                </c:pt>
                <c:pt idx="113">
                  <c:v>8602.3108269999993</c:v>
                </c:pt>
                <c:pt idx="114">
                  <c:v>6810.089086</c:v>
                </c:pt>
                <c:pt idx="115">
                  <c:v>6204.3601319999998</c:v>
                </c:pt>
                <c:pt idx="116">
                  <c:v>1861.901378</c:v>
                </c:pt>
                <c:pt idx="117">
                  <c:v>3921.9525990000002</c:v>
                </c:pt>
                <c:pt idx="118">
                  <c:v>7796.5394269999997</c:v>
                </c:pt>
                <c:pt idx="119">
                  <c:v>8997.9732339999991</c:v>
                </c:pt>
                <c:pt idx="120">
                  <c:v>36885.613674</c:v>
                </c:pt>
                <c:pt idx="121">
                  <c:v>8283.7921549999992</c:v>
                </c:pt>
                <c:pt idx="122">
                  <c:v>11912.449302999999</c:v>
                </c:pt>
                <c:pt idx="123">
                  <c:v>8505.6021440000004</c:v>
                </c:pt>
                <c:pt idx="124">
                  <c:v>8989.8068459999995</c:v>
                </c:pt>
                <c:pt idx="125">
                  <c:v>9370.6777860000002</c:v>
                </c:pt>
                <c:pt idx="126">
                  <c:v>2810.797724</c:v>
                </c:pt>
                <c:pt idx="127">
                  <c:v>13188.991101</c:v>
                </c:pt>
                <c:pt idx="128">
                  <c:v>30586.224837999998</c:v>
                </c:pt>
                <c:pt idx="129">
                  <c:v>39662.629485999998</c:v>
                </c:pt>
                <c:pt idx="130">
                  <c:v>36528.431061000003</c:v>
                </c:pt>
                <c:pt idx="131">
                  <c:v>12232.906056</c:v>
                </c:pt>
                <c:pt idx="132">
                  <c:v>3371.6344290000002</c:v>
                </c:pt>
                <c:pt idx="133">
                  <c:v>10393.968946999999</c:v>
                </c:pt>
                <c:pt idx="134">
                  <c:v>9397.8455020000001</c:v>
                </c:pt>
                <c:pt idx="135">
                  <c:v>3318.4435349999999</c:v>
                </c:pt>
                <c:pt idx="136">
                  <c:v>35257.985313999998</c:v>
                </c:pt>
                <c:pt idx="137">
                  <c:v>29553.605454</c:v>
                </c:pt>
                <c:pt idx="138">
                  <c:v>25891.719131000002</c:v>
                </c:pt>
                <c:pt idx="139">
                  <c:v>5634.3793500000002</c:v>
                </c:pt>
                <c:pt idx="140">
                  <c:v>6372.2660530000003</c:v>
                </c:pt>
                <c:pt idx="141">
                  <c:v>4725.3718509999999</c:v>
                </c:pt>
                <c:pt idx="142">
                  <c:v>37215.927678</c:v>
                </c:pt>
                <c:pt idx="143">
                  <c:v>10590.698853</c:v>
                </c:pt>
                <c:pt idx="144">
                  <c:v>6302.4605709999996</c:v>
                </c:pt>
                <c:pt idx="145">
                  <c:v>9049.8069660000001</c:v>
                </c:pt>
                <c:pt idx="146">
                  <c:v>10482.942606000001</c:v>
                </c:pt>
                <c:pt idx="147">
                  <c:v>8693.7342979999994</c:v>
                </c:pt>
                <c:pt idx="148">
                  <c:v>35306.471913000001</c:v>
                </c:pt>
                <c:pt idx="149">
                  <c:v>14632.645278</c:v>
                </c:pt>
                <c:pt idx="150">
                  <c:v>9407.535903</c:v>
                </c:pt>
                <c:pt idx="151">
                  <c:v>5469.072795</c:v>
                </c:pt>
                <c:pt idx="152">
                  <c:v>7341.2563749999999</c:v>
                </c:pt>
                <c:pt idx="153">
                  <c:v>17449.849042000002</c:v>
                </c:pt>
                <c:pt idx="154">
                  <c:v>6915.079119</c:v>
                </c:pt>
                <c:pt idx="155">
                  <c:v>27181.033948</c:v>
                </c:pt>
                <c:pt idx="156">
                  <c:v>36131.394195000001</c:v>
                </c:pt>
                <c:pt idx="157">
                  <c:v>15467.275256999999</c:v>
                </c:pt>
                <c:pt idx="158">
                  <c:v>10807.67229</c:v>
                </c:pt>
                <c:pt idx="159">
                  <c:v>11639.087394</c:v>
                </c:pt>
                <c:pt idx="160">
                  <c:v>12791.373317</c:v>
                </c:pt>
                <c:pt idx="161">
                  <c:v>4348.5093290000004</c:v>
                </c:pt>
                <c:pt idx="162">
                  <c:v>13286.395662999999</c:v>
                </c:pt>
                <c:pt idx="163">
                  <c:v>14030.527969999999</c:v>
                </c:pt>
                <c:pt idx="164">
                  <c:v>36157.963696999999</c:v>
                </c:pt>
                <c:pt idx="165">
                  <c:v>32941.485879</c:v>
                </c:pt>
                <c:pt idx="166">
                  <c:v>12233.866448000001</c:v>
                </c:pt>
                <c:pt idx="167">
                  <c:v>25521.798091000001</c:v>
                </c:pt>
                <c:pt idx="168">
                  <c:v>2678.208611</c:v>
                </c:pt>
                <c:pt idx="169">
                  <c:v>686.191642</c:v>
                </c:pt>
                <c:pt idx="170">
                  <c:v>4942.3279910000001</c:v>
                </c:pt>
                <c:pt idx="171">
                  <c:v>5698.9515080000001</c:v>
                </c:pt>
                <c:pt idx="172">
                  <c:v>5298.5329160000001</c:v>
                </c:pt>
                <c:pt idx="173">
                  <c:v>10778.284683</c:v>
                </c:pt>
                <c:pt idx="174">
                  <c:v>9412.6542659999996</c:v>
                </c:pt>
                <c:pt idx="175">
                  <c:v>25778.229009999999</c:v>
                </c:pt>
                <c:pt idx="176">
                  <c:v>2565.2994079999999</c:v>
                </c:pt>
                <c:pt idx="177">
                  <c:v>11478.237916</c:v>
                </c:pt>
                <c:pt idx="178">
                  <c:v>7032.27855</c:v>
                </c:pt>
                <c:pt idx="179">
                  <c:v>10700.991394999999</c:v>
                </c:pt>
                <c:pt idx="180">
                  <c:v>14438.681586000001</c:v>
                </c:pt>
                <c:pt idx="181">
                  <c:v>5437.7816999999995</c:v>
                </c:pt>
                <c:pt idx="182">
                  <c:v>10373.460902999999</c:v>
                </c:pt>
                <c:pt idx="183">
                  <c:v>10651.377554000001</c:v>
                </c:pt>
                <c:pt idx="184">
                  <c:v>32368.324814</c:v>
                </c:pt>
                <c:pt idx="185">
                  <c:v>11508.568617999999</c:v>
                </c:pt>
                <c:pt idx="186">
                  <c:v>6330.4391260000002</c:v>
                </c:pt>
                <c:pt idx="187">
                  <c:v>4989.3078740000001</c:v>
                </c:pt>
                <c:pt idx="188">
                  <c:v>877.38911800000005</c:v>
                </c:pt>
                <c:pt idx="189">
                  <c:v>31175.868233000001</c:v>
                </c:pt>
                <c:pt idx="190">
                  <c:v>8121.982285</c:v>
                </c:pt>
                <c:pt idx="191">
                  <c:v>32755.820833000002</c:v>
                </c:pt>
                <c:pt idx="192">
                  <c:v>12713.234597999999</c:v>
                </c:pt>
                <c:pt idx="193">
                  <c:v>6308.2575159999997</c:v>
                </c:pt>
                <c:pt idx="194">
                  <c:v>1783.762659</c:v>
                </c:pt>
                <c:pt idx="195">
                  <c:v>2949.6324410000002</c:v>
                </c:pt>
                <c:pt idx="196">
                  <c:v>32368.324814</c:v>
                </c:pt>
                <c:pt idx="197">
                  <c:v>4663.7154620000001</c:v>
                </c:pt>
                <c:pt idx="198">
                  <c:v>12572.461800999999</c:v>
                </c:pt>
                <c:pt idx="199">
                  <c:v>16456.888583</c:v>
                </c:pt>
                <c:pt idx="200">
                  <c:v>26818.318905</c:v>
                </c:pt>
                <c:pt idx="201">
                  <c:v>26647.893986999999</c:v>
                </c:pt>
                <c:pt idx="202">
                  <c:v>7416.3470690000004</c:v>
                </c:pt>
                <c:pt idx="203">
                  <c:v>13140.786313000001</c:v>
                </c:pt>
                <c:pt idx="204">
                  <c:v>27652.914291000001</c:v>
                </c:pt>
                <c:pt idx="205">
                  <c:v>8064.7483810000003</c:v>
                </c:pt>
                <c:pt idx="206">
                  <c:v>9632.8079849999995</c:v>
                </c:pt>
                <c:pt idx="207">
                  <c:v>9996.3511629999994</c:v>
                </c:pt>
                <c:pt idx="208">
                  <c:v>3593.3121609999998</c:v>
                </c:pt>
                <c:pt idx="209">
                  <c:v>33576.038819000001</c:v>
                </c:pt>
                <c:pt idx="210">
                  <c:v>31272.27781</c:v>
                </c:pt>
                <c:pt idx="211">
                  <c:v>8662.558164</c:v>
                </c:pt>
                <c:pt idx="212">
                  <c:v>6157.7943169999999</c:v>
                </c:pt>
                <c:pt idx="213">
                  <c:v>7073.1623810000001</c:v>
                </c:pt>
                <c:pt idx="214">
                  <c:v>11818.489539</c:v>
                </c:pt>
                <c:pt idx="215">
                  <c:v>5430.7252570000001</c:v>
                </c:pt>
                <c:pt idx="216">
                  <c:v>5406.0592420000003</c:v>
                </c:pt>
                <c:pt idx="217">
                  <c:v>12357.461036999999</c:v>
                </c:pt>
                <c:pt idx="218">
                  <c:v>9872.7565739999991</c:v>
                </c:pt>
                <c:pt idx="219">
                  <c:v>2999.9248630000002</c:v>
                </c:pt>
                <c:pt idx="220">
                  <c:v>4241.84573</c:v>
                </c:pt>
                <c:pt idx="221">
                  <c:v>36798.066363999998</c:v>
                </c:pt>
                <c:pt idx="222">
                  <c:v>36763.709948000003</c:v>
                </c:pt>
                <c:pt idx="223">
                  <c:v>13152.132984</c:v>
                </c:pt>
                <c:pt idx="224">
                  <c:v>11228.018008999999</c:v>
                </c:pt>
                <c:pt idx="225">
                  <c:v>38750.159893999997</c:v>
                </c:pt>
                <c:pt idx="226">
                  <c:v>34597.524157</c:v>
                </c:pt>
                <c:pt idx="227">
                  <c:v>7576.4833719999997</c:v>
                </c:pt>
                <c:pt idx="228">
                  <c:v>27058.698858</c:v>
                </c:pt>
                <c:pt idx="229">
                  <c:v>4140.2831980000001</c:v>
                </c:pt>
                <c:pt idx="230">
                  <c:v>16680.918463000002</c:v>
                </c:pt>
                <c:pt idx="231">
                  <c:v>30255.082699999999</c:v>
                </c:pt>
                <c:pt idx="232">
                  <c:v>5188.671738</c:v>
                </c:pt>
                <c:pt idx="233">
                  <c:v>10201.678822</c:v>
                </c:pt>
                <c:pt idx="234">
                  <c:v>9174.6091639999995</c:v>
                </c:pt>
                <c:pt idx="235">
                  <c:v>10127.962587</c:v>
                </c:pt>
                <c:pt idx="236">
                  <c:v>9930.2376960000001</c:v>
                </c:pt>
                <c:pt idx="237">
                  <c:v>4994.8576000000003</c:v>
                </c:pt>
                <c:pt idx="238">
                  <c:v>6037.1327929999998</c:v>
                </c:pt>
                <c:pt idx="239">
                  <c:v>4897.5852960000002</c:v>
                </c:pt>
                <c:pt idx="240">
                  <c:v>5377.5170669999998</c:v>
                </c:pt>
                <c:pt idx="241">
                  <c:v>5246.5842240000002</c:v>
                </c:pt>
                <c:pt idx="242">
                  <c:v>5567.8691120000003</c:v>
                </c:pt>
                <c:pt idx="243">
                  <c:v>9625.8665020000008</c:v>
                </c:pt>
                <c:pt idx="244">
                  <c:v>1688.1639210000001</c:v>
                </c:pt>
                <c:pt idx="245">
                  <c:v>8462.6306789999999</c:v>
                </c:pt>
                <c:pt idx="246">
                  <c:v>2932.7187469999999</c:v>
                </c:pt>
                <c:pt idx="247">
                  <c:v>10063.689536</c:v>
                </c:pt>
                <c:pt idx="248">
                  <c:v>2652.4499470000001</c:v>
                </c:pt>
                <c:pt idx="249">
                  <c:v>9238.9168079999999</c:v>
                </c:pt>
                <c:pt idx="250">
                  <c:v>3715.100927</c:v>
                </c:pt>
                <c:pt idx="251">
                  <c:v>12050.007224999999</c:v>
                </c:pt>
                <c:pt idx="252">
                  <c:v>13150.476714</c:v>
                </c:pt>
                <c:pt idx="253">
                  <c:v>13538.271839999999</c:v>
                </c:pt>
                <c:pt idx="254">
                  <c:v>35912.051313999997</c:v>
                </c:pt>
                <c:pt idx="255">
                  <c:v>23410.212245999999</c:v>
                </c:pt>
                <c:pt idx="256">
                  <c:v>10361.815124999999</c:v>
                </c:pt>
                <c:pt idx="257">
                  <c:v>6332.2276529999999</c:v>
                </c:pt>
                <c:pt idx="258">
                  <c:v>8048.9446319999997</c:v>
                </c:pt>
                <c:pt idx="259">
                  <c:v>11610.131151</c:v>
                </c:pt>
                <c:pt idx="260">
                  <c:v>28199.488557000001</c:v>
                </c:pt>
                <c:pt idx="261">
                  <c:v>38867.094811000003</c:v>
                </c:pt>
                <c:pt idx="262">
                  <c:v>13593.832178000001</c:v>
                </c:pt>
                <c:pt idx="263">
                  <c:v>17687.595036999999</c:v>
                </c:pt>
                <c:pt idx="264">
                  <c:v>16161.64417</c:v>
                </c:pt>
                <c:pt idx="265">
                  <c:v>5310.4605039999997</c:v>
                </c:pt>
                <c:pt idx="266">
                  <c:v>38732.153551000003</c:v>
                </c:pt>
                <c:pt idx="267">
                  <c:v>8480.0906969999996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77A-491B-818F-C5E80952A36A}"/>
            </c:ext>
          </c:extLst>
        </c:ser>
        <c:ser>
          <c:idx val="1"/>
          <c:order val="1"/>
          <c:tx>
            <c:v>Perfect prediction</c:v>
          </c:tx>
          <c:spPr>
            <a:ln w="25400">
              <a:solidFill>
                <a:srgbClr val="0D8A8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65000</c:v>
                </c:pt>
              </c:numCache>
            </c:numRef>
          </c:xVal>
          <c:yVal>
            <c:numRef>
              <c:f>'Chart Data'!$D$2:$D$3</c:f>
              <c:numCache>
                <c:formatCode>\$#,##0</c:formatCode>
                <c:ptCount val="2"/>
                <c:pt idx="0">
                  <c:v>0</c:v>
                </c:pt>
                <c:pt idx="1">
                  <c:v>65000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77A-491B-818F-C5E80952A3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000"/>
          <c:min val="-5000"/>
        </c:scaling>
        <c:delete val="0"/>
        <c:axPos val="l"/>
        <c:majorGridlines>
          <c:spPr>
            <a:ln w="8890"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Predicted charges ($)</a:t>
                </a:r>
              </a:p>
            </c:rich>
          </c:tx>
          <c:overlay val="0"/>
        </c:title>
        <c:numFmt formatCode="\$#,##0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20000"/>
      </c:valAx>
      <c:valAx>
        <c:axId val="48650112"/>
        <c:scaling>
          <c:orientation val="minMax"/>
          <c:max val="650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Actual charges ($)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20000"/>
      </c:valAx>
      <c:spPr>
        <a:solidFill>
          <a:srgbClr val="F4F6F7"/>
        </a:solidFill>
      </c:spPr>
    </c:plotArea>
    <c:plotVisOnly val="1"/>
    <c:dispBlanksAs val="zero"/>
    <c:showDLblsOverMax val="1"/>
  </c:chart>
  <c:spPr>
    <a:solidFill>
      <a:srgbClr val="F4F6F7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silhouette score</c:v>
          </c:tx>
          <c:spPr>
            <a:solidFill>
              <a:srgbClr val="1565A0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6F-44E8-BF4F-0194238F8CD6}"/>
              </c:ext>
            </c:extLst>
          </c:dPt>
          <c:dPt>
            <c:idx val="1"/>
            <c:invertIfNegative val="0"/>
            <c:bubble3D val="0"/>
            <c:spPr>
              <a:solidFill>
                <a:srgbClr val="0D8A8A"/>
              </a:solidFill>
            </c:spPr>
            <c:extLst>
              <c:ext xmlns:c16="http://schemas.microsoft.com/office/drawing/2014/chart" uri="{C3380CC4-5D6E-409C-BE32-E72D297353CC}">
                <c16:uniqueId val="{00000003-1F6F-44E8-BF4F-0194238F8CD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F6F-44E8-BF4F-0194238F8CD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F6F-44E8-BF4F-0194238F8CD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F6F-44E8-BF4F-0194238F8CD6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200" b="1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2 groups</c:v>
                </c:pt>
                <c:pt idx="1">
                  <c:v>3 groups</c:v>
                </c:pt>
                <c:pt idx="2">
                  <c:v>4 groups</c:v>
                </c:pt>
                <c:pt idx="3">
                  <c:v>5 groups</c:v>
                </c:pt>
                <c:pt idx="4">
                  <c:v>6 groups</c:v>
                </c:pt>
              </c:strCache>
            </c:strRef>
          </c:cat>
          <c:val>
            <c:numRef>
              <c:f>'Chart Data'!$B$2:$B$6</c:f>
              <c:numCache>
                <c:formatCode>0.000</c:formatCode>
                <c:ptCount val="5"/>
                <c:pt idx="0">
                  <c:v>0.30636600000000003</c:v>
                </c:pt>
                <c:pt idx="1">
                  <c:v>0.347493</c:v>
                </c:pt>
                <c:pt idx="2">
                  <c:v>0.338924</c:v>
                </c:pt>
                <c:pt idx="3">
                  <c:v>0.32174999999999998</c:v>
                </c:pt>
                <c:pt idx="4">
                  <c:v>0.32195099999999999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1F6F-44E8-BF4F-0194238F8C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w="8890"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rPr>
                  <a:t>Average silhouette score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4F6F7"/>
        </a:solidFill>
      </c:spPr>
    </c:plotArea>
    <c:plotVisOnly val="1"/>
    <c:dispBlanksAs val="zero"/>
    <c:showDLblsOverMax val="1"/>
  </c:chart>
  <c:spPr>
    <a:solidFill>
      <a:srgbClr val="F4F6F7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Inertia</c:v>
          </c:tx>
          <c:spPr>
            <a:ln w="38100">
              <a:solidFill>
                <a:srgbClr val="1565A0"/>
              </a:solidFill>
            </a:ln>
          </c:spPr>
          <c:marker>
            <c:symbol val="circle"/>
            <c:size val="8"/>
            <c:spPr>
              <a:solidFill>
                <a:srgbClr val="1565A0"/>
              </a:solidFill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00">
                    <a:solidFill>
                      <a:srgbClr val="1C283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</c:formatCode>
                <c:ptCount val="6"/>
                <c:pt idx="0">
                  <c:v>4011</c:v>
                </c:pt>
                <c:pt idx="1">
                  <c:v>2749.3069369999998</c:v>
                </c:pt>
                <c:pt idx="2">
                  <c:v>1973.8297230000001</c:v>
                </c:pt>
                <c:pt idx="3">
                  <c:v>1508.597886</c:v>
                </c:pt>
                <c:pt idx="4">
                  <c:v>1229.0030879999999</c:v>
                </c:pt>
                <c:pt idx="5">
                  <c:v>1090.1645329999999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F0-4C0C-BD69-6E22B38B0B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900">
                    <a:latin typeface="Arial"/>
                    <a:ea typeface="Arial"/>
                    <a:cs typeface="Arial"/>
                  </a:rPr>
                  <a:t>Number of groups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500"/>
          <c:min val="0"/>
        </c:scaling>
        <c:delete val="0"/>
        <c:axPos val="l"/>
        <c:majorGridlines>
          <c:spPr>
            <a:ln w="8890"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800">
                    <a:latin typeface="Arial"/>
                    <a:ea typeface="Arial"/>
                    <a:cs typeface="Arial"/>
                  </a:rPr>
                  <a:t>Total squared distance (inertia)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1000"/>
      </c:valAx>
      <c:spPr>
        <a:solidFill>
          <a:srgbClr val="F4F6F7"/>
        </a:solidFill>
      </c:spPr>
    </c:plotArea>
    <c:plotVisOnly val="1"/>
    <c:dispBlanksAs val="zero"/>
    <c:showDLblsOverMax val="1"/>
  </c:chart>
  <c:spPr>
    <a:solidFill>
      <a:srgbClr val="F4F6F7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Group 1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1565A0"/>
              </a:solidFill>
            </c:spPr>
          </c:marker>
          <c:xVal>
            <c:numRef>
              <c:f>'Chart Data'!$A$2:$A$605</c:f>
              <c:numCache>
                <c:formatCode>General</c:formatCode>
                <c:ptCount val="604"/>
                <c:pt idx="0">
                  <c:v>19</c:v>
                </c:pt>
                <c:pt idx="1">
                  <c:v>18</c:v>
                </c:pt>
                <c:pt idx="2">
                  <c:v>28</c:v>
                </c:pt>
                <c:pt idx="3">
                  <c:v>33</c:v>
                </c:pt>
                <c:pt idx="4">
                  <c:v>32</c:v>
                </c:pt>
                <c:pt idx="5">
                  <c:v>31</c:v>
                </c:pt>
                <c:pt idx="6">
                  <c:v>37</c:v>
                </c:pt>
                <c:pt idx="7">
                  <c:v>37</c:v>
                </c:pt>
                <c:pt idx="8">
                  <c:v>25</c:v>
                </c:pt>
                <c:pt idx="9">
                  <c:v>23</c:v>
                </c:pt>
                <c:pt idx="10">
                  <c:v>19</c:v>
                </c:pt>
                <c:pt idx="11">
                  <c:v>23</c:v>
                </c:pt>
                <c:pt idx="12">
                  <c:v>30</c:v>
                </c:pt>
                <c:pt idx="13">
                  <c:v>18</c:v>
                </c:pt>
                <c:pt idx="14">
                  <c:v>37</c:v>
                </c:pt>
                <c:pt idx="15">
                  <c:v>23</c:v>
                </c:pt>
                <c:pt idx="16">
                  <c:v>18</c:v>
                </c:pt>
                <c:pt idx="17">
                  <c:v>19</c:v>
                </c:pt>
                <c:pt idx="18">
                  <c:v>19</c:v>
                </c:pt>
                <c:pt idx="19">
                  <c:v>26</c:v>
                </c:pt>
                <c:pt idx="20">
                  <c:v>24</c:v>
                </c:pt>
                <c:pt idx="21">
                  <c:v>31</c:v>
                </c:pt>
                <c:pt idx="22">
                  <c:v>41</c:v>
                </c:pt>
                <c:pt idx="23">
                  <c:v>37</c:v>
                </c:pt>
                <c:pt idx="24">
                  <c:v>18</c:v>
                </c:pt>
                <c:pt idx="25">
                  <c:v>28</c:v>
                </c:pt>
                <c:pt idx="26">
                  <c:v>18</c:v>
                </c:pt>
                <c:pt idx="27">
                  <c:v>21</c:v>
                </c:pt>
                <c:pt idx="28">
                  <c:v>40</c:v>
                </c:pt>
                <c:pt idx="29">
                  <c:v>34</c:v>
                </c:pt>
                <c:pt idx="30">
                  <c:v>25</c:v>
                </c:pt>
                <c:pt idx="31">
                  <c:v>28</c:v>
                </c:pt>
                <c:pt idx="32">
                  <c:v>20</c:v>
                </c:pt>
                <c:pt idx="33">
                  <c:v>19</c:v>
                </c:pt>
                <c:pt idx="34">
                  <c:v>40</c:v>
                </c:pt>
                <c:pt idx="35">
                  <c:v>28</c:v>
                </c:pt>
                <c:pt idx="36">
                  <c:v>27</c:v>
                </c:pt>
                <c:pt idx="37">
                  <c:v>31</c:v>
                </c:pt>
                <c:pt idx="38">
                  <c:v>29</c:v>
                </c:pt>
                <c:pt idx="39">
                  <c:v>21</c:v>
                </c:pt>
                <c:pt idx="40">
                  <c:v>22</c:v>
                </c:pt>
                <c:pt idx="41">
                  <c:v>31</c:v>
                </c:pt>
                <c:pt idx="42">
                  <c:v>21</c:v>
                </c:pt>
                <c:pt idx="43">
                  <c:v>35</c:v>
                </c:pt>
                <c:pt idx="44">
                  <c:v>28</c:v>
                </c:pt>
                <c:pt idx="45">
                  <c:v>38</c:v>
                </c:pt>
                <c:pt idx="46">
                  <c:v>30</c:v>
                </c:pt>
                <c:pt idx="47">
                  <c:v>18</c:v>
                </c:pt>
                <c:pt idx="48">
                  <c:v>34</c:v>
                </c:pt>
                <c:pt idx="49">
                  <c:v>20</c:v>
                </c:pt>
                <c:pt idx="50">
                  <c:v>19</c:v>
                </c:pt>
                <c:pt idx="51">
                  <c:v>26</c:v>
                </c:pt>
                <c:pt idx="52">
                  <c:v>29</c:v>
                </c:pt>
                <c:pt idx="53">
                  <c:v>37</c:v>
                </c:pt>
                <c:pt idx="54">
                  <c:v>21</c:v>
                </c:pt>
                <c:pt idx="55">
                  <c:v>29</c:v>
                </c:pt>
                <c:pt idx="56">
                  <c:v>37</c:v>
                </c:pt>
                <c:pt idx="57">
                  <c:v>18</c:v>
                </c:pt>
                <c:pt idx="58">
                  <c:v>20</c:v>
                </c:pt>
                <c:pt idx="59">
                  <c:v>26</c:v>
                </c:pt>
                <c:pt idx="60">
                  <c:v>19</c:v>
                </c:pt>
                <c:pt idx="61">
                  <c:v>32</c:v>
                </c:pt>
                <c:pt idx="62">
                  <c:v>38</c:v>
                </c:pt>
                <c:pt idx="63">
                  <c:v>19</c:v>
                </c:pt>
                <c:pt idx="64">
                  <c:v>20</c:v>
                </c:pt>
                <c:pt idx="65">
                  <c:v>22</c:v>
                </c:pt>
                <c:pt idx="66">
                  <c:v>19</c:v>
                </c:pt>
                <c:pt idx="67">
                  <c:v>22</c:v>
                </c:pt>
                <c:pt idx="68">
                  <c:v>22</c:v>
                </c:pt>
                <c:pt idx="69">
                  <c:v>34</c:v>
                </c:pt>
                <c:pt idx="70">
                  <c:v>26</c:v>
                </c:pt>
                <c:pt idx="71">
                  <c:v>34</c:v>
                </c:pt>
                <c:pt idx="72">
                  <c:v>29</c:v>
                </c:pt>
                <c:pt idx="73">
                  <c:v>30</c:v>
                </c:pt>
                <c:pt idx="74">
                  <c:v>29</c:v>
                </c:pt>
                <c:pt idx="75">
                  <c:v>19</c:v>
                </c:pt>
                <c:pt idx="76">
                  <c:v>35</c:v>
                </c:pt>
                <c:pt idx="77">
                  <c:v>32</c:v>
                </c:pt>
                <c:pt idx="78">
                  <c:v>40</c:v>
                </c:pt>
                <c:pt idx="79">
                  <c:v>18</c:v>
                </c:pt>
                <c:pt idx="80">
                  <c:v>32</c:v>
                </c:pt>
                <c:pt idx="81">
                  <c:v>37</c:v>
                </c:pt>
                <c:pt idx="82">
                  <c:v>20</c:v>
                </c:pt>
                <c:pt idx="83">
                  <c:v>32</c:v>
                </c:pt>
                <c:pt idx="84">
                  <c:v>19</c:v>
                </c:pt>
                <c:pt idx="85">
                  <c:v>27</c:v>
                </c:pt>
                <c:pt idx="86">
                  <c:v>18</c:v>
                </c:pt>
                <c:pt idx="87">
                  <c:v>35</c:v>
                </c:pt>
                <c:pt idx="88">
                  <c:v>24</c:v>
                </c:pt>
                <c:pt idx="89">
                  <c:v>38</c:v>
                </c:pt>
                <c:pt idx="90">
                  <c:v>18</c:v>
                </c:pt>
                <c:pt idx="91">
                  <c:v>22</c:v>
                </c:pt>
                <c:pt idx="92">
                  <c:v>26</c:v>
                </c:pt>
                <c:pt idx="93">
                  <c:v>30</c:v>
                </c:pt>
                <c:pt idx="94">
                  <c:v>29</c:v>
                </c:pt>
                <c:pt idx="95">
                  <c:v>36</c:v>
                </c:pt>
                <c:pt idx="96">
                  <c:v>25</c:v>
                </c:pt>
                <c:pt idx="97">
                  <c:v>18</c:v>
                </c:pt>
                <c:pt idx="98">
                  <c:v>19</c:v>
                </c:pt>
                <c:pt idx="99">
                  <c:v>39</c:v>
                </c:pt>
                <c:pt idx="100">
                  <c:v>19</c:v>
                </c:pt>
                <c:pt idx="101">
                  <c:v>28</c:v>
                </c:pt>
                <c:pt idx="102">
                  <c:v>35</c:v>
                </c:pt>
                <c:pt idx="103">
                  <c:v>20</c:v>
                </c:pt>
                <c:pt idx="104">
                  <c:v>24</c:v>
                </c:pt>
                <c:pt idx="105">
                  <c:v>34</c:v>
                </c:pt>
                <c:pt idx="106">
                  <c:v>27</c:v>
                </c:pt>
                <c:pt idx="107">
                  <c:v>26</c:v>
                </c:pt>
                <c:pt idx="108">
                  <c:v>24</c:v>
                </c:pt>
                <c:pt idx="109">
                  <c:v>34</c:v>
                </c:pt>
                <c:pt idx="110">
                  <c:v>32</c:v>
                </c:pt>
                <c:pt idx="111">
                  <c:v>28</c:v>
                </c:pt>
                <c:pt idx="112">
                  <c:v>19</c:v>
                </c:pt>
                <c:pt idx="113">
                  <c:v>39</c:v>
                </c:pt>
                <c:pt idx="114">
                  <c:v>18</c:v>
                </c:pt>
                <c:pt idx="115">
                  <c:v>31</c:v>
                </c:pt>
                <c:pt idx="116">
                  <c:v>19</c:v>
                </c:pt>
                <c:pt idx="117">
                  <c:v>33</c:v>
                </c:pt>
                <c:pt idx="118">
                  <c:v>24</c:v>
                </c:pt>
                <c:pt idx="119">
                  <c:v>19</c:v>
                </c:pt>
                <c:pt idx="120">
                  <c:v>29</c:v>
                </c:pt>
                <c:pt idx="121">
                  <c:v>18</c:v>
                </c:pt>
                <c:pt idx="122">
                  <c:v>27</c:v>
                </c:pt>
                <c:pt idx="123">
                  <c:v>20</c:v>
                </c:pt>
                <c:pt idx="124">
                  <c:v>40</c:v>
                </c:pt>
                <c:pt idx="125">
                  <c:v>18</c:v>
                </c:pt>
                <c:pt idx="126">
                  <c:v>25</c:v>
                </c:pt>
                <c:pt idx="127">
                  <c:v>19</c:v>
                </c:pt>
                <c:pt idx="128">
                  <c:v>22</c:v>
                </c:pt>
                <c:pt idx="129">
                  <c:v>30</c:v>
                </c:pt>
                <c:pt idx="130">
                  <c:v>28</c:v>
                </c:pt>
                <c:pt idx="131">
                  <c:v>29</c:v>
                </c:pt>
                <c:pt idx="132">
                  <c:v>22</c:v>
                </c:pt>
                <c:pt idx="133">
                  <c:v>25</c:v>
                </c:pt>
                <c:pt idx="134">
                  <c:v>18</c:v>
                </c:pt>
                <c:pt idx="135">
                  <c:v>19</c:v>
                </c:pt>
                <c:pt idx="136">
                  <c:v>36</c:v>
                </c:pt>
                <c:pt idx="137">
                  <c:v>28</c:v>
                </c:pt>
                <c:pt idx="138">
                  <c:v>29</c:v>
                </c:pt>
                <c:pt idx="139">
                  <c:v>28</c:v>
                </c:pt>
                <c:pt idx="140">
                  <c:v>30</c:v>
                </c:pt>
                <c:pt idx="141">
                  <c:v>19</c:v>
                </c:pt>
                <c:pt idx="142">
                  <c:v>32</c:v>
                </c:pt>
                <c:pt idx="143">
                  <c:v>34</c:v>
                </c:pt>
                <c:pt idx="144">
                  <c:v>26</c:v>
                </c:pt>
                <c:pt idx="145">
                  <c:v>29</c:v>
                </c:pt>
                <c:pt idx="146">
                  <c:v>27</c:v>
                </c:pt>
                <c:pt idx="147">
                  <c:v>24</c:v>
                </c:pt>
                <c:pt idx="148">
                  <c:v>34</c:v>
                </c:pt>
                <c:pt idx="149">
                  <c:v>33</c:v>
                </c:pt>
                <c:pt idx="150">
                  <c:v>36</c:v>
                </c:pt>
                <c:pt idx="151">
                  <c:v>19</c:v>
                </c:pt>
                <c:pt idx="152">
                  <c:v>30</c:v>
                </c:pt>
                <c:pt idx="153">
                  <c:v>33</c:v>
                </c:pt>
                <c:pt idx="154">
                  <c:v>18</c:v>
                </c:pt>
                <c:pt idx="155">
                  <c:v>23</c:v>
                </c:pt>
                <c:pt idx="156">
                  <c:v>18</c:v>
                </c:pt>
                <c:pt idx="157">
                  <c:v>35</c:v>
                </c:pt>
                <c:pt idx="158">
                  <c:v>19</c:v>
                </c:pt>
                <c:pt idx="159">
                  <c:v>21</c:v>
                </c:pt>
                <c:pt idx="160">
                  <c:v>21</c:v>
                </c:pt>
                <c:pt idx="161">
                  <c:v>42</c:v>
                </c:pt>
                <c:pt idx="162">
                  <c:v>18</c:v>
                </c:pt>
                <c:pt idx="163">
                  <c:v>20</c:v>
                </c:pt>
                <c:pt idx="164">
                  <c:v>23</c:v>
                </c:pt>
                <c:pt idx="165">
                  <c:v>27</c:v>
                </c:pt>
                <c:pt idx="166">
                  <c:v>19</c:v>
                </c:pt>
                <c:pt idx="167">
                  <c:v>26</c:v>
                </c:pt>
                <c:pt idx="168">
                  <c:v>24</c:v>
                </c:pt>
                <c:pt idx="169">
                  <c:v>19</c:v>
                </c:pt>
                <c:pt idx="170">
                  <c:v>21</c:v>
                </c:pt>
                <c:pt idx="171">
                  <c:v>18</c:v>
                </c:pt>
                <c:pt idx="172">
                  <c:v>31</c:v>
                </c:pt>
                <c:pt idx="173">
                  <c:v>33</c:v>
                </c:pt>
                <c:pt idx="174">
                  <c:v>38</c:v>
                </c:pt>
                <c:pt idx="175">
                  <c:v>32</c:v>
                </c:pt>
                <c:pt idx="176">
                  <c:v>19</c:v>
                </c:pt>
                <c:pt idx="177">
                  <c:v>26</c:v>
                </c:pt>
                <c:pt idx="178">
                  <c:v>25</c:v>
                </c:pt>
                <c:pt idx="179">
                  <c:v>19</c:v>
                </c:pt>
                <c:pt idx="180">
                  <c:v>36</c:v>
                </c:pt>
                <c:pt idx="181">
                  <c:v>25</c:v>
                </c:pt>
                <c:pt idx="182">
                  <c:v>38</c:v>
                </c:pt>
                <c:pt idx="183">
                  <c:v>18</c:v>
                </c:pt>
                <c:pt idx="184">
                  <c:v>21</c:v>
                </c:pt>
                <c:pt idx="185">
                  <c:v>27</c:v>
                </c:pt>
                <c:pt idx="186">
                  <c:v>19</c:v>
                </c:pt>
                <c:pt idx="187">
                  <c:v>29</c:v>
                </c:pt>
                <c:pt idx="188">
                  <c:v>42</c:v>
                </c:pt>
                <c:pt idx="189">
                  <c:v>31</c:v>
                </c:pt>
                <c:pt idx="190">
                  <c:v>22</c:v>
                </c:pt>
                <c:pt idx="191">
                  <c:v>35</c:v>
                </c:pt>
                <c:pt idx="192">
                  <c:v>26</c:v>
                </c:pt>
                <c:pt idx="193">
                  <c:v>31</c:v>
                </c:pt>
                <c:pt idx="194">
                  <c:v>18</c:v>
                </c:pt>
                <c:pt idx="195">
                  <c:v>40</c:v>
                </c:pt>
                <c:pt idx="196">
                  <c:v>35</c:v>
                </c:pt>
                <c:pt idx="197">
                  <c:v>39</c:v>
                </c:pt>
                <c:pt idx="198">
                  <c:v>30</c:v>
                </c:pt>
                <c:pt idx="199">
                  <c:v>24</c:v>
                </c:pt>
                <c:pt idx="200">
                  <c:v>20</c:v>
                </c:pt>
                <c:pt idx="201">
                  <c:v>32</c:v>
                </c:pt>
                <c:pt idx="202">
                  <c:v>19</c:v>
                </c:pt>
                <c:pt idx="203">
                  <c:v>30</c:v>
                </c:pt>
                <c:pt idx="204">
                  <c:v>28</c:v>
                </c:pt>
                <c:pt idx="205">
                  <c:v>18</c:v>
                </c:pt>
                <c:pt idx="206">
                  <c:v>27</c:v>
                </c:pt>
                <c:pt idx="207">
                  <c:v>18</c:v>
                </c:pt>
                <c:pt idx="208">
                  <c:v>19</c:v>
                </c:pt>
                <c:pt idx="209">
                  <c:v>25</c:v>
                </c:pt>
                <c:pt idx="210">
                  <c:v>21</c:v>
                </c:pt>
                <c:pt idx="211">
                  <c:v>23</c:v>
                </c:pt>
                <c:pt idx="212">
                  <c:v>18</c:v>
                </c:pt>
                <c:pt idx="213">
                  <c:v>31</c:v>
                </c:pt>
                <c:pt idx="214">
                  <c:v>19</c:v>
                </c:pt>
                <c:pt idx="215">
                  <c:v>19</c:v>
                </c:pt>
                <c:pt idx="216">
                  <c:v>18</c:v>
                </c:pt>
                <c:pt idx="217">
                  <c:v>21</c:v>
                </c:pt>
                <c:pt idx="218">
                  <c:v>20</c:v>
                </c:pt>
                <c:pt idx="219">
                  <c:v>31</c:v>
                </c:pt>
                <c:pt idx="220">
                  <c:v>38</c:v>
                </c:pt>
                <c:pt idx="221">
                  <c:v>37</c:v>
                </c:pt>
                <c:pt idx="222">
                  <c:v>22</c:v>
                </c:pt>
                <c:pt idx="223">
                  <c:v>21</c:v>
                </c:pt>
                <c:pt idx="224">
                  <c:v>24</c:v>
                </c:pt>
                <c:pt idx="225">
                  <c:v>27</c:v>
                </c:pt>
                <c:pt idx="226">
                  <c:v>19</c:v>
                </c:pt>
                <c:pt idx="227">
                  <c:v>35</c:v>
                </c:pt>
                <c:pt idx="228">
                  <c:v>31</c:v>
                </c:pt>
                <c:pt idx="229">
                  <c:v>32</c:v>
                </c:pt>
                <c:pt idx="230">
                  <c:v>18</c:v>
                </c:pt>
                <c:pt idx="231">
                  <c:v>19</c:v>
                </c:pt>
                <c:pt idx="232">
                  <c:v>18</c:v>
                </c:pt>
                <c:pt idx="233">
                  <c:v>38</c:v>
                </c:pt>
                <c:pt idx="234">
                  <c:v>33</c:v>
                </c:pt>
                <c:pt idx="235">
                  <c:v>34</c:v>
                </c:pt>
                <c:pt idx="236">
                  <c:v>20</c:v>
                </c:pt>
                <c:pt idx="237">
                  <c:v>28</c:v>
                </c:pt>
                <c:pt idx="238">
                  <c:v>25</c:v>
                </c:pt>
                <c:pt idx="239">
                  <c:v>32</c:v>
                </c:pt>
                <c:pt idx="240">
                  <c:v>25</c:v>
                </c:pt>
                <c:pt idx="241">
                  <c:v>28</c:v>
                </c:pt>
                <c:pt idx="242">
                  <c:v>34</c:v>
                </c:pt>
                <c:pt idx="243">
                  <c:v>19</c:v>
                </c:pt>
                <c:pt idx="244">
                  <c:v>27</c:v>
                </c:pt>
                <c:pt idx="245">
                  <c:v>18</c:v>
                </c:pt>
                <c:pt idx="246">
                  <c:v>19</c:v>
                </c:pt>
                <c:pt idx="247">
                  <c:v>31</c:v>
                </c:pt>
                <c:pt idx="248">
                  <c:v>18</c:v>
                </c:pt>
                <c:pt idx="249">
                  <c:v>30</c:v>
                </c:pt>
                <c:pt idx="250">
                  <c:v>22</c:v>
                </c:pt>
                <c:pt idx="251">
                  <c:v>25</c:v>
                </c:pt>
                <c:pt idx="252">
                  <c:v>32</c:v>
                </c:pt>
                <c:pt idx="253">
                  <c:v>19</c:v>
                </c:pt>
                <c:pt idx="254">
                  <c:v>33</c:v>
                </c:pt>
                <c:pt idx="255">
                  <c:v>21</c:v>
                </c:pt>
                <c:pt idx="256">
                  <c:v>38</c:v>
                </c:pt>
                <c:pt idx="257">
                  <c:v>20</c:v>
                </c:pt>
                <c:pt idx="258">
                  <c:v>21</c:v>
                </c:pt>
                <c:pt idx="259">
                  <c:v>34</c:v>
                </c:pt>
                <c:pt idx="260">
                  <c:v>18</c:v>
                </c:pt>
                <c:pt idx="261">
                  <c:v>19</c:v>
                </c:pt>
                <c:pt idx="262">
                  <c:v>27</c:v>
                </c:pt>
                <c:pt idx="263">
                  <c:v>28</c:v>
                </c:pt>
                <c:pt idx="264">
                  <c:v>38</c:v>
                </c:pt>
                <c:pt idx="265">
                  <c:v>18</c:v>
                </c:pt>
                <c:pt idx="266">
                  <c:v>34</c:v>
                </c:pt>
                <c:pt idx="267">
                  <c:v>20</c:v>
                </c:pt>
                <c:pt idx="268">
                  <c:v>30</c:v>
                </c:pt>
                <c:pt idx="269">
                  <c:v>29</c:v>
                </c:pt>
                <c:pt idx="270">
                  <c:v>36</c:v>
                </c:pt>
                <c:pt idx="271">
                  <c:v>33</c:v>
                </c:pt>
                <c:pt idx="272">
                  <c:v>24</c:v>
                </c:pt>
                <c:pt idx="273">
                  <c:v>29</c:v>
                </c:pt>
                <c:pt idx="274">
                  <c:v>40</c:v>
                </c:pt>
                <c:pt idx="275">
                  <c:v>19</c:v>
                </c:pt>
                <c:pt idx="276">
                  <c:v>33</c:v>
                </c:pt>
                <c:pt idx="277">
                  <c:v>23</c:v>
                </c:pt>
                <c:pt idx="278">
                  <c:v>39</c:v>
                </c:pt>
                <c:pt idx="279">
                  <c:v>40</c:v>
                </c:pt>
                <c:pt idx="280">
                  <c:v>18</c:v>
                </c:pt>
                <c:pt idx="281">
                  <c:v>26</c:v>
                </c:pt>
                <c:pt idx="282">
                  <c:v>27</c:v>
                </c:pt>
                <c:pt idx="283">
                  <c:v>32</c:v>
                </c:pt>
                <c:pt idx="284">
                  <c:v>18</c:v>
                </c:pt>
                <c:pt idx="285">
                  <c:v>40</c:v>
                </c:pt>
                <c:pt idx="286">
                  <c:v>30</c:v>
                </c:pt>
                <c:pt idx="287">
                  <c:v>29</c:v>
                </c:pt>
                <c:pt idx="288">
                  <c:v>36</c:v>
                </c:pt>
                <c:pt idx="289">
                  <c:v>21</c:v>
                </c:pt>
                <c:pt idx="290">
                  <c:v>19</c:v>
                </c:pt>
                <c:pt idx="291">
                  <c:v>33</c:v>
                </c:pt>
                <c:pt idx="292">
                  <c:v>21</c:v>
                </c:pt>
                <c:pt idx="293">
                  <c:v>20</c:v>
                </c:pt>
                <c:pt idx="294">
                  <c:v>24</c:v>
                </c:pt>
                <c:pt idx="295">
                  <c:v>27</c:v>
                </c:pt>
                <c:pt idx="296">
                  <c:v>26</c:v>
                </c:pt>
                <c:pt idx="297">
                  <c:v>23</c:v>
                </c:pt>
                <c:pt idx="298">
                  <c:v>21</c:v>
                </c:pt>
                <c:pt idx="299">
                  <c:v>34</c:v>
                </c:pt>
                <c:pt idx="300">
                  <c:v>33</c:v>
                </c:pt>
                <c:pt idx="301">
                  <c:v>31</c:v>
                </c:pt>
                <c:pt idx="302">
                  <c:v>36</c:v>
                </c:pt>
                <c:pt idx="303">
                  <c:v>18</c:v>
                </c:pt>
                <c:pt idx="304">
                  <c:v>20</c:v>
                </c:pt>
                <c:pt idx="305">
                  <c:v>24</c:v>
                </c:pt>
                <c:pt idx="306">
                  <c:v>19</c:v>
                </c:pt>
                <c:pt idx="307">
                  <c:v>41</c:v>
                </c:pt>
                <c:pt idx="308">
                  <c:v>29</c:v>
                </c:pt>
                <c:pt idx="309">
                  <c:v>18</c:v>
                </c:pt>
                <c:pt idx="310">
                  <c:v>35</c:v>
                </c:pt>
                <c:pt idx="311">
                  <c:v>24</c:v>
                </c:pt>
                <c:pt idx="312">
                  <c:v>26</c:v>
                </c:pt>
                <c:pt idx="313">
                  <c:v>27</c:v>
                </c:pt>
                <c:pt idx="314">
                  <c:v>31</c:v>
                </c:pt>
                <c:pt idx="315">
                  <c:v>34</c:v>
                </c:pt>
                <c:pt idx="316">
                  <c:v>19</c:v>
                </c:pt>
                <c:pt idx="317">
                  <c:v>28</c:v>
                </c:pt>
                <c:pt idx="318">
                  <c:v>37</c:v>
                </c:pt>
                <c:pt idx="319">
                  <c:v>21</c:v>
                </c:pt>
                <c:pt idx="320">
                  <c:v>24</c:v>
                </c:pt>
                <c:pt idx="321">
                  <c:v>31</c:v>
                </c:pt>
                <c:pt idx="322">
                  <c:v>39</c:v>
                </c:pt>
                <c:pt idx="323">
                  <c:v>30</c:v>
                </c:pt>
                <c:pt idx="324">
                  <c:v>22</c:v>
                </c:pt>
                <c:pt idx="325">
                  <c:v>23</c:v>
                </c:pt>
                <c:pt idx="326">
                  <c:v>33</c:v>
                </c:pt>
                <c:pt idx="327">
                  <c:v>27</c:v>
                </c:pt>
                <c:pt idx="328">
                  <c:v>38</c:v>
                </c:pt>
                <c:pt idx="329">
                  <c:v>19</c:v>
                </c:pt>
                <c:pt idx="330">
                  <c:v>35</c:v>
                </c:pt>
                <c:pt idx="331">
                  <c:v>30</c:v>
                </c:pt>
                <c:pt idx="332">
                  <c:v>18</c:v>
                </c:pt>
                <c:pt idx="333">
                  <c:v>31</c:v>
                </c:pt>
                <c:pt idx="334">
                  <c:v>35</c:v>
                </c:pt>
                <c:pt idx="335">
                  <c:v>21</c:v>
                </c:pt>
                <c:pt idx="336">
                  <c:v>29</c:v>
                </c:pt>
                <c:pt idx="337">
                  <c:v>19</c:v>
                </c:pt>
                <c:pt idx="338">
                  <c:v>22</c:v>
                </c:pt>
                <c:pt idx="339">
                  <c:v>39</c:v>
                </c:pt>
                <c:pt idx="340">
                  <c:v>27</c:v>
                </c:pt>
                <c:pt idx="341">
                  <c:v>30</c:v>
                </c:pt>
                <c:pt idx="342">
                  <c:v>30</c:v>
                </c:pt>
                <c:pt idx="343">
                  <c:v>33</c:v>
                </c:pt>
                <c:pt idx="344">
                  <c:v>42</c:v>
                </c:pt>
                <c:pt idx="345">
                  <c:v>21</c:v>
                </c:pt>
                <c:pt idx="346">
                  <c:v>23</c:v>
                </c:pt>
                <c:pt idx="347">
                  <c:v>19</c:v>
                </c:pt>
                <c:pt idx="348">
                  <c:v>18</c:v>
                </c:pt>
                <c:pt idx="349">
                  <c:v>25</c:v>
                </c:pt>
                <c:pt idx="350">
                  <c:v>33</c:v>
                </c:pt>
                <c:pt idx="351">
                  <c:v>28</c:v>
                </c:pt>
                <c:pt idx="352">
                  <c:v>36</c:v>
                </c:pt>
                <c:pt idx="353">
                  <c:v>20</c:v>
                </c:pt>
                <c:pt idx="354">
                  <c:v>24</c:v>
                </c:pt>
                <c:pt idx="355">
                  <c:v>23</c:v>
                </c:pt>
                <c:pt idx="356">
                  <c:v>26</c:v>
                </c:pt>
                <c:pt idx="357">
                  <c:v>18</c:v>
                </c:pt>
                <c:pt idx="358">
                  <c:v>36</c:v>
                </c:pt>
                <c:pt idx="359">
                  <c:v>39</c:v>
                </c:pt>
                <c:pt idx="360">
                  <c:v>36</c:v>
                </c:pt>
                <c:pt idx="361">
                  <c:v>28</c:v>
                </c:pt>
                <c:pt idx="362">
                  <c:v>36</c:v>
                </c:pt>
                <c:pt idx="363">
                  <c:v>36</c:v>
                </c:pt>
                <c:pt idx="364">
                  <c:v>35</c:v>
                </c:pt>
                <c:pt idx="365">
                  <c:v>21</c:v>
                </c:pt>
                <c:pt idx="366">
                  <c:v>23</c:v>
                </c:pt>
                <c:pt idx="367">
                  <c:v>27</c:v>
                </c:pt>
                <c:pt idx="368">
                  <c:v>20</c:v>
                </c:pt>
                <c:pt idx="369">
                  <c:v>25</c:v>
                </c:pt>
                <c:pt idx="370">
                  <c:v>25</c:v>
                </c:pt>
                <c:pt idx="371">
                  <c:v>38</c:v>
                </c:pt>
                <c:pt idx="372">
                  <c:v>36</c:v>
                </c:pt>
                <c:pt idx="373">
                  <c:v>40</c:v>
                </c:pt>
                <c:pt idx="374">
                  <c:v>18</c:v>
                </c:pt>
                <c:pt idx="375">
                  <c:v>25</c:v>
                </c:pt>
                <c:pt idx="376">
                  <c:v>26</c:v>
                </c:pt>
                <c:pt idx="377">
                  <c:v>42</c:v>
                </c:pt>
                <c:pt idx="378">
                  <c:v>23</c:v>
                </c:pt>
                <c:pt idx="379">
                  <c:v>33</c:v>
                </c:pt>
                <c:pt idx="380">
                  <c:v>41</c:v>
                </c:pt>
                <c:pt idx="381">
                  <c:v>37</c:v>
                </c:pt>
                <c:pt idx="382">
                  <c:v>22</c:v>
                </c:pt>
                <c:pt idx="383">
                  <c:v>23</c:v>
                </c:pt>
                <c:pt idx="384">
                  <c:v>21</c:v>
                </c:pt>
                <c:pt idx="385">
                  <c:v>25</c:v>
                </c:pt>
                <c:pt idx="386">
                  <c:v>32</c:v>
                </c:pt>
                <c:pt idx="387">
                  <c:v>36</c:v>
                </c:pt>
                <c:pt idx="388">
                  <c:v>22</c:v>
                </c:pt>
                <c:pt idx="389">
                  <c:v>36</c:v>
                </c:pt>
                <c:pt idx="390">
                  <c:v>19</c:v>
                </c:pt>
                <c:pt idx="391">
                  <c:v>18</c:v>
                </c:pt>
                <c:pt idx="392">
                  <c:v>19</c:v>
                </c:pt>
                <c:pt idx="393">
                  <c:v>26</c:v>
                </c:pt>
                <c:pt idx="394">
                  <c:v>26</c:v>
                </c:pt>
                <c:pt idx="395">
                  <c:v>27</c:v>
                </c:pt>
                <c:pt idx="396">
                  <c:v>32</c:v>
                </c:pt>
                <c:pt idx="397">
                  <c:v>22</c:v>
                </c:pt>
                <c:pt idx="398">
                  <c:v>33</c:v>
                </c:pt>
                <c:pt idx="399">
                  <c:v>24</c:v>
                </c:pt>
                <c:pt idx="400">
                  <c:v>35</c:v>
                </c:pt>
                <c:pt idx="401">
                  <c:v>38</c:v>
                </c:pt>
                <c:pt idx="402">
                  <c:v>34</c:v>
                </c:pt>
                <c:pt idx="403">
                  <c:v>43</c:v>
                </c:pt>
                <c:pt idx="404">
                  <c:v>19</c:v>
                </c:pt>
                <c:pt idx="405">
                  <c:v>26</c:v>
                </c:pt>
                <c:pt idx="406">
                  <c:v>39</c:v>
                </c:pt>
                <c:pt idx="407">
                  <c:v>32</c:v>
                </c:pt>
                <c:pt idx="408">
                  <c:v>39</c:v>
                </c:pt>
                <c:pt idx="409">
                  <c:v>18</c:v>
                </c:pt>
                <c:pt idx="410">
                  <c:v>18</c:v>
                </c:pt>
                <c:pt idx="411">
                  <c:v>18</c:v>
                </c:pt>
                <c:pt idx="412">
                  <c:v>19</c:v>
                </c:pt>
                <c:pt idx="413">
                  <c:v>25</c:v>
                </c:pt>
                <c:pt idx="414">
                  <c:v>30</c:v>
                </c:pt>
                <c:pt idx="415">
                  <c:v>34</c:v>
                </c:pt>
                <c:pt idx="416">
                  <c:v>31</c:v>
                </c:pt>
                <c:pt idx="417">
                  <c:v>24</c:v>
                </c:pt>
                <c:pt idx="418">
                  <c:v>19</c:v>
                </c:pt>
                <c:pt idx="419">
                  <c:v>29</c:v>
                </c:pt>
                <c:pt idx="420">
                  <c:v>35</c:v>
                </c:pt>
                <c:pt idx="421">
                  <c:v>21</c:v>
                </c:pt>
                <c:pt idx="422">
                  <c:v>34</c:v>
                </c:pt>
                <c:pt idx="423">
                  <c:v>22</c:v>
                </c:pt>
                <c:pt idx="424">
                  <c:v>19</c:v>
                </c:pt>
                <c:pt idx="425">
                  <c:v>26</c:v>
                </c:pt>
                <c:pt idx="426">
                  <c:v>29</c:v>
                </c:pt>
                <c:pt idx="427">
                  <c:v>26</c:v>
                </c:pt>
                <c:pt idx="428">
                  <c:v>36</c:v>
                </c:pt>
                <c:pt idx="429">
                  <c:v>34</c:v>
                </c:pt>
                <c:pt idx="430">
                  <c:v>31</c:v>
                </c:pt>
                <c:pt idx="431">
                  <c:v>27</c:v>
                </c:pt>
                <c:pt idx="432">
                  <c:v>20</c:v>
                </c:pt>
                <c:pt idx="433">
                  <c:v>34</c:v>
                </c:pt>
                <c:pt idx="434">
                  <c:v>24</c:v>
                </c:pt>
                <c:pt idx="435">
                  <c:v>26</c:v>
                </c:pt>
                <c:pt idx="436">
                  <c:v>38</c:v>
                </c:pt>
                <c:pt idx="437">
                  <c:v>38</c:v>
                </c:pt>
                <c:pt idx="438">
                  <c:v>27</c:v>
                </c:pt>
                <c:pt idx="439">
                  <c:v>39</c:v>
                </c:pt>
                <c:pt idx="440">
                  <c:v>33</c:v>
                </c:pt>
                <c:pt idx="441">
                  <c:v>36</c:v>
                </c:pt>
                <c:pt idx="442">
                  <c:v>30</c:v>
                </c:pt>
                <c:pt idx="443">
                  <c:v>24</c:v>
                </c:pt>
                <c:pt idx="444">
                  <c:v>29</c:v>
                </c:pt>
                <c:pt idx="445">
                  <c:v>28</c:v>
                </c:pt>
                <c:pt idx="446">
                  <c:v>25</c:v>
                </c:pt>
                <c:pt idx="447">
                  <c:v>38</c:v>
                </c:pt>
                <c:pt idx="448">
                  <c:v>19</c:v>
                </c:pt>
                <c:pt idx="449">
                  <c:v>26</c:v>
                </c:pt>
                <c:pt idx="450">
                  <c:v>21</c:v>
                </c:pt>
                <c:pt idx="451">
                  <c:v>18</c:v>
                </c:pt>
                <c:pt idx="452">
                  <c:v>21</c:v>
                </c:pt>
                <c:pt idx="453">
                  <c:v>19</c:v>
                </c:pt>
                <c:pt idx="454">
                  <c:v>23</c:v>
                </c:pt>
                <c:pt idx="455">
                  <c:v>37</c:v>
                </c:pt>
                <c:pt idx="456">
                  <c:v>30</c:v>
                </c:pt>
                <c:pt idx="457">
                  <c:v>18</c:v>
                </c:pt>
                <c:pt idx="458">
                  <c:v>22</c:v>
                </c:pt>
                <c:pt idx="459">
                  <c:v>19</c:v>
                </c:pt>
                <c:pt idx="460">
                  <c:v>35</c:v>
                </c:pt>
                <c:pt idx="461">
                  <c:v>18</c:v>
                </c:pt>
                <c:pt idx="462">
                  <c:v>28</c:v>
                </c:pt>
                <c:pt idx="463">
                  <c:v>25</c:v>
                </c:pt>
                <c:pt idx="464">
                  <c:v>27</c:v>
                </c:pt>
                <c:pt idx="465">
                  <c:v>24</c:v>
                </c:pt>
                <c:pt idx="466">
                  <c:v>32</c:v>
                </c:pt>
                <c:pt idx="467">
                  <c:v>24</c:v>
                </c:pt>
                <c:pt idx="468">
                  <c:v>36</c:v>
                </c:pt>
                <c:pt idx="469">
                  <c:v>29</c:v>
                </c:pt>
                <c:pt idx="470">
                  <c:v>42</c:v>
                </c:pt>
                <c:pt idx="471">
                  <c:v>21</c:v>
                </c:pt>
                <c:pt idx="472">
                  <c:v>32</c:v>
                </c:pt>
                <c:pt idx="473">
                  <c:v>21</c:v>
                </c:pt>
                <c:pt idx="474">
                  <c:v>18</c:v>
                </c:pt>
                <c:pt idx="475">
                  <c:v>32</c:v>
                </c:pt>
                <c:pt idx="476">
                  <c:v>38</c:v>
                </c:pt>
                <c:pt idx="477">
                  <c:v>32</c:v>
                </c:pt>
                <c:pt idx="478">
                  <c:v>39</c:v>
                </c:pt>
                <c:pt idx="479">
                  <c:v>23</c:v>
                </c:pt>
                <c:pt idx="480">
                  <c:v>18</c:v>
                </c:pt>
                <c:pt idx="481">
                  <c:v>22</c:v>
                </c:pt>
                <c:pt idx="482">
                  <c:v>25</c:v>
                </c:pt>
                <c:pt idx="483">
                  <c:v>33</c:v>
                </c:pt>
                <c:pt idx="484">
                  <c:v>29</c:v>
                </c:pt>
                <c:pt idx="485">
                  <c:v>26</c:v>
                </c:pt>
                <c:pt idx="486">
                  <c:v>28</c:v>
                </c:pt>
                <c:pt idx="487">
                  <c:v>23</c:v>
                </c:pt>
                <c:pt idx="488">
                  <c:v>30</c:v>
                </c:pt>
                <c:pt idx="489">
                  <c:v>27</c:v>
                </c:pt>
                <c:pt idx="490">
                  <c:v>35</c:v>
                </c:pt>
                <c:pt idx="491">
                  <c:v>34</c:v>
                </c:pt>
                <c:pt idx="492">
                  <c:v>19</c:v>
                </c:pt>
                <c:pt idx="493">
                  <c:v>39</c:v>
                </c:pt>
                <c:pt idx="494">
                  <c:v>27</c:v>
                </c:pt>
                <c:pt idx="495">
                  <c:v>28</c:v>
                </c:pt>
                <c:pt idx="496">
                  <c:v>26</c:v>
                </c:pt>
                <c:pt idx="497">
                  <c:v>33</c:v>
                </c:pt>
                <c:pt idx="498">
                  <c:v>39</c:v>
                </c:pt>
                <c:pt idx="499">
                  <c:v>20</c:v>
                </c:pt>
                <c:pt idx="500">
                  <c:v>18</c:v>
                </c:pt>
                <c:pt idx="501">
                  <c:v>35</c:v>
                </c:pt>
                <c:pt idx="502">
                  <c:v>36</c:v>
                </c:pt>
                <c:pt idx="503">
                  <c:v>23</c:v>
                </c:pt>
                <c:pt idx="504">
                  <c:v>20</c:v>
                </c:pt>
                <c:pt idx="505">
                  <c:v>32</c:v>
                </c:pt>
                <c:pt idx="506">
                  <c:v>34</c:v>
                </c:pt>
                <c:pt idx="507">
                  <c:v>30</c:v>
                </c:pt>
                <c:pt idx="508">
                  <c:v>18</c:v>
                </c:pt>
                <c:pt idx="509">
                  <c:v>41</c:v>
                </c:pt>
                <c:pt idx="510">
                  <c:v>35</c:v>
                </c:pt>
                <c:pt idx="511">
                  <c:v>29</c:v>
                </c:pt>
                <c:pt idx="512">
                  <c:v>32</c:v>
                </c:pt>
                <c:pt idx="513">
                  <c:v>37</c:v>
                </c:pt>
                <c:pt idx="514">
                  <c:v>18</c:v>
                </c:pt>
                <c:pt idx="515">
                  <c:v>38</c:v>
                </c:pt>
                <c:pt idx="516">
                  <c:v>29</c:v>
                </c:pt>
                <c:pt idx="517">
                  <c:v>22</c:v>
                </c:pt>
                <c:pt idx="518">
                  <c:v>40</c:v>
                </c:pt>
                <c:pt idx="519">
                  <c:v>23</c:v>
                </c:pt>
                <c:pt idx="520">
                  <c:v>31</c:v>
                </c:pt>
                <c:pt idx="521">
                  <c:v>24</c:v>
                </c:pt>
                <c:pt idx="522">
                  <c:v>25</c:v>
                </c:pt>
                <c:pt idx="523">
                  <c:v>23</c:v>
                </c:pt>
                <c:pt idx="524">
                  <c:v>23</c:v>
                </c:pt>
                <c:pt idx="525">
                  <c:v>31</c:v>
                </c:pt>
                <c:pt idx="526">
                  <c:v>41</c:v>
                </c:pt>
                <c:pt idx="527">
                  <c:v>31</c:v>
                </c:pt>
                <c:pt idx="528">
                  <c:v>19</c:v>
                </c:pt>
                <c:pt idx="529">
                  <c:v>40</c:v>
                </c:pt>
                <c:pt idx="530">
                  <c:v>31</c:v>
                </c:pt>
                <c:pt idx="531">
                  <c:v>37</c:v>
                </c:pt>
                <c:pt idx="532">
                  <c:v>22</c:v>
                </c:pt>
                <c:pt idx="533">
                  <c:v>18</c:v>
                </c:pt>
                <c:pt idx="534">
                  <c:v>35</c:v>
                </c:pt>
                <c:pt idx="535">
                  <c:v>37</c:v>
                </c:pt>
                <c:pt idx="536">
                  <c:v>36</c:v>
                </c:pt>
                <c:pt idx="537">
                  <c:v>18</c:v>
                </c:pt>
                <c:pt idx="538">
                  <c:v>27</c:v>
                </c:pt>
                <c:pt idx="539">
                  <c:v>18</c:v>
                </c:pt>
                <c:pt idx="540">
                  <c:v>40</c:v>
                </c:pt>
                <c:pt idx="541">
                  <c:v>29</c:v>
                </c:pt>
                <c:pt idx="542">
                  <c:v>38</c:v>
                </c:pt>
                <c:pt idx="543">
                  <c:v>30</c:v>
                </c:pt>
                <c:pt idx="544">
                  <c:v>40</c:v>
                </c:pt>
                <c:pt idx="545">
                  <c:v>20</c:v>
                </c:pt>
                <c:pt idx="546">
                  <c:v>41</c:v>
                </c:pt>
                <c:pt idx="547">
                  <c:v>33</c:v>
                </c:pt>
                <c:pt idx="548">
                  <c:v>38</c:v>
                </c:pt>
                <c:pt idx="549">
                  <c:v>20</c:v>
                </c:pt>
                <c:pt idx="550">
                  <c:v>26</c:v>
                </c:pt>
                <c:pt idx="551">
                  <c:v>37</c:v>
                </c:pt>
                <c:pt idx="552">
                  <c:v>25</c:v>
                </c:pt>
                <c:pt idx="553">
                  <c:v>22</c:v>
                </c:pt>
                <c:pt idx="554">
                  <c:v>28</c:v>
                </c:pt>
                <c:pt idx="555">
                  <c:v>18</c:v>
                </c:pt>
                <c:pt idx="556">
                  <c:v>28</c:v>
                </c:pt>
                <c:pt idx="557">
                  <c:v>33</c:v>
                </c:pt>
                <c:pt idx="558">
                  <c:v>18</c:v>
                </c:pt>
                <c:pt idx="559">
                  <c:v>24</c:v>
                </c:pt>
                <c:pt idx="560">
                  <c:v>19</c:v>
                </c:pt>
                <c:pt idx="561">
                  <c:v>20</c:v>
                </c:pt>
                <c:pt idx="562">
                  <c:v>34</c:v>
                </c:pt>
                <c:pt idx="563">
                  <c:v>32</c:v>
                </c:pt>
                <c:pt idx="564">
                  <c:v>28</c:v>
                </c:pt>
                <c:pt idx="565">
                  <c:v>41</c:v>
                </c:pt>
                <c:pt idx="566">
                  <c:v>20</c:v>
                </c:pt>
                <c:pt idx="567">
                  <c:v>26</c:v>
                </c:pt>
                <c:pt idx="568">
                  <c:v>25</c:v>
                </c:pt>
                <c:pt idx="569">
                  <c:v>35</c:v>
                </c:pt>
                <c:pt idx="570">
                  <c:v>26</c:v>
                </c:pt>
                <c:pt idx="571">
                  <c:v>22</c:v>
                </c:pt>
                <c:pt idx="572">
                  <c:v>32</c:v>
                </c:pt>
                <c:pt idx="573">
                  <c:v>25</c:v>
                </c:pt>
                <c:pt idx="574">
                  <c:v>18</c:v>
                </c:pt>
                <c:pt idx="575">
                  <c:v>18</c:v>
                </c:pt>
                <c:pt idx="576">
                  <c:v>28</c:v>
                </c:pt>
                <c:pt idx="577">
                  <c:v>36</c:v>
                </c:pt>
                <c:pt idx="578">
                  <c:v>38</c:v>
                </c:pt>
                <c:pt idx="579">
                  <c:v>21</c:v>
                </c:pt>
                <c:pt idx="580">
                  <c:v>20</c:v>
                </c:pt>
                <c:pt idx="581">
                  <c:v>18</c:v>
                </c:pt>
                <c:pt idx="582">
                  <c:v>28</c:v>
                </c:pt>
                <c:pt idx="583">
                  <c:v>33</c:v>
                </c:pt>
                <c:pt idx="584">
                  <c:v>19</c:v>
                </c:pt>
                <c:pt idx="585">
                  <c:v>25</c:v>
                </c:pt>
                <c:pt idx="586">
                  <c:v>24</c:v>
                </c:pt>
                <c:pt idx="587">
                  <c:v>29</c:v>
                </c:pt>
                <c:pt idx="588">
                  <c:v>32</c:v>
                </c:pt>
                <c:pt idx="589">
                  <c:v>42</c:v>
                </c:pt>
                <c:pt idx="590">
                  <c:v>33</c:v>
                </c:pt>
                <c:pt idx="591">
                  <c:v>34</c:v>
                </c:pt>
                <c:pt idx="592">
                  <c:v>30</c:v>
                </c:pt>
                <c:pt idx="593">
                  <c:v>18</c:v>
                </c:pt>
                <c:pt idx="594">
                  <c:v>19</c:v>
                </c:pt>
                <c:pt idx="595">
                  <c:v>18</c:v>
                </c:pt>
                <c:pt idx="596">
                  <c:v>39</c:v>
                </c:pt>
                <c:pt idx="597">
                  <c:v>31</c:v>
                </c:pt>
                <c:pt idx="598">
                  <c:v>31</c:v>
                </c:pt>
                <c:pt idx="599">
                  <c:v>23</c:v>
                </c:pt>
                <c:pt idx="600">
                  <c:v>23</c:v>
                </c:pt>
                <c:pt idx="601">
                  <c:v>18</c:v>
                </c:pt>
                <c:pt idx="602">
                  <c:v>18</c:v>
                </c:pt>
                <c:pt idx="603">
                  <c:v>21</c:v>
                </c:pt>
              </c:numCache>
            </c:numRef>
          </c:xVal>
          <c:yVal>
            <c:numRef>
              <c:f>'Chart Data'!$B$2:$B$605</c:f>
              <c:numCache>
                <c:formatCode>\$#,##0</c:formatCode>
                <c:ptCount val="604"/>
                <c:pt idx="0">
                  <c:v>16884.923999999999</c:v>
                </c:pt>
                <c:pt idx="1">
                  <c:v>1725.5523000000001</c:v>
                </c:pt>
                <c:pt idx="2">
                  <c:v>4449.4620000000004</c:v>
                </c:pt>
                <c:pt idx="3">
                  <c:v>21984.47061</c:v>
                </c:pt>
                <c:pt idx="4">
                  <c:v>3866.8552</c:v>
                </c:pt>
                <c:pt idx="5">
                  <c:v>3756.6215999999999</c:v>
                </c:pt>
                <c:pt idx="6">
                  <c:v>7281.5056000000004</c:v>
                </c:pt>
                <c:pt idx="7">
                  <c:v>6406.4107000000004</c:v>
                </c:pt>
                <c:pt idx="8">
                  <c:v>2721.3208</c:v>
                </c:pt>
                <c:pt idx="9">
                  <c:v>1826.8430000000001</c:v>
                </c:pt>
                <c:pt idx="10">
                  <c:v>1837.2370000000001</c:v>
                </c:pt>
                <c:pt idx="11">
                  <c:v>2395.17155</c:v>
                </c:pt>
                <c:pt idx="12">
                  <c:v>4149.7359999999999</c:v>
                </c:pt>
                <c:pt idx="13">
                  <c:v>1137.011</c:v>
                </c:pt>
                <c:pt idx="14">
                  <c:v>6203.90175</c:v>
                </c:pt>
                <c:pt idx="15">
                  <c:v>2775.1921499999999</c:v>
                </c:pt>
                <c:pt idx="16">
                  <c:v>2198.1898500000002</c:v>
                </c:pt>
                <c:pt idx="17">
                  <c:v>4687.7969999999996</c:v>
                </c:pt>
                <c:pt idx="18">
                  <c:v>1625.4337499999999</c:v>
                </c:pt>
                <c:pt idx="19">
                  <c:v>2302.3000000000002</c:v>
                </c:pt>
                <c:pt idx="20">
                  <c:v>3046.0619999999999</c:v>
                </c:pt>
                <c:pt idx="21">
                  <c:v>4949.7587000000003</c:v>
                </c:pt>
                <c:pt idx="22">
                  <c:v>6272.4772000000003</c:v>
                </c:pt>
                <c:pt idx="23">
                  <c:v>6313.759</c:v>
                </c:pt>
                <c:pt idx="24">
                  <c:v>3393.35635</c:v>
                </c:pt>
                <c:pt idx="25">
                  <c:v>3556.9223000000002</c:v>
                </c:pt>
                <c:pt idx="26">
                  <c:v>2211.1307499999998</c:v>
                </c:pt>
                <c:pt idx="27">
                  <c:v>3579.8287</c:v>
                </c:pt>
                <c:pt idx="28">
                  <c:v>8059.6791000000003</c:v>
                </c:pt>
                <c:pt idx="29">
                  <c:v>5989.5236500000001</c:v>
                </c:pt>
                <c:pt idx="30">
                  <c:v>4504.6624000000002</c:v>
                </c:pt>
                <c:pt idx="31">
                  <c:v>4133.6416499999996</c:v>
                </c:pt>
                <c:pt idx="32">
                  <c:v>14711.7438</c:v>
                </c:pt>
                <c:pt idx="33">
                  <c:v>1743.2139999999999</c:v>
                </c:pt>
                <c:pt idx="34">
                  <c:v>6389.3778499999999</c:v>
                </c:pt>
                <c:pt idx="35">
                  <c:v>17663.144199999999</c:v>
                </c:pt>
                <c:pt idx="36">
                  <c:v>16577.779500000001</c:v>
                </c:pt>
                <c:pt idx="37">
                  <c:v>6799.4579999999996</c:v>
                </c:pt>
                <c:pt idx="38">
                  <c:v>3947.4131000000002</c:v>
                </c:pt>
                <c:pt idx="39">
                  <c:v>1532.4697000000001</c:v>
                </c:pt>
                <c:pt idx="40">
                  <c:v>2755.0209500000001</c:v>
                </c:pt>
                <c:pt idx="41">
                  <c:v>4441.2131499999996</c:v>
                </c:pt>
                <c:pt idx="42">
                  <c:v>2026.9740999999999</c:v>
                </c:pt>
                <c:pt idx="43">
                  <c:v>5729.0052999999998</c:v>
                </c:pt>
                <c:pt idx="44">
                  <c:v>3766.8838000000001</c:v>
                </c:pt>
                <c:pt idx="45">
                  <c:v>15820.699000000001</c:v>
                </c:pt>
                <c:pt idx="46">
                  <c:v>3645.0893999999998</c:v>
                </c:pt>
                <c:pt idx="47">
                  <c:v>21344.846699999998</c:v>
                </c:pt>
                <c:pt idx="48">
                  <c:v>5003.8530000000001</c:v>
                </c:pt>
                <c:pt idx="49">
                  <c:v>17560.37975</c:v>
                </c:pt>
                <c:pt idx="50">
                  <c:v>2331.5189999999998</c:v>
                </c:pt>
                <c:pt idx="51">
                  <c:v>3877.3042500000001</c:v>
                </c:pt>
                <c:pt idx="52">
                  <c:v>2867.1196</c:v>
                </c:pt>
                <c:pt idx="53">
                  <c:v>4646.759</c:v>
                </c:pt>
                <c:pt idx="54">
                  <c:v>2404.7338</c:v>
                </c:pt>
                <c:pt idx="55">
                  <c:v>19107.779600000002</c:v>
                </c:pt>
                <c:pt idx="56">
                  <c:v>6686.4313000000002</c:v>
                </c:pt>
                <c:pt idx="57">
                  <c:v>1705.6244999999999</c:v>
                </c:pt>
                <c:pt idx="58">
                  <c:v>2257.47525</c:v>
                </c:pt>
                <c:pt idx="59">
                  <c:v>3385.3991500000002</c:v>
                </c:pt>
                <c:pt idx="60">
                  <c:v>17081.080000000002</c:v>
                </c:pt>
                <c:pt idx="61">
                  <c:v>32734.186300000001</c:v>
                </c:pt>
                <c:pt idx="62">
                  <c:v>6082.4049999999997</c:v>
                </c:pt>
                <c:pt idx="63">
                  <c:v>1632.5644500000001</c:v>
                </c:pt>
                <c:pt idx="64">
                  <c:v>2457.2111500000001</c:v>
                </c:pt>
                <c:pt idx="65">
                  <c:v>2155.6815000000001</c:v>
                </c:pt>
                <c:pt idx="66">
                  <c:v>1261.442</c:v>
                </c:pt>
                <c:pt idx="67">
                  <c:v>2045.68525</c:v>
                </c:pt>
                <c:pt idx="68">
                  <c:v>2166.732</c:v>
                </c:pt>
                <c:pt idx="69">
                  <c:v>27375.904780000001</c:v>
                </c:pt>
                <c:pt idx="70">
                  <c:v>3490.5491000000002</c:v>
                </c:pt>
                <c:pt idx="71">
                  <c:v>18972.494999999999</c:v>
                </c:pt>
                <c:pt idx="72">
                  <c:v>18157.876</c:v>
                </c:pt>
                <c:pt idx="73">
                  <c:v>20745.989099999999</c:v>
                </c:pt>
                <c:pt idx="74">
                  <c:v>5138.2566999999999</c:v>
                </c:pt>
                <c:pt idx="75">
                  <c:v>1842.519</c:v>
                </c:pt>
                <c:pt idx="76">
                  <c:v>5125.2156999999997</c:v>
                </c:pt>
                <c:pt idx="77">
                  <c:v>6334.3435499999996</c:v>
                </c:pt>
                <c:pt idx="78">
                  <c:v>7077.1894000000002</c:v>
                </c:pt>
                <c:pt idx="79">
                  <c:v>15518.180249999999</c:v>
                </c:pt>
                <c:pt idx="80">
                  <c:v>5152.134</c:v>
                </c:pt>
                <c:pt idx="81">
                  <c:v>5028.1466</c:v>
                </c:pt>
                <c:pt idx="82">
                  <c:v>4830.63</c:v>
                </c:pt>
                <c:pt idx="83">
                  <c:v>6128.79745</c:v>
                </c:pt>
                <c:pt idx="84">
                  <c:v>2719.2797500000001</c:v>
                </c:pt>
                <c:pt idx="85">
                  <c:v>4827.9049500000001</c:v>
                </c:pt>
                <c:pt idx="86">
                  <c:v>1694.7963999999999</c:v>
                </c:pt>
                <c:pt idx="87">
                  <c:v>5246.0469999999996</c:v>
                </c:pt>
                <c:pt idx="88">
                  <c:v>2855.4375500000001</c:v>
                </c:pt>
                <c:pt idx="89">
                  <c:v>6455.86265</c:v>
                </c:pt>
                <c:pt idx="90">
                  <c:v>1631.8212000000001</c:v>
                </c:pt>
                <c:pt idx="91">
                  <c:v>4005.4225000000001</c:v>
                </c:pt>
                <c:pt idx="92">
                  <c:v>3981.9767999999999</c:v>
                </c:pt>
                <c:pt idx="93">
                  <c:v>5325.6509999999998</c:v>
                </c:pt>
                <c:pt idx="94">
                  <c:v>4922.9159</c:v>
                </c:pt>
                <c:pt idx="95">
                  <c:v>4883.866</c:v>
                </c:pt>
                <c:pt idx="96">
                  <c:v>2137.6536000000001</c:v>
                </c:pt>
                <c:pt idx="97">
                  <c:v>1137.4697000000001</c:v>
                </c:pt>
                <c:pt idx="98">
                  <c:v>1639.5631000000001</c:v>
                </c:pt>
                <c:pt idx="99">
                  <c:v>5649.7150000000001</c:v>
                </c:pt>
                <c:pt idx="100">
                  <c:v>2130.6759000000002</c:v>
                </c:pt>
                <c:pt idx="101">
                  <c:v>4337.7352000000001</c:v>
                </c:pt>
                <c:pt idx="102">
                  <c:v>20984.0936</c:v>
                </c:pt>
                <c:pt idx="103">
                  <c:v>1980.07</c:v>
                </c:pt>
                <c:pt idx="104">
                  <c:v>3537.703</c:v>
                </c:pt>
                <c:pt idx="105">
                  <c:v>5002.7826999999997</c:v>
                </c:pt>
                <c:pt idx="106">
                  <c:v>2483.7359999999999</c:v>
                </c:pt>
                <c:pt idx="107">
                  <c:v>3392.9767999999999</c:v>
                </c:pt>
                <c:pt idx="108">
                  <c:v>25081.76784</c:v>
                </c:pt>
                <c:pt idx="109">
                  <c:v>5012.4709999999995</c:v>
                </c:pt>
                <c:pt idx="110">
                  <c:v>5253.5240000000003</c:v>
                </c:pt>
                <c:pt idx="111">
                  <c:v>2689.4953999999998</c:v>
                </c:pt>
                <c:pt idx="112">
                  <c:v>1727.7850000000001</c:v>
                </c:pt>
                <c:pt idx="113">
                  <c:v>6710.1918999999998</c:v>
                </c:pt>
                <c:pt idx="114">
                  <c:v>1615.7666999999999</c:v>
                </c:pt>
                <c:pt idx="115">
                  <c:v>4463.2051000000001</c:v>
                </c:pt>
                <c:pt idx="116">
                  <c:v>17352.6803</c:v>
                </c:pt>
                <c:pt idx="117">
                  <c:v>5354.0746499999996</c:v>
                </c:pt>
                <c:pt idx="118">
                  <c:v>1986.9333999999999</c:v>
                </c:pt>
                <c:pt idx="119">
                  <c:v>1832.0940000000001</c:v>
                </c:pt>
                <c:pt idx="120">
                  <c:v>4040.55825</c:v>
                </c:pt>
                <c:pt idx="121">
                  <c:v>12829.455099999999</c:v>
                </c:pt>
                <c:pt idx="122">
                  <c:v>4260.7439999999997</c:v>
                </c:pt>
                <c:pt idx="123">
                  <c:v>17085.267599999999</c:v>
                </c:pt>
                <c:pt idx="124">
                  <c:v>17179.522000000001</c:v>
                </c:pt>
                <c:pt idx="125">
                  <c:v>1719.4363000000001</c:v>
                </c:pt>
                <c:pt idx="126">
                  <c:v>2523.1695</c:v>
                </c:pt>
                <c:pt idx="127">
                  <c:v>2803.69785</c:v>
                </c:pt>
                <c:pt idx="128">
                  <c:v>2150.4690000000001</c:v>
                </c:pt>
                <c:pt idx="129">
                  <c:v>4237.12655</c:v>
                </c:pt>
                <c:pt idx="130">
                  <c:v>3172.018</c:v>
                </c:pt>
                <c:pt idx="131">
                  <c:v>20277.807509999999</c:v>
                </c:pt>
                <c:pt idx="132">
                  <c:v>2156.7518</c:v>
                </c:pt>
                <c:pt idx="133">
                  <c:v>3906.127</c:v>
                </c:pt>
                <c:pt idx="134">
                  <c:v>1704.5681</c:v>
                </c:pt>
                <c:pt idx="135">
                  <c:v>16297.846</c:v>
                </c:pt>
                <c:pt idx="136">
                  <c:v>6746.7425000000003</c:v>
                </c:pt>
                <c:pt idx="137">
                  <c:v>4349.4620000000004</c:v>
                </c:pt>
                <c:pt idx="138">
                  <c:v>19442.353500000001</c:v>
                </c:pt>
                <c:pt idx="139">
                  <c:v>20177.671129999999</c:v>
                </c:pt>
                <c:pt idx="140">
                  <c:v>4151.0286999999998</c:v>
                </c:pt>
                <c:pt idx="141">
                  <c:v>1737.376</c:v>
                </c:pt>
                <c:pt idx="142">
                  <c:v>4667.6076499999999</c:v>
                </c:pt>
                <c:pt idx="143">
                  <c:v>4894.7533000000003</c:v>
                </c:pt>
                <c:pt idx="144">
                  <c:v>24671.663339999999</c:v>
                </c:pt>
                <c:pt idx="145">
                  <c:v>2866.0909999999999</c:v>
                </c:pt>
                <c:pt idx="146">
                  <c:v>3561.8888999999999</c:v>
                </c:pt>
                <c:pt idx="147">
                  <c:v>18955.220170000001</c:v>
                </c:pt>
                <c:pt idx="148">
                  <c:v>6184.2993999999999</c:v>
                </c:pt>
                <c:pt idx="149">
                  <c:v>4889.9994999999999</c:v>
                </c:pt>
                <c:pt idx="150">
                  <c:v>5478.0367999999999</c:v>
                </c:pt>
                <c:pt idx="151">
                  <c:v>1635.7336499999999</c:v>
                </c:pt>
                <c:pt idx="152">
                  <c:v>3554.203</c:v>
                </c:pt>
                <c:pt idx="153">
                  <c:v>12404.8791</c:v>
                </c:pt>
                <c:pt idx="154">
                  <c:v>14133.03775</c:v>
                </c:pt>
                <c:pt idx="155">
                  <c:v>1837.2819</c:v>
                </c:pt>
                <c:pt idx="156">
                  <c:v>1607.5101</c:v>
                </c:pt>
                <c:pt idx="157">
                  <c:v>4751.07</c:v>
                </c:pt>
                <c:pt idx="158">
                  <c:v>13844.505999999999</c:v>
                </c:pt>
                <c:pt idx="159">
                  <c:v>2597.779</c:v>
                </c:pt>
                <c:pt idx="160">
                  <c:v>3180.5101</c:v>
                </c:pt>
                <c:pt idx="161">
                  <c:v>8017.0611500000005</c:v>
                </c:pt>
                <c:pt idx="162">
                  <c:v>3481.8679999999999</c:v>
                </c:pt>
                <c:pt idx="163">
                  <c:v>1391.5287000000001</c:v>
                </c:pt>
                <c:pt idx="164">
                  <c:v>18033.9679</c:v>
                </c:pt>
                <c:pt idx="165">
                  <c:v>15006.579449999999</c:v>
                </c:pt>
                <c:pt idx="166">
                  <c:v>1261.8589999999999</c:v>
                </c:pt>
                <c:pt idx="167">
                  <c:v>3176.8159000000001</c:v>
                </c:pt>
                <c:pt idx="168">
                  <c:v>4618.0798999999997</c:v>
                </c:pt>
                <c:pt idx="169">
                  <c:v>2138.0707000000002</c:v>
                </c:pt>
                <c:pt idx="170">
                  <c:v>16586.49771</c:v>
                </c:pt>
                <c:pt idx="171">
                  <c:v>1631.6683</c:v>
                </c:pt>
                <c:pt idx="172">
                  <c:v>3260.1990000000001</c:v>
                </c:pt>
                <c:pt idx="173">
                  <c:v>4185.0978999999998</c:v>
                </c:pt>
                <c:pt idx="174">
                  <c:v>6652.5288</c:v>
                </c:pt>
                <c:pt idx="175">
                  <c:v>4074.4537</c:v>
                </c:pt>
                <c:pt idx="176">
                  <c:v>1621.3402000000001</c:v>
                </c:pt>
                <c:pt idx="177">
                  <c:v>14455.644050000001</c:v>
                </c:pt>
                <c:pt idx="178">
                  <c:v>5080.0959999999995</c:v>
                </c:pt>
                <c:pt idx="179">
                  <c:v>2134.9014999999999</c:v>
                </c:pt>
                <c:pt idx="180">
                  <c:v>18608.261999999999</c:v>
                </c:pt>
                <c:pt idx="181">
                  <c:v>2727.3951000000002</c:v>
                </c:pt>
                <c:pt idx="182">
                  <c:v>6555.07035</c:v>
                </c:pt>
                <c:pt idx="183">
                  <c:v>7323.7348190000002</c:v>
                </c:pt>
                <c:pt idx="184">
                  <c:v>3167.4558499999998</c:v>
                </c:pt>
                <c:pt idx="185">
                  <c:v>18804.752400000001</c:v>
                </c:pt>
                <c:pt idx="186">
                  <c:v>23082.955330000001</c:v>
                </c:pt>
                <c:pt idx="187">
                  <c:v>4906.4096499999996</c:v>
                </c:pt>
                <c:pt idx="188">
                  <c:v>5969.723</c:v>
                </c:pt>
                <c:pt idx="189">
                  <c:v>4243.5900499999998</c:v>
                </c:pt>
                <c:pt idx="190">
                  <c:v>2254.7966999999999</c:v>
                </c:pt>
                <c:pt idx="191">
                  <c:v>5926.8459999999995</c:v>
                </c:pt>
                <c:pt idx="192">
                  <c:v>2897.3235</c:v>
                </c:pt>
                <c:pt idx="193">
                  <c:v>4738.2682000000004</c:v>
                </c:pt>
                <c:pt idx="194">
                  <c:v>1149.3959</c:v>
                </c:pt>
                <c:pt idx="195">
                  <c:v>5910.9440000000004</c:v>
                </c:pt>
                <c:pt idx="196">
                  <c:v>4762.3289999999997</c:v>
                </c:pt>
                <c:pt idx="197">
                  <c:v>7512.2669999999998</c:v>
                </c:pt>
                <c:pt idx="198">
                  <c:v>4032.2406999999998</c:v>
                </c:pt>
                <c:pt idx="199">
                  <c:v>1969.614</c:v>
                </c:pt>
                <c:pt idx="200">
                  <c:v>1769.5316499999999</c:v>
                </c:pt>
                <c:pt idx="201">
                  <c:v>4686.3887000000004</c:v>
                </c:pt>
                <c:pt idx="202">
                  <c:v>1632.0362500000001</c:v>
                </c:pt>
                <c:pt idx="203">
                  <c:v>19521.968199999999</c:v>
                </c:pt>
                <c:pt idx="204">
                  <c:v>23288.928400000001</c:v>
                </c:pt>
                <c:pt idx="205">
                  <c:v>2201.0971</c:v>
                </c:pt>
                <c:pt idx="206">
                  <c:v>2497.0383000000002</c:v>
                </c:pt>
                <c:pt idx="207">
                  <c:v>2203.4718499999999</c:v>
                </c:pt>
                <c:pt idx="208">
                  <c:v>1744.4649999999999</c:v>
                </c:pt>
                <c:pt idx="209">
                  <c:v>2534.3937500000002</c:v>
                </c:pt>
                <c:pt idx="210">
                  <c:v>1534.3045</c:v>
                </c:pt>
                <c:pt idx="211">
                  <c:v>1824.2854</c:v>
                </c:pt>
                <c:pt idx="212">
                  <c:v>1622.1885</c:v>
                </c:pt>
                <c:pt idx="213">
                  <c:v>4347.0233500000004</c:v>
                </c:pt>
                <c:pt idx="214">
                  <c:v>1253.9359999999999</c:v>
                </c:pt>
                <c:pt idx="215">
                  <c:v>1748.7739999999999</c:v>
                </c:pt>
                <c:pt idx="216">
                  <c:v>2196.4731999999999</c:v>
                </c:pt>
                <c:pt idx="217">
                  <c:v>17942.106</c:v>
                </c:pt>
                <c:pt idx="218">
                  <c:v>1967.0227</c:v>
                </c:pt>
                <c:pt idx="219">
                  <c:v>4931.6469999999999</c:v>
                </c:pt>
                <c:pt idx="220">
                  <c:v>5974.3846999999996</c:v>
                </c:pt>
                <c:pt idx="221">
                  <c:v>6796.8632500000003</c:v>
                </c:pt>
                <c:pt idx="222">
                  <c:v>2643.2685000000001</c:v>
                </c:pt>
                <c:pt idx="223">
                  <c:v>3077.0954999999999</c:v>
                </c:pt>
                <c:pt idx="224">
                  <c:v>3044.2132999999999</c:v>
                </c:pt>
                <c:pt idx="225">
                  <c:v>2498.4144000000001</c:v>
                </c:pt>
                <c:pt idx="226">
                  <c:v>1256.299</c:v>
                </c:pt>
                <c:pt idx="227">
                  <c:v>5240.7650000000003</c:v>
                </c:pt>
                <c:pt idx="228">
                  <c:v>3857.7592500000001</c:v>
                </c:pt>
                <c:pt idx="229">
                  <c:v>3994.1777999999999</c:v>
                </c:pt>
                <c:pt idx="230">
                  <c:v>11482.63485</c:v>
                </c:pt>
                <c:pt idx="231">
                  <c:v>24059.680189999999</c:v>
                </c:pt>
                <c:pt idx="232">
                  <c:v>1708.0014000000001</c:v>
                </c:pt>
                <c:pt idx="233">
                  <c:v>6067.1267500000004</c:v>
                </c:pt>
                <c:pt idx="234">
                  <c:v>5972.3779999999997</c:v>
                </c:pt>
                <c:pt idx="235">
                  <c:v>6196.4480000000003</c:v>
                </c:pt>
                <c:pt idx="236">
                  <c:v>3056.3881000000001</c:v>
                </c:pt>
                <c:pt idx="237">
                  <c:v>3268.84665</c:v>
                </c:pt>
                <c:pt idx="238">
                  <c:v>3213.6220499999999</c:v>
                </c:pt>
                <c:pt idx="239">
                  <c:v>3972.9247</c:v>
                </c:pt>
                <c:pt idx="240">
                  <c:v>17878.900679999999</c:v>
                </c:pt>
                <c:pt idx="241">
                  <c:v>3847.674</c:v>
                </c:pt>
                <c:pt idx="242">
                  <c:v>3935.1799000000001</c:v>
                </c:pt>
                <c:pt idx="243">
                  <c:v>1646.4296999999999</c:v>
                </c:pt>
                <c:pt idx="244">
                  <c:v>2494.0219999999999</c:v>
                </c:pt>
                <c:pt idx="245">
                  <c:v>2801.2588000000001</c:v>
                </c:pt>
                <c:pt idx="246">
                  <c:v>2128.4310500000001</c:v>
                </c:pt>
                <c:pt idx="247">
                  <c:v>3761.2919999999999</c:v>
                </c:pt>
                <c:pt idx="248">
                  <c:v>2219.4450999999999</c:v>
                </c:pt>
                <c:pt idx="249">
                  <c:v>4753.6368000000002</c:v>
                </c:pt>
                <c:pt idx="250">
                  <c:v>1664.9996000000001</c:v>
                </c:pt>
                <c:pt idx="251">
                  <c:v>3206.4913499999998</c:v>
                </c:pt>
                <c:pt idx="252">
                  <c:v>17626.239509999999</c:v>
                </c:pt>
                <c:pt idx="253">
                  <c:v>1242.816</c:v>
                </c:pt>
                <c:pt idx="254">
                  <c:v>4779.6022999999996</c:v>
                </c:pt>
                <c:pt idx="255">
                  <c:v>3861.2096499999998</c:v>
                </c:pt>
                <c:pt idx="256">
                  <c:v>5976.8311000000003</c:v>
                </c:pt>
                <c:pt idx="257">
                  <c:v>2566.4706999999999</c:v>
                </c:pt>
                <c:pt idx="258">
                  <c:v>15359.104499999999</c:v>
                </c:pt>
                <c:pt idx="259">
                  <c:v>5594.8455000000004</c:v>
                </c:pt>
                <c:pt idx="260">
                  <c:v>1633.0444</c:v>
                </c:pt>
                <c:pt idx="261">
                  <c:v>17468.983899999999</c:v>
                </c:pt>
                <c:pt idx="262">
                  <c:v>3558.6202499999999</c:v>
                </c:pt>
                <c:pt idx="263">
                  <c:v>4435.0941999999995</c:v>
                </c:pt>
                <c:pt idx="264">
                  <c:v>6571.5439999999999</c:v>
                </c:pt>
                <c:pt idx="265">
                  <c:v>2207.6974500000001</c:v>
                </c:pt>
                <c:pt idx="266">
                  <c:v>6753.0379999999996</c:v>
                </c:pt>
                <c:pt idx="267">
                  <c:v>1880.07</c:v>
                </c:pt>
                <c:pt idx="268">
                  <c:v>3659.346</c:v>
                </c:pt>
                <c:pt idx="269">
                  <c:v>3736.4647</c:v>
                </c:pt>
                <c:pt idx="270">
                  <c:v>6748.5911999999998</c:v>
                </c:pt>
                <c:pt idx="271">
                  <c:v>11326.71487</c:v>
                </c:pt>
                <c:pt idx="272">
                  <c:v>1977.8150000000001</c:v>
                </c:pt>
                <c:pt idx="273">
                  <c:v>3366.6696999999999</c:v>
                </c:pt>
                <c:pt idx="274">
                  <c:v>7173.35995</c:v>
                </c:pt>
                <c:pt idx="275">
                  <c:v>2709.1118999999999</c:v>
                </c:pt>
                <c:pt idx="276">
                  <c:v>6666.2430000000004</c:v>
                </c:pt>
                <c:pt idx="277">
                  <c:v>4466.6214</c:v>
                </c:pt>
                <c:pt idx="278">
                  <c:v>6123.5688</c:v>
                </c:pt>
                <c:pt idx="279">
                  <c:v>8252.2842999999993</c:v>
                </c:pt>
                <c:pt idx="280">
                  <c:v>1712.2270000000001</c:v>
                </c:pt>
                <c:pt idx="281">
                  <c:v>3410.3240000000001</c:v>
                </c:pt>
                <c:pt idx="282">
                  <c:v>4058.71245</c:v>
                </c:pt>
                <c:pt idx="283">
                  <c:v>5148.5526</c:v>
                </c:pt>
                <c:pt idx="284">
                  <c:v>1136.3994</c:v>
                </c:pt>
                <c:pt idx="285">
                  <c:v>6500.2358999999997</c:v>
                </c:pt>
                <c:pt idx="286">
                  <c:v>4837.5823</c:v>
                </c:pt>
                <c:pt idx="287">
                  <c:v>3943.5954000000002</c:v>
                </c:pt>
                <c:pt idx="288">
                  <c:v>4399.7309999999998</c:v>
                </c:pt>
                <c:pt idx="289">
                  <c:v>2585.2689999999998</c:v>
                </c:pt>
                <c:pt idx="290">
                  <c:v>1242.26</c:v>
                </c:pt>
                <c:pt idx="291">
                  <c:v>4766.0219999999999</c:v>
                </c:pt>
                <c:pt idx="292">
                  <c:v>2104.1134000000002</c:v>
                </c:pt>
                <c:pt idx="293">
                  <c:v>2362.2290499999999</c:v>
                </c:pt>
                <c:pt idx="294">
                  <c:v>2352.9684499999998</c:v>
                </c:pt>
                <c:pt idx="295">
                  <c:v>3577.9989999999998</c:v>
                </c:pt>
                <c:pt idx="296">
                  <c:v>3201.2451500000002</c:v>
                </c:pt>
                <c:pt idx="297">
                  <c:v>3500.6122999999998</c:v>
                </c:pt>
                <c:pt idx="298">
                  <c:v>2020.5523000000001</c:v>
                </c:pt>
                <c:pt idx="299">
                  <c:v>5385.3379000000004</c:v>
                </c:pt>
                <c:pt idx="300">
                  <c:v>5375.0379999999996</c:v>
                </c:pt>
                <c:pt idx="301">
                  <c:v>6113.2310500000003</c:v>
                </c:pt>
                <c:pt idx="302">
                  <c:v>5469.0065999999997</c:v>
                </c:pt>
                <c:pt idx="303">
                  <c:v>1727.54</c:v>
                </c:pt>
                <c:pt idx="304">
                  <c:v>1984.4532999999999</c:v>
                </c:pt>
                <c:pt idx="305">
                  <c:v>2457.502</c:v>
                </c:pt>
                <c:pt idx="306">
                  <c:v>1263.249</c:v>
                </c:pt>
                <c:pt idx="307">
                  <c:v>6664.68595</c:v>
                </c:pt>
                <c:pt idx="308">
                  <c:v>16657.71745</c:v>
                </c:pt>
                <c:pt idx="309">
                  <c:v>2217.6012000000001</c:v>
                </c:pt>
                <c:pt idx="310">
                  <c:v>19361.998800000001</c:v>
                </c:pt>
                <c:pt idx="311">
                  <c:v>4234.9269999999997</c:v>
                </c:pt>
                <c:pt idx="312">
                  <c:v>3484.3310000000001</c:v>
                </c:pt>
                <c:pt idx="313">
                  <c:v>18246.495500000001</c:v>
                </c:pt>
                <c:pt idx="314">
                  <c:v>3757.8447999999999</c:v>
                </c:pt>
                <c:pt idx="315">
                  <c:v>11737.848840000001</c:v>
                </c:pt>
                <c:pt idx="316">
                  <c:v>1627.2824499999999</c:v>
                </c:pt>
                <c:pt idx="317">
                  <c:v>3062.5082499999999</c:v>
                </c:pt>
                <c:pt idx="318">
                  <c:v>19539.242999999999</c:v>
                </c:pt>
                <c:pt idx="319">
                  <c:v>1906.35825</c:v>
                </c:pt>
                <c:pt idx="320">
                  <c:v>17128.426080000001</c:v>
                </c:pt>
                <c:pt idx="321">
                  <c:v>5031.26955</c:v>
                </c:pt>
                <c:pt idx="322">
                  <c:v>7985.8149999999996</c:v>
                </c:pt>
                <c:pt idx="323">
                  <c:v>5428.7277000000004</c:v>
                </c:pt>
                <c:pt idx="324">
                  <c:v>3925.7582000000002</c:v>
                </c:pt>
                <c:pt idx="325">
                  <c:v>2416.9549999999999</c:v>
                </c:pt>
                <c:pt idx="326">
                  <c:v>19040.876</c:v>
                </c:pt>
                <c:pt idx="327">
                  <c:v>3070.8087</c:v>
                </c:pt>
                <c:pt idx="328">
                  <c:v>6933.2422500000002</c:v>
                </c:pt>
                <c:pt idx="329">
                  <c:v>17748.5062</c:v>
                </c:pt>
                <c:pt idx="330">
                  <c:v>5934.3797999999997</c:v>
                </c:pt>
                <c:pt idx="331">
                  <c:v>18259.216</c:v>
                </c:pt>
                <c:pt idx="332">
                  <c:v>1146.7965999999999</c:v>
                </c:pt>
                <c:pt idx="333">
                  <c:v>4350.5144</c:v>
                </c:pt>
                <c:pt idx="334">
                  <c:v>6414.1779999999999</c:v>
                </c:pt>
                <c:pt idx="335">
                  <c:v>1917.3184000000001</c:v>
                </c:pt>
                <c:pt idx="336">
                  <c:v>5209.5788499999999</c:v>
                </c:pt>
                <c:pt idx="337">
                  <c:v>1252.4069999999999</c:v>
                </c:pt>
                <c:pt idx="338">
                  <c:v>2731.9122000000002</c:v>
                </c:pt>
                <c:pt idx="339">
                  <c:v>7209.4917999999998</c:v>
                </c:pt>
                <c:pt idx="340">
                  <c:v>18310.741999999998</c:v>
                </c:pt>
                <c:pt idx="341">
                  <c:v>4266.1657999999998</c:v>
                </c:pt>
                <c:pt idx="342">
                  <c:v>4719.52405</c:v>
                </c:pt>
                <c:pt idx="343">
                  <c:v>17904.527050000001</c:v>
                </c:pt>
                <c:pt idx="344">
                  <c:v>7046.7222000000002</c:v>
                </c:pt>
                <c:pt idx="345">
                  <c:v>2103.08</c:v>
                </c:pt>
                <c:pt idx="346">
                  <c:v>1815.8759</c:v>
                </c:pt>
                <c:pt idx="347">
                  <c:v>2136.8822500000001</c:v>
                </c:pt>
                <c:pt idx="348">
                  <c:v>1131.5065999999999</c:v>
                </c:pt>
                <c:pt idx="349">
                  <c:v>3309.7926000000002</c:v>
                </c:pt>
                <c:pt idx="350">
                  <c:v>6360.9935999999998</c:v>
                </c:pt>
                <c:pt idx="351">
                  <c:v>4428.8878500000001</c:v>
                </c:pt>
                <c:pt idx="352">
                  <c:v>5584.3056999999999</c:v>
                </c:pt>
                <c:pt idx="353">
                  <c:v>1877.9294</c:v>
                </c:pt>
                <c:pt idx="354">
                  <c:v>2842.7607499999999</c:v>
                </c:pt>
                <c:pt idx="355">
                  <c:v>3597.596</c:v>
                </c:pt>
                <c:pt idx="356">
                  <c:v>2680.9493000000002</c:v>
                </c:pt>
                <c:pt idx="357">
                  <c:v>1621.8827000000001</c:v>
                </c:pt>
                <c:pt idx="358">
                  <c:v>20773.62775</c:v>
                </c:pt>
                <c:pt idx="359">
                  <c:v>6117.4944999999998</c:v>
                </c:pt>
                <c:pt idx="360">
                  <c:v>5266.3656000000001</c:v>
                </c:pt>
                <c:pt idx="361">
                  <c:v>4719.7365499999996</c:v>
                </c:pt>
                <c:pt idx="362">
                  <c:v>5377.4578000000001</c:v>
                </c:pt>
                <c:pt idx="363">
                  <c:v>4402.2330000000002</c:v>
                </c:pt>
                <c:pt idx="364">
                  <c:v>6402.2913500000004</c:v>
                </c:pt>
                <c:pt idx="365">
                  <c:v>1526.3119999999999</c:v>
                </c:pt>
                <c:pt idx="366">
                  <c:v>2438.0551999999998</c:v>
                </c:pt>
                <c:pt idx="367">
                  <c:v>2974.1260000000002</c:v>
                </c:pt>
                <c:pt idx="368">
                  <c:v>1875.3440000000001</c:v>
                </c:pt>
                <c:pt idx="369">
                  <c:v>15817.985699999999</c:v>
                </c:pt>
                <c:pt idx="370">
                  <c:v>18218.161390000001</c:v>
                </c:pt>
                <c:pt idx="371">
                  <c:v>7151.0919999999996</c:v>
                </c:pt>
                <c:pt idx="372">
                  <c:v>5458.0464499999998</c:v>
                </c:pt>
                <c:pt idx="373">
                  <c:v>6600.3609999999999</c:v>
                </c:pt>
                <c:pt idx="374">
                  <c:v>1141.4450999999999</c:v>
                </c:pt>
                <c:pt idx="375">
                  <c:v>4391.652</c:v>
                </c:pt>
                <c:pt idx="376">
                  <c:v>3392.3652000000002</c:v>
                </c:pt>
                <c:pt idx="377">
                  <c:v>5966.8873999999996</c:v>
                </c:pt>
                <c:pt idx="378">
                  <c:v>2690.1138000000001</c:v>
                </c:pt>
                <c:pt idx="379">
                  <c:v>6653.7885999999999</c:v>
                </c:pt>
                <c:pt idx="380">
                  <c:v>6282.2349999999997</c:v>
                </c:pt>
                <c:pt idx="381">
                  <c:v>6311.9520000000002</c:v>
                </c:pt>
                <c:pt idx="382">
                  <c:v>3443.0639999999999</c:v>
                </c:pt>
                <c:pt idx="383">
                  <c:v>2789.0574000000001</c:v>
                </c:pt>
                <c:pt idx="384">
                  <c:v>2585.8506499999999</c:v>
                </c:pt>
                <c:pt idx="385">
                  <c:v>4877.9810500000003</c:v>
                </c:pt>
                <c:pt idx="386">
                  <c:v>19719.6947</c:v>
                </c:pt>
                <c:pt idx="387">
                  <c:v>5272.1758</c:v>
                </c:pt>
                <c:pt idx="388">
                  <c:v>1682.597</c:v>
                </c:pt>
                <c:pt idx="389">
                  <c:v>7243.8136000000004</c:v>
                </c:pt>
                <c:pt idx="390">
                  <c:v>2221.5644499999999</c:v>
                </c:pt>
                <c:pt idx="391">
                  <c:v>1634.5734</c:v>
                </c:pt>
                <c:pt idx="392">
                  <c:v>2117.3388500000001</c:v>
                </c:pt>
                <c:pt idx="393">
                  <c:v>4661.2863500000003</c:v>
                </c:pt>
                <c:pt idx="394">
                  <c:v>4564.1914500000003</c:v>
                </c:pt>
                <c:pt idx="395">
                  <c:v>4846.9201499999999</c:v>
                </c:pt>
                <c:pt idx="396">
                  <c:v>17496.306</c:v>
                </c:pt>
                <c:pt idx="397">
                  <c:v>2639.0428999999999</c:v>
                </c:pt>
                <c:pt idx="398">
                  <c:v>5257.5079500000002</c:v>
                </c:pt>
                <c:pt idx="399">
                  <c:v>2473.3341</c:v>
                </c:pt>
                <c:pt idx="400">
                  <c:v>5245.2268999999997</c:v>
                </c:pt>
                <c:pt idx="401">
                  <c:v>5488.2619999999997</c:v>
                </c:pt>
                <c:pt idx="402">
                  <c:v>4320.4108500000002</c:v>
                </c:pt>
                <c:pt idx="403">
                  <c:v>6250.4350000000004</c:v>
                </c:pt>
                <c:pt idx="404">
                  <c:v>2913.569</c:v>
                </c:pt>
                <c:pt idx="405">
                  <c:v>2927.0646999999999</c:v>
                </c:pt>
                <c:pt idx="406">
                  <c:v>6238.2979999999998</c:v>
                </c:pt>
                <c:pt idx="407">
                  <c:v>4673.3922000000002</c:v>
                </c:pt>
                <c:pt idx="408">
                  <c:v>8965.7957499999993</c:v>
                </c:pt>
                <c:pt idx="409">
                  <c:v>2304.0021999999999</c:v>
                </c:pt>
                <c:pt idx="410">
                  <c:v>1121.8739</c:v>
                </c:pt>
                <c:pt idx="411">
                  <c:v>2217.4691499999999</c:v>
                </c:pt>
                <c:pt idx="412">
                  <c:v>1628.4709</c:v>
                </c:pt>
                <c:pt idx="413">
                  <c:v>19933.457999999999</c:v>
                </c:pt>
                <c:pt idx="414">
                  <c:v>4527.1829500000003</c:v>
                </c:pt>
                <c:pt idx="415">
                  <c:v>20009.63365</c:v>
                </c:pt>
                <c:pt idx="416">
                  <c:v>3875.7341000000001</c:v>
                </c:pt>
                <c:pt idx="417">
                  <c:v>12609.88702</c:v>
                </c:pt>
                <c:pt idx="418">
                  <c:v>2730.1078499999999</c:v>
                </c:pt>
                <c:pt idx="419">
                  <c:v>3353.2840000000001</c:v>
                </c:pt>
                <c:pt idx="420">
                  <c:v>4746.3440000000001</c:v>
                </c:pt>
                <c:pt idx="421">
                  <c:v>3279.8685500000001</c:v>
                </c:pt>
                <c:pt idx="422">
                  <c:v>4992.3764000000001</c:v>
                </c:pt>
                <c:pt idx="423">
                  <c:v>2527.8186500000002</c:v>
                </c:pt>
                <c:pt idx="424">
                  <c:v>1759.338</c:v>
                </c:pt>
                <c:pt idx="425">
                  <c:v>2322.6217999999999</c:v>
                </c:pt>
                <c:pt idx="426">
                  <c:v>16138.762049999999</c:v>
                </c:pt>
                <c:pt idx="427">
                  <c:v>2902.9065000000001</c:v>
                </c:pt>
                <c:pt idx="428">
                  <c:v>4889.0367999999999</c:v>
                </c:pt>
                <c:pt idx="429">
                  <c:v>4500.33925</c:v>
                </c:pt>
                <c:pt idx="430">
                  <c:v>19199.944</c:v>
                </c:pt>
                <c:pt idx="431">
                  <c:v>16796.411940000002</c:v>
                </c:pt>
                <c:pt idx="432">
                  <c:v>4915.0598499999996</c:v>
                </c:pt>
                <c:pt idx="433">
                  <c:v>4518.8262500000001</c:v>
                </c:pt>
                <c:pt idx="434">
                  <c:v>14571.890799999999</c:v>
                </c:pt>
                <c:pt idx="435">
                  <c:v>3378.91</c:v>
                </c:pt>
                <c:pt idx="436">
                  <c:v>7144.86265</c:v>
                </c:pt>
                <c:pt idx="437">
                  <c:v>5484.4673000000003</c:v>
                </c:pt>
                <c:pt idx="438">
                  <c:v>16420.494549999999</c:v>
                </c:pt>
                <c:pt idx="439">
                  <c:v>7986.4752500000004</c:v>
                </c:pt>
                <c:pt idx="440">
                  <c:v>6551.7501000000002</c:v>
                </c:pt>
                <c:pt idx="441">
                  <c:v>5267.8181500000001</c:v>
                </c:pt>
                <c:pt idx="442">
                  <c:v>17361.766100000001</c:v>
                </c:pt>
                <c:pt idx="443">
                  <c:v>1972.95</c:v>
                </c:pt>
                <c:pt idx="444">
                  <c:v>4433.3877000000002</c:v>
                </c:pt>
                <c:pt idx="445">
                  <c:v>4438.2633999999998</c:v>
                </c:pt>
                <c:pt idx="446">
                  <c:v>23241.47453</c:v>
                </c:pt>
                <c:pt idx="447">
                  <c:v>5383.5360000000001</c:v>
                </c:pt>
                <c:pt idx="448">
                  <c:v>2709.24395</c:v>
                </c:pt>
                <c:pt idx="449">
                  <c:v>3987.9259999999999</c:v>
                </c:pt>
                <c:pt idx="450">
                  <c:v>26018.950519999999</c:v>
                </c:pt>
                <c:pt idx="451">
                  <c:v>1711.0268000000001</c:v>
                </c:pt>
                <c:pt idx="452">
                  <c:v>2020.1769999999999</c:v>
                </c:pt>
                <c:pt idx="453">
                  <c:v>16450.894700000001</c:v>
                </c:pt>
                <c:pt idx="454">
                  <c:v>21595.382290000001</c:v>
                </c:pt>
                <c:pt idx="455">
                  <c:v>6877.9800999999998</c:v>
                </c:pt>
                <c:pt idx="456">
                  <c:v>4137.5227000000004</c:v>
                </c:pt>
                <c:pt idx="457">
                  <c:v>13747.87235</c:v>
                </c:pt>
                <c:pt idx="458">
                  <c:v>2250.8352</c:v>
                </c:pt>
                <c:pt idx="459">
                  <c:v>22493.659640000002</c:v>
                </c:pt>
                <c:pt idx="460">
                  <c:v>20234.854749999999</c:v>
                </c:pt>
                <c:pt idx="461">
                  <c:v>1704.7001499999999</c:v>
                </c:pt>
                <c:pt idx="462">
                  <c:v>3161.4540000000002</c:v>
                </c:pt>
                <c:pt idx="463">
                  <c:v>3594.17085</c:v>
                </c:pt>
                <c:pt idx="464">
                  <c:v>3353.4703</c:v>
                </c:pt>
                <c:pt idx="465">
                  <c:v>2480.9791</c:v>
                </c:pt>
                <c:pt idx="466">
                  <c:v>4462.7218000000003</c:v>
                </c:pt>
                <c:pt idx="467">
                  <c:v>1981.5818999999999</c:v>
                </c:pt>
                <c:pt idx="468">
                  <c:v>6548.1950500000003</c:v>
                </c:pt>
                <c:pt idx="469">
                  <c:v>5708.8670000000002</c:v>
                </c:pt>
                <c:pt idx="470">
                  <c:v>7045.4989999999998</c:v>
                </c:pt>
                <c:pt idx="471">
                  <c:v>1909.52745</c:v>
                </c:pt>
                <c:pt idx="472">
                  <c:v>4562.8420999999998</c:v>
                </c:pt>
                <c:pt idx="473">
                  <c:v>2102.2647000000002</c:v>
                </c:pt>
                <c:pt idx="474">
                  <c:v>11884.048580000001</c:v>
                </c:pt>
                <c:pt idx="475">
                  <c:v>4454.40265</c:v>
                </c:pt>
                <c:pt idx="476">
                  <c:v>5855.9025000000001</c:v>
                </c:pt>
                <c:pt idx="477">
                  <c:v>4076.4969999999998</c:v>
                </c:pt>
                <c:pt idx="478">
                  <c:v>19023.259999999998</c:v>
                </c:pt>
                <c:pt idx="479">
                  <c:v>3591.48</c:v>
                </c:pt>
                <c:pt idx="480">
                  <c:v>4561.1885000000002</c:v>
                </c:pt>
                <c:pt idx="481">
                  <c:v>1674.6323</c:v>
                </c:pt>
                <c:pt idx="482">
                  <c:v>3227.1210999999998</c:v>
                </c:pt>
                <c:pt idx="483">
                  <c:v>16776.304049999999</c:v>
                </c:pt>
                <c:pt idx="484">
                  <c:v>3471.4096</c:v>
                </c:pt>
                <c:pt idx="485">
                  <c:v>2904.0880000000002</c:v>
                </c:pt>
                <c:pt idx="486">
                  <c:v>5312.1698500000002</c:v>
                </c:pt>
                <c:pt idx="487">
                  <c:v>2396.0958999999998</c:v>
                </c:pt>
                <c:pt idx="488">
                  <c:v>5693.4305000000004</c:v>
                </c:pt>
                <c:pt idx="489">
                  <c:v>18903.491409999999</c:v>
                </c:pt>
                <c:pt idx="490">
                  <c:v>5836.5204000000003</c:v>
                </c:pt>
                <c:pt idx="491">
                  <c:v>14358.364369999999</c:v>
                </c:pt>
                <c:pt idx="492">
                  <c:v>1728.8969999999999</c:v>
                </c:pt>
                <c:pt idx="493">
                  <c:v>8582.3022999999994</c:v>
                </c:pt>
                <c:pt idx="494">
                  <c:v>3693.4279999999999</c:v>
                </c:pt>
                <c:pt idx="495">
                  <c:v>19673.335729999999</c:v>
                </c:pt>
                <c:pt idx="496">
                  <c:v>3176.2876999999999</c:v>
                </c:pt>
                <c:pt idx="497">
                  <c:v>3704.3544999999999</c:v>
                </c:pt>
                <c:pt idx="498">
                  <c:v>6338.0756000000001</c:v>
                </c:pt>
                <c:pt idx="499">
                  <c:v>2261.5688</c:v>
                </c:pt>
                <c:pt idx="500">
                  <c:v>2203.7359499999998</c:v>
                </c:pt>
                <c:pt idx="501">
                  <c:v>5630.4578499999998</c:v>
                </c:pt>
                <c:pt idx="502">
                  <c:v>7228.2156500000001</c:v>
                </c:pt>
                <c:pt idx="503">
                  <c:v>14426.073850000001</c:v>
                </c:pt>
                <c:pt idx="504">
                  <c:v>2459.7201</c:v>
                </c:pt>
                <c:pt idx="505">
                  <c:v>3989.8409999999999</c:v>
                </c:pt>
                <c:pt idx="506">
                  <c:v>5124.1886999999997</c:v>
                </c:pt>
                <c:pt idx="507">
                  <c:v>18963.171920000001</c:v>
                </c:pt>
                <c:pt idx="508">
                  <c:v>2200.8308499999998</c:v>
                </c:pt>
                <c:pt idx="509">
                  <c:v>7153.5538999999999</c:v>
                </c:pt>
                <c:pt idx="510">
                  <c:v>5227.9887500000004</c:v>
                </c:pt>
                <c:pt idx="511">
                  <c:v>4529.4769999999999</c:v>
                </c:pt>
                <c:pt idx="512">
                  <c:v>4670.6400000000003</c:v>
                </c:pt>
                <c:pt idx="513">
                  <c:v>6112.3529500000004</c:v>
                </c:pt>
                <c:pt idx="514">
                  <c:v>17178.682400000002</c:v>
                </c:pt>
                <c:pt idx="515">
                  <c:v>6457.8433999999997</c:v>
                </c:pt>
                <c:pt idx="516">
                  <c:v>4433.9159</c:v>
                </c:pt>
                <c:pt idx="517">
                  <c:v>2154.3609999999999</c:v>
                </c:pt>
                <c:pt idx="518">
                  <c:v>6496.8860000000004</c:v>
                </c:pt>
                <c:pt idx="519">
                  <c:v>2899.4893499999998</c:v>
                </c:pt>
                <c:pt idx="520">
                  <c:v>19350.368900000001</c:v>
                </c:pt>
                <c:pt idx="521">
                  <c:v>2850.6837500000001</c:v>
                </c:pt>
                <c:pt idx="522">
                  <c:v>2632.9920000000002</c:v>
                </c:pt>
                <c:pt idx="523">
                  <c:v>18328.238099999999</c:v>
                </c:pt>
                <c:pt idx="524">
                  <c:v>13126.677449999999</c:v>
                </c:pt>
                <c:pt idx="525">
                  <c:v>5327.4002499999997</c:v>
                </c:pt>
                <c:pt idx="526">
                  <c:v>13725.47184</c:v>
                </c:pt>
                <c:pt idx="527">
                  <c:v>4134.0824499999999</c:v>
                </c:pt>
                <c:pt idx="528">
                  <c:v>18838.703659999999</c:v>
                </c:pt>
                <c:pt idx="529">
                  <c:v>6393.6034499999996</c:v>
                </c:pt>
                <c:pt idx="530">
                  <c:v>4934.7049999999999</c:v>
                </c:pt>
                <c:pt idx="531">
                  <c:v>6198.7518</c:v>
                </c:pt>
                <c:pt idx="532">
                  <c:v>2055.3249000000001</c:v>
                </c:pt>
                <c:pt idx="533">
                  <c:v>18223.4512</c:v>
                </c:pt>
                <c:pt idx="534">
                  <c:v>5116.5003999999999</c:v>
                </c:pt>
                <c:pt idx="535">
                  <c:v>20296.863450000001</c:v>
                </c:pt>
                <c:pt idx="536">
                  <c:v>5373.3642499999996</c:v>
                </c:pt>
                <c:pt idx="537">
                  <c:v>1702.4553000000001</c:v>
                </c:pt>
                <c:pt idx="538">
                  <c:v>3956.0714499999999</c:v>
                </c:pt>
                <c:pt idx="539">
                  <c:v>12890.057650000001</c:v>
                </c:pt>
                <c:pt idx="540">
                  <c:v>5415.6611999999996</c:v>
                </c:pt>
                <c:pt idx="541">
                  <c:v>4058.1161000000002</c:v>
                </c:pt>
                <c:pt idx="542">
                  <c:v>7537.1638999999996</c:v>
                </c:pt>
                <c:pt idx="543">
                  <c:v>4718.2035500000002</c:v>
                </c:pt>
                <c:pt idx="544">
                  <c:v>6593.5083000000004</c:v>
                </c:pt>
                <c:pt idx="545">
                  <c:v>26125.674770000001</c:v>
                </c:pt>
                <c:pt idx="546">
                  <c:v>6858.4795999999997</c:v>
                </c:pt>
                <c:pt idx="547">
                  <c:v>4795.6567999999997</c:v>
                </c:pt>
                <c:pt idx="548">
                  <c:v>6640.5448500000002</c:v>
                </c:pt>
                <c:pt idx="549">
                  <c:v>20167.336029999999</c:v>
                </c:pt>
                <c:pt idx="550">
                  <c:v>2699.56835</c:v>
                </c:pt>
                <c:pt idx="551">
                  <c:v>6985.50695</c:v>
                </c:pt>
                <c:pt idx="552">
                  <c:v>3238.4357</c:v>
                </c:pt>
                <c:pt idx="553">
                  <c:v>4296.2712000000001</c:v>
                </c:pt>
                <c:pt idx="554">
                  <c:v>3171.6149</c:v>
                </c:pt>
                <c:pt idx="555">
                  <c:v>1135.9407000000001</c:v>
                </c:pt>
                <c:pt idx="556">
                  <c:v>5615.3689999999997</c:v>
                </c:pt>
                <c:pt idx="557">
                  <c:v>6059.1729999999998</c:v>
                </c:pt>
                <c:pt idx="558">
                  <c:v>1633.9618</c:v>
                </c:pt>
                <c:pt idx="559">
                  <c:v>18648.421699999999</c:v>
                </c:pt>
                <c:pt idx="560">
                  <c:v>1241.5650000000001</c:v>
                </c:pt>
                <c:pt idx="561">
                  <c:v>16232.847</c:v>
                </c:pt>
                <c:pt idx="562">
                  <c:v>4415.1588000000002</c:v>
                </c:pt>
                <c:pt idx="563">
                  <c:v>4544.2348000000002</c:v>
                </c:pt>
                <c:pt idx="564">
                  <c:v>3277.1610000000001</c:v>
                </c:pt>
                <c:pt idx="565">
                  <c:v>6770.1925000000001</c:v>
                </c:pt>
                <c:pt idx="566">
                  <c:v>1880.4870000000001</c:v>
                </c:pt>
                <c:pt idx="567">
                  <c:v>3292.5298499999999</c:v>
                </c:pt>
                <c:pt idx="568">
                  <c:v>3021.80915</c:v>
                </c:pt>
                <c:pt idx="569">
                  <c:v>4747.0528999999997</c:v>
                </c:pt>
                <c:pt idx="570">
                  <c:v>17043.341400000001</c:v>
                </c:pt>
                <c:pt idx="571">
                  <c:v>2741.9479999999999</c:v>
                </c:pt>
                <c:pt idx="572">
                  <c:v>4357.0436499999996</c:v>
                </c:pt>
                <c:pt idx="573">
                  <c:v>4189.1130999999996</c:v>
                </c:pt>
                <c:pt idx="574">
                  <c:v>14283.4594</c:v>
                </c:pt>
                <c:pt idx="575">
                  <c:v>1720.3536999999999</c:v>
                </c:pt>
                <c:pt idx="576">
                  <c:v>3732.6251000000002</c:v>
                </c:pt>
                <c:pt idx="577">
                  <c:v>5472.4489999999996</c:v>
                </c:pt>
                <c:pt idx="578">
                  <c:v>7133.9025000000001</c:v>
                </c:pt>
                <c:pt idx="579">
                  <c:v>1515.3449000000001</c:v>
                </c:pt>
                <c:pt idx="580">
                  <c:v>1964.78</c:v>
                </c:pt>
                <c:pt idx="581">
                  <c:v>1708.9257500000001</c:v>
                </c:pt>
                <c:pt idx="582">
                  <c:v>4340.4408999999996</c:v>
                </c:pt>
                <c:pt idx="583">
                  <c:v>5261.4694499999996</c:v>
                </c:pt>
                <c:pt idx="584">
                  <c:v>2710.8285500000002</c:v>
                </c:pt>
                <c:pt idx="585">
                  <c:v>3208.7869999999998</c:v>
                </c:pt>
                <c:pt idx="586">
                  <c:v>2464.6188000000002</c:v>
                </c:pt>
                <c:pt idx="587">
                  <c:v>16115.3045</c:v>
                </c:pt>
                <c:pt idx="588">
                  <c:v>21472.478800000001</c:v>
                </c:pt>
                <c:pt idx="589">
                  <c:v>6940.90985</c:v>
                </c:pt>
                <c:pt idx="590">
                  <c:v>4571.4130500000001</c:v>
                </c:pt>
                <c:pt idx="591">
                  <c:v>4536.259</c:v>
                </c:pt>
                <c:pt idx="592">
                  <c:v>18765.87545</c:v>
                </c:pt>
                <c:pt idx="593">
                  <c:v>11272.331389999999</c:v>
                </c:pt>
                <c:pt idx="594">
                  <c:v>1731.6769999999999</c:v>
                </c:pt>
                <c:pt idx="595">
                  <c:v>1163.4627</c:v>
                </c:pt>
                <c:pt idx="596">
                  <c:v>7201.7008500000002</c:v>
                </c:pt>
                <c:pt idx="597">
                  <c:v>5425.0233500000004</c:v>
                </c:pt>
                <c:pt idx="598">
                  <c:v>4239.8926499999998</c:v>
                </c:pt>
                <c:pt idx="599">
                  <c:v>22395.74424</c:v>
                </c:pt>
                <c:pt idx="600">
                  <c:v>10795.937330000001</c:v>
                </c:pt>
                <c:pt idx="601">
                  <c:v>2205.9807999999998</c:v>
                </c:pt>
                <c:pt idx="602">
                  <c:v>1629.8335</c:v>
                </c:pt>
                <c:pt idx="603">
                  <c:v>2007.9449999999999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9A9-4A0B-B407-43DEC477923B}"/>
            </c:ext>
          </c:extLst>
        </c:ser>
        <c:ser>
          <c:idx val="1"/>
          <c:order val="1"/>
          <c:tx>
            <c:v>Group 2</c:v>
          </c:tx>
          <c:spPr>
            <a:ln w="0">
              <a:noFill/>
            </a:ln>
          </c:spPr>
          <c:marker>
            <c:symbol val="triangle"/>
            <c:size val="4"/>
            <c:spPr>
              <a:solidFill>
                <a:srgbClr val="C86A22"/>
              </a:solidFill>
            </c:spPr>
          </c:marker>
          <c:xVal>
            <c:numRef>
              <c:f>'Chart Data'!$C$2:$C$572</c:f>
              <c:numCache>
                <c:formatCode>General</c:formatCode>
                <c:ptCount val="571"/>
                <c:pt idx="0">
                  <c:v>46</c:v>
                </c:pt>
                <c:pt idx="1">
                  <c:v>60</c:v>
                </c:pt>
                <c:pt idx="2">
                  <c:v>62</c:v>
                </c:pt>
                <c:pt idx="3">
                  <c:v>56</c:v>
                </c:pt>
                <c:pt idx="4">
                  <c:v>52</c:v>
                </c:pt>
                <c:pt idx="5">
                  <c:v>56</c:v>
                </c:pt>
                <c:pt idx="6">
                  <c:v>60</c:v>
                </c:pt>
                <c:pt idx="7">
                  <c:v>59</c:v>
                </c:pt>
                <c:pt idx="8">
                  <c:v>63</c:v>
                </c:pt>
                <c:pt idx="9">
                  <c:v>55</c:v>
                </c:pt>
                <c:pt idx="10">
                  <c:v>63</c:v>
                </c:pt>
                <c:pt idx="11">
                  <c:v>62</c:v>
                </c:pt>
                <c:pt idx="12">
                  <c:v>38</c:v>
                </c:pt>
                <c:pt idx="13">
                  <c:v>55</c:v>
                </c:pt>
                <c:pt idx="14">
                  <c:v>60</c:v>
                </c:pt>
                <c:pt idx="15">
                  <c:v>48</c:v>
                </c:pt>
                <c:pt idx="16">
                  <c:v>58</c:v>
                </c:pt>
                <c:pt idx="17">
                  <c:v>53</c:v>
                </c:pt>
                <c:pt idx="18">
                  <c:v>43</c:v>
                </c:pt>
                <c:pt idx="19">
                  <c:v>64</c:v>
                </c:pt>
                <c:pt idx="20">
                  <c:v>61</c:v>
                </c:pt>
                <c:pt idx="21">
                  <c:v>40</c:v>
                </c:pt>
                <c:pt idx="22">
                  <c:v>53</c:v>
                </c:pt>
                <c:pt idx="23">
                  <c:v>58</c:v>
                </c:pt>
                <c:pt idx="24">
                  <c:v>44</c:v>
                </c:pt>
                <c:pt idx="25">
                  <c:v>57</c:v>
                </c:pt>
                <c:pt idx="26">
                  <c:v>41</c:v>
                </c:pt>
                <c:pt idx="27">
                  <c:v>45</c:v>
                </c:pt>
                <c:pt idx="28">
                  <c:v>48</c:v>
                </c:pt>
                <c:pt idx="29">
                  <c:v>45</c:v>
                </c:pt>
                <c:pt idx="30">
                  <c:v>56</c:v>
                </c:pt>
                <c:pt idx="31">
                  <c:v>46</c:v>
                </c:pt>
                <c:pt idx="32">
                  <c:v>55</c:v>
                </c:pt>
                <c:pt idx="33">
                  <c:v>53</c:v>
                </c:pt>
                <c:pt idx="34">
                  <c:v>59</c:v>
                </c:pt>
                <c:pt idx="35">
                  <c:v>54</c:v>
                </c:pt>
                <c:pt idx="36">
                  <c:v>55</c:v>
                </c:pt>
                <c:pt idx="37">
                  <c:v>56</c:v>
                </c:pt>
                <c:pt idx="38">
                  <c:v>41</c:v>
                </c:pt>
                <c:pt idx="39">
                  <c:v>61</c:v>
                </c:pt>
                <c:pt idx="40">
                  <c:v>54</c:v>
                </c:pt>
                <c:pt idx="41">
                  <c:v>55</c:v>
                </c:pt>
                <c:pt idx="42">
                  <c:v>52</c:v>
                </c:pt>
                <c:pt idx="43">
                  <c:v>60</c:v>
                </c:pt>
                <c:pt idx="44">
                  <c:v>58</c:v>
                </c:pt>
                <c:pt idx="45">
                  <c:v>49</c:v>
                </c:pt>
                <c:pt idx="46">
                  <c:v>44</c:v>
                </c:pt>
                <c:pt idx="47">
                  <c:v>47</c:v>
                </c:pt>
                <c:pt idx="48">
                  <c:v>52</c:v>
                </c:pt>
                <c:pt idx="49">
                  <c:v>59</c:v>
                </c:pt>
                <c:pt idx="50">
                  <c:v>61</c:v>
                </c:pt>
                <c:pt idx="51">
                  <c:v>53</c:v>
                </c:pt>
                <c:pt idx="52">
                  <c:v>54</c:v>
                </c:pt>
                <c:pt idx="53">
                  <c:v>51</c:v>
                </c:pt>
                <c:pt idx="54">
                  <c:v>53</c:v>
                </c:pt>
                <c:pt idx="55">
                  <c:v>48</c:v>
                </c:pt>
                <c:pt idx="56">
                  <c:v>42</c:v>
                </c:pt>
                <c:pt idx="57">
                  <c:v>44</c:v>
                </c:pt>
                <c:pt idx="58">
                  <c:v>48</c:v>
                </c:pt>
                <c:pt idx="59">
                  <c:v>50</c:v>
                </c:pt>
                <c:pt idx="60">
                  <c:v>42</c:v>
                </c:pt>
                <c:pt idx="61">
                  <c:v>54</c:v>
                </c:pt>
                <c:pt idx="62">
                  <c:v>47</c:v>
                </c:pt>
                <c:pt idx="63">
                  <c:v>63</c:v>
                </c:pt>
                <c:pt idx="64">
                  <c:v>49</c:v>
                </c:pt>
                <c:pt idx="65">
                  <c:v>54</c:v>
                </c:pt>
                <c:pt idx="66">
                  <c:v>46</c:v>
                </c:pt>
                <c:pt idx="67">
                  <c:v>41</c:v>
                </c:pt>
                <c:pt idx="68">
                  <c:v>58</c:v>
                </c:pt>
                <c:pt idx="69">
                  <c:v>44</c:v>
                </c:pt>
                <c:pt idx="70">
                  <c:v>44</c:v>
                </c:pt>
                <c:pt idx="71">
                  <c:v>41</c:v>
                </c:pt>
                <c:pt idx="72">
                  <c:v>61</c:v>
                </c:pt>
                <c:pt idx="73">
                  <c:v>56</c:v>
                </c:pt>
                <c:pt idx="74">
                  <c:v>45</c:v>
                </c:pt>
                <c:pt idx="75">
                  <c:v>51</c:v>
                </c:pt>
                <c:pt idx="76">
                  <c:v>64</c:v>
                </c:pt>
                <c:pt idx="77">
                  <c:v>48</c:v>
                </c:pt>
                <c:pt idx="78">
                  <c:v>60</c:v>
                </c:pt>
                <c:pt idx="79">
                  <c:v>46</c:v>
                </c:pt>
                <c:pt idx="80">
                  <c:v>59</c:v>
                </c:pt>
                <c:pt idx="81">
                  <c:v>63</c:v>
                </c:pt>
                <c:pt idx="82">
                  <c:v>40</c:v>
                </c:pt>
                <c:pt idx="83">
                  <c:v>40</c:v>
                </c:pt>
                <c:pt idx="84">
                  <c:v>45</c:v>
                </c:pt>
                <c:pt idx="85">
                  <c:v>41</c:v>
                </c:pt>
                <c:pt idx="86">
                  <c:v>53</c:v>
                </c:pt>
                <c:pt idx="87">
                  <c:v>53</c:v>
                </c:pt>
                <c:pt idx="88">
                  <c:v>42</c:v>
                </c:pt>
                <c:pt idx="89">
                  <c:v>55</c:v>
                </c:pt>
                <c:pt idx="90">
                  <c:v>58</c:v>
                </c:pt>
                <c:pt idx="91">
                  <c:v>41</c:v>
                </c:pt>
                <c:pt idx="92">
                  <c:v>47</c:v>
                </c:pt>
                <c:pt idx="93">
                  <c:v>42</c:v>
                </c:pt>
                <c:pt idx="94">
                  <c:v>59</c:v>
                </c:pt>
                <c:pt idx="95">
                  <c:v>59</c:v>
                </c:pt>
                <c:pt idx="96">
                  <c:v>40</c:v>
                </c:pt>
                <c:pt idx="97">
                  <c:v>44</c:v>
                </c:pt>
                <c:pt idx="98">
                  <c:v>40</c:v>
                </c:pt>
                <c:pt idx="99">
                  <c:v>63</c:v>
                </c:pt>
                <c:pt idx="100">
                  <c:v>54</c:v>
                </c:pt>
                <c:pt idx="101">
                  <c:v>60</c:v>
                </c:pt>
                <c:pt idx="102">
                  <c:v>55</c:v>
                </c:pt>
                <c:pt idx="103">
                  <c:v>38</c:v>
                </c:pt>
                <c:pt idx="104">
                  <c:v>51</c:v>
                </c:pt>
                <c:pt idx="105">
                  <c:v>58</c:v>
                </c:pt>
                <c:pt idx="106">
                  <c:v>52</c:v>
                </c:pt>
                <c:pt idx="107">
                  <c:v>53</c:v>
                </c:pt>
                <c:pt idx="108">
                  <c:v>59</c:v>
                </c:pt>
                <c:pt idx="109">
                  <c:v>45</c:v>
                </c:pt>
                <c:pt idx="110">
                  <c:v>49</c:v>
                </c:pt>
                <c:pt idx="111">
                  <c:v>41</c:v>
                </c:pt>
                <c:pt idx="112">
                  <c:v>50</c:v>
                </c:pt>
                <c:pt idx="113">
                  <c:v>47</c:v>
                </c:pt>
                <c:pt idx="114">
                  <c:v>59</c:v>
                </c:pt>
                <c:pt idx="115">
                  <c:v>51</c:v>
                </c:pt>
                <c:pt idx="116">
                  <c:v>40</c:v>
                </c:pt>
                <c:pt idx="117">
                  <c:v>55</c:v>
                </c:pt>
                <c:pt idx="118">
                  <c:v>52</c:v>
                </c:pt>
                <c:pt idx="119">
                  <c:v>46</c:v>
                </c:pt>
                <c:pt idx="120">
                  <c:v>46</c:v>
                </c:pt>
                <c:pt idx="121">
                  <c:v>63</c:v>
                </c:pt>
                <c:pt idx="122">
                  <c:v>52</c:v>
                </c:pt>
                <c:pt idx="123">
                  <c:v>47</c:v>
                </c:pt>
                <c:pt idx="124">
                  <c:v>48</c:v>
                </c:pt>
                <c:pt idx="125">
                  <c:v>53</c:v>
                </c:pt>
                <c:pt idx="126">
                  <c:v>56</c:v>
                </c:pt>
                <c:pt idx="127">
                  <c:v>57</c:v>
                </c:pt>
                <c:pt idx="128">
                  <c:v>58</c:v>
                </c:pt>
                <c:pt idx="129">
                  <c:v>41</c:v>
                </c:pt>
                <c:pt idx="130">
                  <c:v>50</c:v>
                </c:pt>
                <c:pt idx="131">
                  <c:v>49</c:v>
                </c:pt>
                <c:pt idx="132">
                  <c:v>52</c:v>
                </c:pt>
                <c:pt idx="133">
                  <c:v>50</c:v>
                </c:pt>
                <c:pt idx="134">
                  <c:v>54</c:v>
                </c:pt>
                <c:pt idx="135">
                  <c:v>44</c:v>
                </c:pt>
                <c:pt idx="136">
                  <c:v>57</c:v>
                </c:pt>
                <c:pt idx="137">
                  <c:v>40</c:v>
                </c:pt>
                <c:pt idx="138">
                  <c:v>52</c:v>
                </c:pt>
                <c:pt idx="139">
                  <c:v>52</c:v>
                </c:pt>
                <c:pt idx="140">
                  <c:v>61</c:v>
                </c:pt>
                <c:pt idx="141">
                  <c:v>56</c:v>
                </c:pt>
                <c:pt idx="142">
                  <c:v>43</c:v>
                </c:pt>
                <c:pt idx="143">
                  <c:v>64</c:v>
                </c:pt>
                <c:pt idx="144">
                  <c:v>60</c:v>
                </c:pt>
                <c:pt idx="145">
                  <c:v>62</c:v>
                </c:pt>
                <c:pt idx="146">
                  <c:v>46</c:v>
                </c:pt>
                <c:pt idx="147">
                  <c:v>62</c:v>
                </c:pt>
                <c:pt idx="148">
                  <c:v>60</c:v>
                </c:pt>
                <c:pt idx="149">
                  <c:v>63</c:v>
                </c:pt>
                <c:pt idx="150">
                  <c:v>49</c:v>
                </c:pt>
                <c:pt idx="151">
                  <c:v>46</c:v>
                </c:pt>
                <c:pt idx="152">
                  <c:v>57</c:v>
                </c:pt>
                <c:pt idx="153">
                  <c:v>50</c:v>
                </c:pt>
                <c:pt idx="154">
                  <c:v>46</c:v>
                </c:pt>
                <c:pt idx="155">
                  <c:v>46</c:v>
                </c:pt>
                <c:pt idx="156">
                  <c:v>47</c:v>
                </c:pt>
                <c:pt idx="157">
                  <c:v>48</c:v>
                </c:pt>
                <c:pt idx="158">
                  <c:v>49</c:v>
                </c:pt>
                <c:pt idx="159">
                  <c:v>56</c:v>
                </c:pt>
                <c:pt idx="160">
                  <c:v>44</c:v>
                </c:pt>
                <c:pt idx="161">
                  <c:v>61</c:v>
                </c:pt>
                <c:pt idx="162">
                  <c:v>57</c:v>
                </c:pt>
                <c:pt idx="163">
                  <c:v>42</c:v>
                </c:pt>
                <c:pt idx="164">
                  <c:v>39</c:v>
                </c:pt>
                <c:pt idx="165">
                  <c:v>64</c:v>
                </c:pt>
                <c:pt idx="166">
                  <c:v>62</c:v>
                </c:pt>
                <c:pt idx="167">
                  <c:v>55</c:v>
                </c:pt>
                <c:pt idx="168">
                  <c:v>35</c:v>
                </c:pt>
                <c:pt idx="169">
                  <c:v>44</c:v>
                </c:pt>
                <c:pt idx="170">
                  <c:v>58</c:v>
                </c:pt>
                <c:pt idx="171">
                  <c:v>50</c:v>
                </c:pt>
                <c:pt idx="172">
                  <c:v>48</c:v>
                </c:pt>
                <c:pt idx="173">
                  <c:v>48</c:v>
                </c:pt>
                <c:pt idx="174">
                  <c:v>49</c:v>
                </c:pt>
                <c:pt idx="175">
                  <c:v>46</c:v>
                </c:pt>
                <c:pt idx="176">
                  <c:v>46</c:v>
                </c:pt>
                <c:pt idx="177">
                  <c:v>43</c:v>
                </c:pt>
                <c:pt idx="178">
                  <c:v>64</c:v>
                </c:pt>
                <c:pt idx="179">
                  <c:v>51</c:v>
                </c:pt>
                <c:pt idx="180">
                  <c:v>47</c:v>
                </c:pt>
                <c:pt idx="181">
                  <c:v>64</c:v>
                </c:pt>
                <c:pt idx="182">
                  <c:v>49</c:v>
                </c:pt>
                <c:pt idx="183">
                  <c:v>52</c:v>
                </c:pt>
                <c:pt idx="184">
                  <c:v>47</c:v>
                </c:pt>
                <c:pt idx="185">
                  <c:v>44</c:v>
                </c:pt>
                <c:pt idx="186">
                  <c:v>43</c:v>
                </c:pt>
                <c:pt idx="187">
                  <c:v>52</c:v>
                </c:pt>
                <c:pt idx="188">
                  <c:v>64</c:v>
                </c:pt>
                <c:pt idx="189">
                  <c:v>63</c:v>
                </c:pt>
                <c:pt idx="190">
                  <c:v>48</c:v>
                </c:pt>
                <c:pt idx="191">
                  <c:v>45</c:v>
                </c:pt>
                <c:pt idx="192">
                  <c:v>60</c:v>
                </c:pt>
                <c:pt idx="193">
                  <c:v>60</c:v>
                </c:pt>
                <c:pt idx="194">
                  <c:v>52</c:v>
                </c:pt>
                <c:pt idx="195">
                  <c:v>59</c:v>
                </c:pt>
                <c:pt idx="196">
                  <c:v>56</c:v>
                </c:pt>
                <c:pt idx="197">
                  <c:v>45</c:v>
                </c:pt>
                <c:pt idx="198">
                  <c:v>60</c:v>
                </c:pt>
                <c:pt idx="199">
                  <c:v>56</c:v>
                </c:pt>
                <c:pt idx="200">
                  <c:v>59</c:v>
                </c:pt>
                <c:pt idx="201">
                  <c:v>55</c:v>
                </c:pt>
                <c:pt idx="202">
                  <c:v>57</c:v>
                </c:pt>
                <c:pt idx="203">
                  <c:v>56</c:v>
                </c:pt>
                <c:pt idx="204">
                  <c:v>40</c:v>
                </c:pt>
                <c:pt idx="205">
                  <c:v>49</c:v>
                </c:pt>
                <c:pt idx="206">
                  <c:v>42</c:v>
                </c:pt>
                <c:pt idx="207">
                  <c:v>62</c:v>
                </c:pt>
                <c:pt idx="208">
                  <c:v>56</c:v>
                </c:pt>
                <c:pt idx="209">
                  <c:v>60</c:v>
                </c:pt>
                <c:pt idx="210">
                  <c:v>56</c:v>
                </c:pt>
                <c:pt idx="211">
                  <c:v>47</c:v>
                </c:pt>
                <c:pt idx="212">
                  <c:v>54</c:v>
                </c:pt>
                <c:pt idx="213">
                  <c:v>61</c:v>
                </c:pt>
                <c:pt idx="214">
                  <c:v>63</c:v>
                </c:pt>
                <c:pt idx="215">
                  <c:v>49</c:v>
                </c:pt>
                <c:pt idx="216">
                  <c:v>51</c:v>
                </c:pt>
                <c:pt idx="217">
                  <c:v>48</c:v>
                </c:pt>
                <c:pt idx="218">
                  <c:v>54</c:v>
                </c:pt>
                <c:pt idx="219">
                  <c:v>53</c:v>
                </c:pt>
                <c:pt idx="220">
                  <c:v>61</c:v>
                </c:pt>
                <c:pt idx="221">
                  <c:v>61</c:v>
                </c:pt>
                <c:pt idx="222">
                  <c:v>45</c:v>
                </c:pt>
                <c:pt idx="223">
                  <c:v>44</c:v>
                </c:pt>
                <c:pt idx="224">
                  <c:v>62</c:v>
                </c:pt>
                <c:pt idx="225">
                  <c:v>43</c:v>
                </c:pt>
                <c:pt idx="226">
                  <c:v>51</c:v>
                </c:pt>
                <c:pt idx="227">
                  <c:v>57</c:v>
                </c:pt>
                <c:pt idx="228">
                  <c:v>56</c:v>
                </c:pt>
                <c:pt idx="229">
                  <c:v>51</c:v>
                </c:pt>
                <c:pt idx="230">
                  <c:v>39</c:v>
                </c:pt>
                <c:pt idx="231">
                  <c:v>58</c:v>
                </c:pt>
                <c:pt idx="232">
                  <c:v>45</c:v>
                </c:pt>
                <c:pt idx="233">
                  <c:v>50</c:v>
                </c:pt>
                <c:pt idx="234">
                  <c:v>51</c:v>
                </c:pt>
                <c:pt idx="235">
                  <c:v>38</c:v>
                </c:pt>
                <c:pt idx="236">
                  <c:v>51</c:v>
                </c:pt>
                <c:pt idx="237">
                  <c:v>46</c:v>
                </c:pt>
                <c:pt idx="238">
                  <c:v>62</c:v>
                </c:pt>
                <c:pt idx="239">
                  <c:v>59</c:v>
                </c:pt>
                <c:pt idx="240">
                  <c:v>37</c:v>
                </c:pt>
                <c:pt idx="241">
                  <c:v>64</c:v>
                </c:pt>
                <c:pt idx="242">
                  <c:v>46</c:v>
                </c:pt>
                <c:pt idx="243">
                  <c:v>46</c:v>
                </c:pt>
                <c:pt idx="244">
                  <c:v>53</c:v>
                </c:pt>
                <c:pt idx="245">
                  <c:v>63</c:v>
                </c:pt>
                <c:pt idx="246">
                  <c:v>54</c:v>
                </c:pt>
                <c:pt idx="247">
                  <c:v>49</c:v>
                </c:pt>
                <c:pt idx="248">
                  <c:v>54</c:v>
                </c:pt>
                <c:pt idx="249">
                  <c:v>63</c:v>
                </c:pt>
                <c:pt idx="250">
                  <c:v>62</c:v>
                </c:pt>
                <c:pt idx="251">
                  <c:v>52</c:v>
                </c:pt>
                <c:pt idx="252">
                  <c:v>46</c:v>
                </c:pt>
                <c:pt idx="253">
                  <c:v>46</c:v>
                </c:pt>
                <c:pt idx="254">
                  <c:v>54</c:v>
                </c:pt>
                <c:pt idx="255">
                  <c:v>50</c:v>
                </c:pt>
                <c:pt idx="256">
                  <c:v>38</c:v>
                </c:pt>
                <c:pt idx="257">
                  <c:v>41</c:v>
                </c:pt>
                <c:pt idx="258">
                  <c:v>49</c:v>
                </c:pt>
                <c:pt idx="259">
                  <c:v>57</c:v>
                </c:pt>
                <c:pt idx="260">
                  <c:v>58</c:v>
                </c:pt>
                <c:pt idx="261">
                  <c:v>52</c:v>
                </c:pt>
                <c:pt idx="262">
                  <c:v>59</c:v>
                </c:pt>
                <c:pt idx="263">
                  <c:v>39</c:v>
                </c:pt>
                <c:pt idx="264">
                  <c:v>61</c:v>
                </c:pt>
                <c:pt idx="265">
                  <c:v>58</c:v>
                </c:pt>
                <c:pt idx="266">
                  <c:v>47</c:v>
                </c:pt>
                <c:pt idx="267">
                  <c:v>41</c:v>
                </c:pt>
                <c:pt idx="268">
                  <c:v>46</c:v>
                </c:pt>
                <c:pt idx="269">
                  <c:v>42</c:v>
                </c:pt>
                <c:pt idx="270">
                  <c:v>43</c:v>
                </c:pt>
                <c:pt idx="271">
                  <c:v>51</c:v>
                </c:pt>
                <c:pt idx="272">
                  <c:v>56</c:v>
                </c:pt>
                <c:pt idx="273">
                  <c:v>64</c:v>
                </c:pt>
                <c:pt idx="274">
                  <c:v>51</c:v>
                </c:pt>
                <c:pt idx="275">
                  <c:v>59</c:v>
                </c:pt>
                <c:pt idx="276">
                  <c:v>47</c:v>
                </c:pt>
                <c:pt idx="277">
                  <c:v>56</c:v>
                </c:pt>
                <c:pt idx="278">
                  <c:v>49</c:v>
                </c:pt>
                <c:pt idx="279">
                  <c:v>55</c:v>
                </c:pt>
                <c:pt idx="280">
                  <c:v>49</c:v>
                </c:pt>
                <c:pt idx="281">
                  <c:v>59</c:v>
                </c:pt>
                <c:pt idx="282">
                  <c:v>58</c:v>
                </c:pt>
                <c:pt idx="283">
                  <c:v>53</c:v>
                </c:pt>
                <c:pt idx="284">
                  <c:v>51</c:v>
                </c:pt>
                <c:pt idx="285">
                  <c:v>64</c:v>
                </c:pt>
                <c:pt idx="286">
                  <c:v>39</c:v>
                </c:pt>
                <c:pt idx="287">
                  <c:v>56</c:v>
                </c:pt>
                <c:pt idx="288">
                  <c:v>61</c:v>
                </c:pt>
                <c:pt idx="289">
                  <c:v>43</c:v>
                </c:pt>
                <c:pt idx="290">
                  <c:v>48</c:v>
                </c:pt>
                <c:pt idx="291">
                  <c:v>58</c:v>
                </c:pt>
                <c:pt idx="292">
                  <c:v>49</c:v>
                </c:pt>
                <c:pt idx="293">
                  <c:v>53</c:v>
                </c:pt>
                <c:pt idx="294">
                  <c:v>48</c:v>
                </c:pt>
                <c:pt idx="295">
                  <c:v>45</c:v>
                </c:pt>
                <c:pt idx="296">
                  <c:v>59</c:v>
                </c:pt>
                <c:pt idx="297">
                  <c:v>52</c:v>
                </c:pt>
                <c:pt idx="298">
                  <c:v>57</c:v>
                </c:pt>
                <c:pt idx="299">
                  <c:v>37</c:v>
                </c:pt>
                <c:pt idx="300">
                  <c:v>57</c:v>
                </c:pt>
                <c:pt idx="301">
                  <c:v>64</c:v>
                </c:pt>
                <c:pt idx="302">
                  <c:v>49</c:v>
                </c:pt>
                <c:pt idx="303">
                  <c:v>41</c:v>
                </c:pt>
                <c:pt idx="304">
                  <c:v>45</c:v>
                </c:pt>
                <c:pt idx="305">
                  <c:v>55</c:v>
                </c:pt>
                <c:pt idx="306">
                  <c:v>56</c:v>
                </c:pt>
                <c:pt idx="307">
                  <c:v>49</c:v>
                </c:pt>
                <c:pt idx="308">
                  <c:v>53</c:v>
                </c:pt>
                <c:pt idx="309">
                  <c:v>53</c:v>
                </c:pt>
                <c:pt idx="310">
                  <c:v>42</c:v>
                </c:pt>
                <c:pt idx="311">
                  <c:v>40</c:v>
                </c:pt>
                <c:pt idx="312">
                  <c:v>47</c:v>
                </c:pt>
                <c:pt idx="313">
                  <c:v>47</c:v>
                </c:pt>
                <c:pt idx="314">
                  <c:v>53</c:v>
                </c:pt>
                <c:pt idx="315">
                  <c:v>56</c:v>
                </c:pt>
                <c:pt idx="316">
                  <c:v>50</c:v>
                </c:pt>
                <c:pt idx="317">
                  <c:v>53</c:v>
                </c:pt>
                <c:pt idx="318">
                  <c:v>47</c:v>
                </c:pt>
                <c:pt idx="319">
                  <c:v>49</c:v>
                </c:pt>
                <c:pt idx="320">
                  <c:v>50</c:v>
                </c:pt>
                <c:pt idx="321">
                  <c:v>43</c:v>
                </c:pt>
                <c:pt idx="322">
                  <c:v>60</c:v>
                </c:pt>
                <c:pt idx="323">
                  <c:v>49</c:v>
                </c:pt>
                <c:pt idx="324">
                  <c:v>60</c:v>
                </c:pt>
                <c:pt idx="325">
                  <c:v>51</c:v>
                </c:pt>
                <c:pt idx="326">
                  <c:v>58</c:v>
                </c:pt>
                <c:pt idx="327">
                  <c:v>51</c:v>
                </c:pt>
                <c:pt idx="328">
                  <c:v>53</c:v>
                </c:pt>
                <c:pt idx="329">
                  <c:v>62</c:v>
                </c:pt>
                <c:pt idx="330">
                  <c:v>50</c:v>
                </c:pt>
                <c:pt idx="331">
                  <c:v>41</c:v>
                </c:pt>
                <c:pt idx="332">
                  <c:v>53</c:v>
                </c:pt>
                <c:pt idx="333">
                  <c:v>48</c:v>
                </c:pt>
                <c:pt idx="334">
                  <c:v>59</c:v>
                </c:pt>
                <c:pt idx="335">
                  <c:v>49</c:v>
                </c:pt>
                <c:pt idx="336">
                  <c:v>45</c:v>
                </c:pt>
                <c:pt idx="337">
                  <c:v>50</c:v>
                </c:pt>
                <c:pt idx="338">
                  <c:v>50</c:v>
                </c:pt>
                <c:pt idx="339">
                  <c:v>47</c:v>
                </c:pt>
                <c:pt idx="340">
                  <c:v>64</c:v>
                </c:pt>
                <c:pt idx="341">
                  <c:v>58</c:v>
                </c:pt>
                <c:pt idx="342">
                  <c:v>47</c:v>
                </c:pt>
                <c:pt idx="343">
                  <c:v>45</c:v>
                </c:pt>
                <c:pt idx="344">
                  <c:v>57</c:v>
                </c:pt>
                <c:pt idx="345">
                  <c:v>47</c:v>
                </c:pt>
                <c:pt idx="346">
                  <c:v>42</c:v>
                </c:pt>
                <c:pt idx="347">
                  <c:v>64</c:v>
                </c:pt>
                <c:pt idx="348">
                  <c:v>61</c:v>
                </c:pt>
                <c:pt idx="349">
                  <c:v>53</c:v>
                </c:pt>
                <c:pt idx="350">
                  <c:v>44</c:v>
                </c:pt>
                <c:pt idx="351">
                  <c:v>41</c:v>
                </c:pt>
                <c:pt idx="352">
                  <c:v>51</c:v>
                </c:pt>
                <c:pt idx="353">
                  <c:v>40</c:v>
                </c:pt>
                <c:pt idx="354">
                  <c:v>45</c:v>
                </c:pt>
                <c:pt idx="355">
                  <c:v>53</c:v>
                </c:pt>
                <c:pt idx="356">
                  <c:v>51</c:v>
                </c:pt>
                <c:pt idx="357">
                  <c:v>50</c:v>
                </c:pt>
                <c:pt idx="358">
                  <c:v>60</c:v>
                </c:pt>
                <c:pt idx="359">
                  <c:v>62</c:v>
                </c:pt>
                <c:pt idx="360">
                  <c:v>39</c:v>
                </c:pt>
                <c:pt idx="361">
                  <c:v>53</c:v>
                </c:pt>
                <c:pt idx="362">
                  <c:v>58</c:v>
                </c:pt>
                <c:pt idx="363">
                  <c:v>64</c:v>
                </c:pt>
                <c:pt idx="364">
                  <c:v>45</c:v>
                </c:pt>
                <c:pt idx="365">
                  <c:v>46</c:v>
                </c:pt>
                <c:pt idx="366">
                  <c:v>54</c:v>
                </c:pt>
                <c:pt idx="367">
                  <c:v>47</c:v>
                </c:pt>
                <c:pt idx="368">
                  <c:v>45</c:v>
                </c:pt>
                <c:pt idx="369">
                  <c:v>44</c:v>
                </c:pt>
                <c:pt idx="370">
                  <c:v>60</c:v>
                </c:pt>
                <c:pt idx="371">
                  <c:v>64</c:v>
                </c:pt>
                <c:pt idx="372">
                  <c:v>63</c:v>
                </c:pt>
                <c:pt idx="373">
                  <c:v>58</c:v>
                </c:pt>
                <c:pt idx="374">
                  <c:v>42</c:v>
                </c:pt>
                <c:pt idx="375">
                  <c:v>56</c:v>
                </c:pt>
                <c:pt idx="376">
                  <c:v>59</c:v>
                </c:pt>
                <c:pt idx="377">
                  <c:v>59</c:v>
                </c:pt>
                <c:pt idx="378">
                  <c:v>57</c:v>
                </c:pt>
                <c:pt idx="379">
                  <c:v>53</c:v>
                </c:pt>
                <c:pt idx="380">
                  <c:v>51</c:v>
                </c:pt>
                <c:pt idx="381">
                  <c:v>55</c:v>
                </c:pt>
                <c:pt idx="382">
                  <c:v>61</c:v>
                </c:pt>
                <c:pt idx="383">
                  <c:v>53</c:v>
                </c:pt>
                <c:pt idx="384">
                  <c:v>49</c:v>
                </c:pt>
                <c:pt idx="385">
                  <c:v>57</c:v>
                </c:pt>
                <c:pt idx="386">
                  <c:v>55</c:v>
                </c:pt>
                <c:pt idx="387">
                  <c:v>51</c:v>
                </c:pt>
                <c:pt idx="388">
                  <c:v>57</c:v>
                </c:pt>
                <c:pt idx="389">
                  <c:v>61</c:v>
                </c:pt>
                <c:pt idx="390">
                  <c:v>50</c:v>
                </c:pt>
                <c:pt idx="391">
                  <c:v>43</c:v>
                </c:pt>
                <c:pt idx="392">
                  <c:v>44</c:v>
                </c:pt>
                <c:pt idx="393">
                  <c:v>49</c:v>
                </c:pt>
                <c:pt idx="394">
                  <c:v>57</c:v>
                </c:pt>
                <c:pt idx="395">
                  <c:v>57</c:v>
                </c:pt>
                <c:pt idx="396">
                  <c:v>64</c:v>
                </c:pt>
                <c:pt idx="397">
                  <c:v>54</c:v>
                </c:pt>
                <c:pt idx="398">
                  <c:v>62</c:v>
                </c:pt>
                <c:pt idx="399">
                  <c:v>61</c:v>
                </c:pt>
                <c:pt idx="400">
                  <c:v>43</c:v>
                </c:pt>
                <c:pt idx="401">
                  <c:v>49</c:v>
                </c:pt>
                <c:pt idx="402">
                  <c:v>49</c:v>
                </c:pt>
                <c:pt idx="403">
                  <c:v>60</c:v>
                </c:pt>
                <c:pt idx="404">
                  <c:v>44</c:v>
                </c:pt>
                <c:pt idx="405">
                  <c:v>63</c:v>
                </c:pt>
                <c:pt idx="406">
                  <c:v>59</c:v>
                </c:pt>
                <c:pt idx="407">
                  <c:v>44</c:v>
                </c:pt>
                <c:pt idx="408">
                  <c:v>43</c:v>
                </c:pt>
                <c:pt idx="409">
                  <c:v>61</c:v>
                </c:pt>
                <c:pt idx="410">
                  <c:v>62</c:v>
                </c:pt>
                <c:pt idx="411">
                  <c:v>62</c:v>
                </c:pt>
                <c:pt idx="412">
                  <c:v>50</c:v>
                </c:pt>
                <c:pt idx="413">
                  <c:v>57</c:v>
                </c:pt>
                <c:pt idx="414">
                  <c:v>62</c:v>
                </c:pt>
                <c:pt idx="415">
                  <c:v>41</c:v>
                </c:pt>
                <c:pt idx="416">
                  <c:v>46</c:v>
                </c:pt>
                <c:pt idx="417">
                  <c:v>45</c:v>
                </c:pt>
                <c:pt idx="418">
                  <c:v>59</c:v>
                </c:pt>
                <c:pt idx="419">
                  <c:v>53</c:v>
                </c:pt>
                <c:pt idx="420">
                  <c:v>50</c:v>
                </c:pt>
                <c:pt idx="421">
                  <c:v>62</c:v>
                </c:pt>
                <c:pt idx="422">
                  <c:v>56</c:v>
                </c:pt>
                <c:pt idx="423">
                  <c:v>42</c:v>
                </c:pt>
                <c:pt idx="424">
                  <c:v>42</c:v>
                </c:pt>
                <c:pt idx="425">
                  <c:v>57</c:v>
                </c:pt>
                <c:pt idx="426">
                  <c:v>63</c:v>
                </c:pt>
                <c:pt idx="427">
                  <c:v>46</c:v>
                </c:pt>
                <c:pt idx="428">
                  <c:v>52</c:v>
                </c:pt>
                <c:pt idx="429">
                  <c:v>51</c:v>
                </c:pt>
                <c:pt idx="430">
                  <c:v>44</c:v>
                </c:pt>
                <c:pt idx="431">
                  <c:v>39</c:v>
                </c:pt>
                <c:pt idx="432">
                  <c:v>50</c:v>
                </c:pt>
                <c:pt idx="433">
                  <c:v>48</c:v>
                </c:pt>
                <c:pt idx="434">
                  <c:v>45</c:v>
                </c:pt>
                <c:pt idx="435">
                  <c:v>54</c:v>
                </c:pt>
                <c:pt idx="436">
                  <c:v>44</c:v>
                </c:pt>
                <c:pt idx="437">
                  <c:v>43</c:v>
                </c:pt>
                <c:pt idx="438">
                  <c:v>45</c:v>
                </c:pt>
                <c:pt idx="439">
                  <c:v>50</c:v>
                </c:pt>
                <c:pt idx="440">
                  <c:v>39</c:v>
                </c:pt>
                <c:pt idx="441">
                  <c:v>63</c:v>
                </c:pt>
                <c:pt idx="442">
                  <c:v>48</c:v>
                </c:pt>
                <c:pt idx="443">
                  <c:v>47</c:v>
                </c:pt>
                <c:pt idx="444">
                  <c:v>47</c:v>
                </c:pt>
                <c:pt idx="445">
                  <c:v>51</c:v>
                </c:pt>
                <c:pt idx="446">
                  <c:v>48</c:v>
                </c:pt>
                <c:pt idx="447">
                  <c:v>43</c:v>
                </c:pt>
                <c:pt idx="448">
                  <c:v>48</c:v>
                </c:pt>
                <c:pt idx="449">
                  <c:v>59</c:v>
                </c:pt>
                <c:pt idx="450">
                  <c:v>54</c:v>
                </c:pt>
                <c:pt idx="451">
                  <c:v>51</c:v>
                </c:pt>
                <c:pt idx="452">
                  <c:v>47</c:v>
                </c:pt>
                <c:pt idx="453">
                  <c:v>54</c:v>
                </c:pt>
                <c:pt idx="454">
                  <c:v>46</c:v>
                </c:pt>
                <c:pt idx="455">
                  <c:v>61</c:v>
                </c:pt>
                <c:pt idx="456">
                  <c:v>54</c:v>
                </c:pt>
                <c:pt idx="457">
                  <c:v>55</c:v>
                </c:pt>
                <c:pt idx="458">
                  <c:v>43</c:v>
                </c:pt>
                <c:pt idx="459">
                  <c:v>43</c:v>
                </c:pt>
                <c:pt idx="460">
                  <c:v>44</c:v>
                </c:pt>
                <c:pt idx="461">
                  <c:v>64</c:v>
                </c:pt>
                <c:pt idx="462">
                  <c:v>49</c:v>
                </c:pt>
                <c:pt idx="463">
                  <c:v>47</c:v>
                </c:pt>
                <c:pt idx="464">
                  <c:v>55</c:v>
                </c:pt>
                <c:pt idx="465">
                  <c:v>48</c:v>
                </c:pt>
                <c:pt idx="466">
                  <c:v>45</c:v>
                </c:pt>
                <c:pt idx="467">
                  <c:v>57</c:v>
                </c:pt>
                <c:pt idx="468">
                  <c:v>48</c:v>
                </c:pt>
                <c:pt idx="469">
                  <c:v>39</c:v>
                </c:pt>
                <c:pt idx="470">
                  <c:v>63</c:v>
                </c:pt>
                <c:pt idx="471">
                  <c:v>54</c:v>
                </c:pt>
                <c:pt idx="472">
                  <c:v>63</c:v>
                </c:pt>
                <c:pt idx="473">
                  <c:v>54</c:v>
                </c:pt>
                <c:pt idx="474">
                  <c:v>60</c:v>
                </c:pt>
                <c:pt idx="475">
                  <c:v>47</c:v>
                </c:pt>
                <c:pt idx="476">
                  <c:v>63</c:v>
                </c:pt>
                <c:pt idx="477">
                  <c:v>62</c:v>
                </c:pt>
                <c:pt idx="478">
                  <c:v>55</c:v>
                </c:pt>
                <c:pt idx="479">
                  <c:v>57</c:v>
                </c:pt>
                <c:pt idx="480">
                  <c:v>52</c:v>
                </c:pt>
                <c:pt idx="481">
                  <c:v>56</c:v>
                </c:pt>
                <c:pt idx="482">
                  <c:v>55</c:v>
                </c:pt>
                <c:pt idx="483">
                  <c:v>50</c:v>
                </c:pt>
                <c:pt idx="484">
                  <c:v>52</c:v>
                </c:pt>
                <c:pt idx="485">
                  <c:v>53</c:v>
                </c:pt>
                <c:pt idx="486">
                  <c:v>58</c:v>
                </c:pt>
                <c:pt idx="487">
                  <c:v>37</c:v>
                </c:pt>
                <c:pt idx="488">
                  <c:v>54</c:v>
                </c:pt>
                <c:pt idx="489">
                  <c:v>49</c:v>
                </c:pt>
                <c:pt idx="490">
                  <c:v>50</c:v>
                </c:pt>
                <c:pt idx="491">
                  <c:v>45</c:v>
                </c:pt>
                <c:pt idx="492">
                  <c:v>54</c:v>
                </c:pt>
                <c:pt idx="493">
                  <c:v>48</c:v>
                </c:pt>
                <c:pt idx="494">
                  <c:v>55</c:v>
                </c:pt>
                <c:pt idx="495">
                  <c:v>41</c:v>
                </c:pt>
                <c:pt idx="496">
                  <c:v>46</c:v>
                </c:pt>
                <c:pt idx="497">
                  <c:v>63</c:v>
                </c:pt>
                <c:pt idx="498">
                  <c:v>55</c:v>
                </c:pt>
                <c:pt idx="499">
                  <c:v>57</c:v>
                </c:pt>
                <c:pt idx="500">
                  <c:v>52</c:v>
                </c:pt>
                <c:pt idx="501">
                  <c:v>50</c:v>
                </c:pt>
                <c:pt idx="502">
                  <c:v>44</c:v>
                </c:pt>
                <c:pt idx="503">
                  <c:v>50</c:v>
                </c:pt>
                <c:pt idx="504">
                  <c:v>41</c:v>
                </c:pt>
                <c:pt idx="505">
                  <c:v>52</c:v>
                </c:pt>
                <c:pt idx="506">
                  <c:v>50</c:v>
                </c:pt>
                <c:pt idx="507">
                  <c:v>52</c:v>
                </c:pt>
                <c:pt idx="508">
                  <c:v>55</c:v>
                </c:pt>
                <c:pt idx="509">
                  <c:v>42</c:v>
                </c:pt>
                <c:pt idx="510">
                  <c:v>58</c:v>
                </c:pt>
                <c:pt idx="511">
                  <c:v>48</c:v>
                </c:pt>
                <c:pt idx="512">
                  <c:v>43</c:v>
                </c:pt>
                <c:pt idx="513">
                  <c:v>57</c:v>
                </c:pt>
                <c:pt idx="514">
                  <c:v>43</c:v>
                </c:pt>
                <c:pt idx="515">
                  <c:v>56</c:v>
                </c:pt>
                <c:pt idx="516">
                  <c:v>52</c:v>
                </c:pt>
                <c:pt idx="517">
                  <c:v>42</c:v>
                </c:pt>
                <c:pt idx="518">
                  <c:v>48</c:v>
                </c:pt>
                <c:pt idx="519">
                  <c:v>45</c:v>
                </c:pt>
                <c:pt idx="520">
                  <c:v>62</c:v>
                </c:pt>
                <c:pt idx="521">
                  <c:v>43</c:v>
                </c:pt>
                <c:pt idx="522">
                  <c:v>58</c:v>
                </c:pt>
                <c:pt idx="523">
                  <c:v>48</c:v>
                </c:pt>
                <c:pt idx="524">
                  <c:v>41</c:v>
                </c:pt>
                <c:pt idx="525">
                  <c:v>46</c:v>
                </c:pt>
                <c:pt idx="526">
                  <c:v>51</c:v>
                </c:pt>
                <c:pt idx="527">
                  <c:v>59</c:v>
                </c:pt>
                <c:pt idx="528">
                  <c:v>39</c:v>
                </c:pt>
                <c:pt idx="529">
                  <c:v>52</c:v>
                </c:pt>
                <c:pt idx="530">
                  <c:v>50</c:v>
                </c:pt>
                <c:pt idx="531">
                  <c:v>42</c:v>
                </c:pt>
                <c:pt idx="532">
                  <c:v>56</c:v>
                </c:pt>
                <c:pt idx="533">
                  <c:v>58</c:v>
                </c:pt>
                <c:pt idx="534">
                  <c:v>54</c:v>
                </c:pt>
                <c:pt idx="535">
                  <c:v>58</c:v>
                </c:pt>
                <c:pt idx="536">
                  <c:v>45</c:v>
                </c:pt>
                <c:pt idx="537">
                  <c:v>63</c:v>
                </c:pt>
                <c:pt idx="538">
                  <c:v>58</c:v>
                </c:pt>
                <c:pt idx="539">
                  <c:v>45</c:v>
                </c:pt>
                <c:pt idx="540">
                  <c:v>40</c:v>
                </c:pt>
                <c:pt idx="541">
                  <c:v>42</c:v>
                </c:pt>
                <c:pt idx="542">
                  <c:v>51</c:v>
                </c:pt>
                <c:pt idx="543">
                  <c:v>54</c:v>
                </c:pt>
                <c:pt idx="544">
                  <c:v>52</c:v>
                </c:pt>
                <c:pt idx="545">
                  <c:v>43</c:v>
                </c:pt>
                <c:pt idx="546">
                  <c:v>49</c:v>
                </c:pt>
                <c:pt idx="547">
                  <c:v>64</c:v>
                </c:pt>
                <c:pt idx="548">
                  <c:v>55</c:v>
                </c:pt>
                <c:pt idx="549">
                  <c:v>45</c:v>
                </c:pt>
                <c:pt idx="550">
                  <c:v>43</c:v>
                </c:pt>
                <c:pt idx="551">
                  <c:v>57</c:v>
                </c:pt>
                <c:pt idx="552">
                  <c:v>39</c:v>
                </c:pt>
                <c:pt idx="553">
                  <c:v>48</c:v>
                </c:pt>
                <c:pt idx="554">
                  <c:v>47</c:v>
                </c:pt>
                <c:pt idx="555">
                  <c:v>47</c:v>
                </c:pt>
                <c:pt idx="556">
                  <c:v>44</c:v>
                </c:pt>
                <c:pt idx="557">
                  <c:v>46</c:v>
                </c:pt>
                <c:pt idx="558">
                  <c:v>58</c:v>
                </c:pt>
                <c:pt idx="559">
                  <c:v>42</c:v>
                </c:pt>
                <c:pt idx="560">
                  <c:v>41</c:v>
                </c:pt>
                <c:pt idx="561">
                  <c:v>62</c:v>
                </c:pt>
                <c:pt idx="562">
                  <c:v>62</c:v>
                </c:pt>
                <c:pt idx="563">
                  <c:v>61</c:v>
                </c:pt>
                <c:pt idx="564">
                  <c:v>42</c:v>
                </c:pt>
                <c:pt idx="565">
                  <c:v>51</c:v>
                </c:pt>
                <c:pt idx="566">
                  <c:v>52</c:v>
                </c:pt>
                <c:pt idx="567">
                  <c:v>57</c:v>
                </c:pt>
                <c:pt idx="568">
                  <c:v>52</c:v>
                </c:pt>
                <c:pt idx="569">
                  <c:v>50</c:v>
                </c:pt>
                <c:pt idx="570">
                  <c:v>61</c:v>
                </c:pt>
              </c:numCache>
            </c:numRef>
          </c:xVal>
          <c:yVal>
            <c:numRef>
              <c:f>'Chart Data'!$D$2:$D$572</c:f>
              <c:numCache>
                <c:formatCode>\$#,##0</c:formatCode>
                <c:ptCount val="571"/>
                <c:pt idx="0">
                  <c:v>8240.5895999999993</c:v>
                </c:pt>
                <c:pt idx="1">
                  <c:v>28923.136920000001</c:v>
                </c:pt>
                <c:pt idx="2">
                  <c:v>27808.7251</c:v>
                </c:pt>
                <c:pt idx="3">
                  <c:v>11090.7178</c:v>
                </c:pt>
                <c:pt idx="4">
                  <c:v>10797.3362</c:v>
                </c:pt>
                <c:pt idx="5">
                  <c:v>10602.385</c:v>
                </c:pt>
                <c:pt idx="6">
                  <c:v>13228.846949999999</c:v>
                </c:pt>
                <c:pt idx="7">
                  <c:v>14001.1338</c:v>
                </c:pt>
                <c:pt idx="8">
                  <c:v>14451.835150000001</c:v>
                </c:pt>
                <c:pt idx="9">
                  <c:v>12268.632250000001</c:v>
                </c:pt>
                <c:pt idx="10">
                  <c:v>13770.097900000001</c:v>
                </c:pt>
                <c:pt idx="11">
                  <c:v>15612.19335</c:v>
                </c:pt>
                <c:pt idx="12">
                  <c:v>6079.6715000000004</c:v>
                </c:pt>
                <c:pt idx="13">
                  <c:v>20630.283510000001</c:v>
                </c:pt>
                <c:pt idx="14">
                  <c:v>12629.896699999999</c:v>
                </c:pt>
                <c:pt idx="15">
                  <c:v>23568.272000000001</c:v>
                </c:pt>
                <c:pt idx="16">
                  <c:v>13607.36875</c:v>
                </c:pt>
                <c:pt idx="17">
                  <c:v>23244.790199999999</c:v>
                </c:pt>
                <c:pt idx="18">
                  <c:v>8606.2173999999995</c:v>
                </c:pt>
                <c:pt idx="19">
                  <c:v>30166.618170000002</c:v>
                </c:pt>
                <c:pt idx="20">
                  <c:v>14235.072</c:v>
                </c:pt>
                <c:pt idx="21">
                  <c:v>5920.1040999999996</c:v>
                </c:pt>
                <c:pt idx="22">
                  <c:v>11741.726000000001</c:v>
                </c:pt>
                <c:pt idx="23">
                  <c:v>11946.625899999999</c:v>
                </c:pt>
                <c:pt idx="24">
                  <c:v>7726.8540000000003</c:v>
                </c:pt>
                <c:pt idx="25">
                  <c:v>11356.660900000001</c:v>
                </c:pt>
                <c:pt idx="26">
                  <c:v>6571.0243499999997</c:v>
                </c:pt>
                <c:pt idx="27">
                  <c:v>7935.29115</c:v>
                </c:pt>
                <c:pt idx="28">
                  <c:v>11033.661700000001</c:v>
                </c:pt>
                <c:pt idx="29">
                  <c:v>21098.554049999999</c:v>
                </c:pt>
                <c:pt idx="30">
                  <c:v>11073.175999999999</c:v>
                </c:pt>
                <c:pt idx="31">
                  <c:v>8026.6665999999996</c:v>
                </c:pt>
                <c:pt idx="32">
                  <c:v>11082.5772</c:v>
                </c:pt>
                <c:pt idx="33">
                  <c:v>10942.13205</c:v>
                </c:pt>
                <c:pt idx="34">
                  <c:v>30184.936699999998</c:v>
                </c:pt>
                <c:pt idx="35">
                  <c:v>12105.32</c:v>
                </c:pt>
                <c:pt idx="36">
                  <c:v>10226.2842</c:v>
                </c:pt>
                <c:pt idx="37">
                  <c:v>22412.648499999999</c:v>
                </c:pt>
                <c:pt idx="38">
                  <c:v>6186.1270000000004</c:v>
                </c:pt>
                <c:pt idx="39">
                  <c:v>30942.191800000001</c:v>
                </c:pt>
                <c:pt idx="40">
                  <c:v>10825.253699999999</c:v>
                </c:pt>
                <c:pt idx="41">
                  <c:v>11881.358</c:v>
                </c:pt>
                <c:pt idx="42">
                  <c:v>11488.31695</c:v>
                </c:pt>
                <c:pt idx="43">
                  <c:v>30259.995559999999</c:v>
                </c:pt>
                <c:pt idx="44">
                  <c:v>11381.3254</c:v>
                </c:pt>
                <c:pt idx="45">
                  <c:v>8601.3292999999994</c:v>
                </c:pt>
                <c:pt idx="46">
                  <c:v>7740.3370000000004</c:v>
                </c:pt>
                <c:pt idx="47">
                  <c:v>10115.00885</c:v>
                </c:pt>
                <c:pt idx="48">
                  <c:v>9634.5380000000005</c:v>
                </c:pt>
                <c:pt idx="49">
                  <c:v>12815.444949999999</c:v>
                </c:pt>
                <c:pt idx="50">
                  <c:v>13616.3586</c:v>
                </c:pt>
                <c:pt idx="51">
                  <c:v>11163.567999999999</c:v>
                </c:pt>
                <c:pt idx="52">
                  <c:v>27322.73386</c:v>
                </c:pt>
                <c:pt idx="53">
                  <c:v>9877.6077000000005</c:v>
                </c:pt>
                <c:pt idx="54">
                  <c:v>10959.6947</c:v>
                </c:pt>
                <c:pt idx="55">
                  <c:v>7789.6350000000002</c:v>
                </c:pt>
                <c:pt idx="56">
                  <c:v>19964.746299999999</c:v>
                </c:pt>
                <c:pt idx="57">
                  <c:v>6948.7007999999996</c:v>
                </c:pt>
                <c:pt idx="58">
                  <c:v>21223.675800000001</c:v>
                </c:pt>
                <c:pt idx="59">
                  <c:v>19749.383379999999</c:v>
                </c:pt>
                <c:pt idx="60">
                  <c:v>21348.705999999998</c:v>
                </c:pt>
                <c:pt idx="61">
                  <c:v>10450.552</c:v>
                </c:pt>
                <c:pt idx="62">
                  <c:v>10407.085849999999</c:v>
                </c:pt>
                <c:pt idx="63">
                  <c:v>13405.390299999999</c:v>
                </c:pt>
                <c:pt idx="64">
                  <c:v>8116.68</c:v>
                </c:pt>
                <c:pt idx="65">
                  <c:v>10436.096</c:v>
                </c:pt>
                <c:pt idx="66">
                  <c:v>8823.2790000000005</c:v>
                </c:pt>
                <c:pt idx="67">
                  <c:v>8538.28845</c:v>
                </c:pt>
                <c:pt idx="68">
                  <c:v>11735.87905</c:v>
                </c:pt>
                <c:pt idx="69">
                  <c:v>7419.4778999999999</c:v>
                </c:pt>
                <c:pt idx="70">
                  <c:v>7731.4270999999999</c:v>
                </c:pt>
                <c:pt idx="71">
                  <c:v>6775.9610000000002</c:v>
                </c:pt>
                <c:pt idx="72">
                  <c:v>12557.605299999999</c:v>
                </c:pt>
                <c:pt idx="73">
                  <c:v>12044.342000000001</c:v>
                </c:pt>
                <c:pt idx="74">
                  <c:v>8516.8289999999997</c:v>
                </c:pt>
                <c:pt idx="75">
                  <c:v>9644.2525000000005</c:v>
                </c:pt>
                <c:pt idx="76">
                  <c:v>14901.5167</c:v>
                </c:pt>
                <c:pt idx="77">
                  <c:v>8871.1517000000003</c:v>
                </c:pt>
                <c:pt idx="78">
                  <c:v>13012.20865</c:v>
                </c:pt>
                <c:pt idx="79">
                  <c:v>7147.1049999999996</c:v>
                </c:pt>
                <c:pt idx="80">
                  <c:v>11743.299000000001</c:v>
                </c:pt>
                <c:pt idx="81">
                  <c:v>13880.949000000001</c:v>
                </c:pt>
                <c:pt idx="82">
                  <c:v>6610.1097</c:v>
                </c:pt>
                <c:pt idx="83">
                  <c:v>8162.7162500000004</c:v>
                </c:pt>
                <c:pt idx="84">
                  <c:v>8520.0259999999998</c:v>
                </c:pt>
                <c:pt idx="85">
                  <c:v>7371.7719999999999</c:v>
                </c:pt>
                <c:pt idx="86">
                  <c:v>10355.641</c:v>
                </c:pt>
                <c:pt idx="87">
                  <c:v>10564.8845</c:v>
                </c:pt>
                <c:pt idx="88">
                  <c:v>19515.5416</c:v>
                </c:pt>
                <c:pt idx="89">
                  <c:v>11987.1682</c:v>
                </c:pt>
                <c:pt idx="90">
                  <c:v>24227.337240000001</c:v>
                </c:pt>
                <c:pt idx="91">
                  <c:v>7358.1756500000001</c:v>
                </c:pt>
                <c:pt idx="92">
                  <c:v>9225.2564000000002</c:v>
                </c:pt>
                <c:pt idx="93">
                  <c:v>7443.6430499999997</c:v>
                </c:pt>
                <c:pt idx="94">
                  <c:v>14001.286700000001</c:v>
                </c:pt>
                <c:pt idx="95">
                  <c:v>12333.828</c:v>
                </c:pt>
                <c:pt idx="96">
                  <c:v>19444.265800000001</c:v>
                </c:pt>
                <c:pt idx="97">
                  <c:v>7152.6714000000002</c:v>
                </c:pt>
                <c:pt idx="98">
                  <c:v>7196.8670000000002</c:v>
                </c:pt>
                <c:pt idx="99">
                  <c:v>29523.1656</c:v>
                </c:pt>
                <c:pt idx="100">
                  <c:v>24476.478510000001</c:v>
                </c:pt>
                <c:pt idx="101">
                  <c:v>12648.7034</c:v>
                </c:pt>
                <c:pt idx="102">
                  <c:v>13047.332350000001</c:v>
                </c:pt>
                <c:pt idx="103">
                  <c:v>5400.9804999999997</c:v>
                </c:pt>
                <c:pt idx="104">
                  <c:v>11520.099850000001</c:v>
                </c:pt>
                <c:pt idx="105">
                  <c:v>11837.16</c:v>
                </c:pt>
                <c:pt idx="106">
                  <c:v>24869.836800000001</c:v>
                </c:pt>
                <c:pt idx="107">
                  <c:v>20462.997660000001</c:v>
                </c:pt>
                <c:pt idx="108">
                  <c:v>14590.63205</c:v>
                </c:pt>
                <c:pt idx="109">
                  <c:v>7441.0529999999999</c:v>
                </c:pt>
                <c:pt idx="110">
                  <c:v>9282.4806000000008</c:v>
                </c:pt>
                <c:pt idx="111">
                  <c:v>7265.7025000000003</c:v>
                </c:pt>
                <c:pt idx="112">
                  <c:v>9617.6624499999998</c:v>
                </c:pt>
                <c:pt idx="113">
                  <c:v>9715.8410000000003</c:v>
                </c:pt>
                <c:pt idx="114">
                  <c:v>12928.7911</c:v>
                </c:pt>
                <c:pt idx="115">
                  <c:v>9855.1314000000002</c:v>
                </c:pt>
                <c:pt idx="116">
                  <c:v>22331.566800000001</c:v>
                </c:pt>
                <c:pt idx="117">
                  <c:v>11879.10405</c:v>
                </c:pt>
                <c:pt idx="118">
                  <c:v>9625.92</c:v>
                </c:pt>
                <c:pt idx="119">
                  <c:v>7742.1098000000002</c:v>
                </c:pt>
                <c:pt idx="120">
                  <c:v>9432.9253000000008</c:v>
                </c:pt>
                <c:pt idx="121">
                  <c:v>14256.192800000001</c:v>
                </c:pt>
                <c:pt idx="122">
                  <c:v>25992.821039999999</c:v>
                </c:pt>
                <c:pt idx="123">
                  <c:v>21978.676899999999</c:v>
                </c:pt>
                <c:pt idx="124">
                  <c:v>9249.4951999999994</c:v>
                </c:pt>
                <c:pt idx="125">
                  <c:v>24873.384900000001</c:v>
                </c:pt>
                <c:pt idx="126">
                  <c:v>12265.5069</c:v>
                </c:pt>
                <c:pt idx="127">
                  <c:v>12646.207</c:v>
                </c:pt>
                <c:pt idx="128">
                  <c:v>11944.594349999999</c:v>
                </c:pt>
                <c:pt idx="129">
                  <c:v>7749.1563999999998</c:v>
                </c:pt>
                <c:pt idx="130">
                  <c:v>8444.4740000000002</c:v>
                </c:pt>
                <c:pt idx="131">
                  <c:v>8124.4084000000003</c:v>
                </c:pt>
                <c:pt idx="132">
                  <c:v>9722.7695000000003</c:v>
                </c:pt>
                <c:pt idx="133">
                  <c:v>8835.2649500000007</c:v>
                </c:pt>
                <c:pt idx="134">
                  <c:v>10435.06525</c:v>
                </c:pt>
                <c:pt idx="135">
                  <c:v>7421.1945500000002</c:v>
                </c:pt>
                <c:pt idx="136">
                  <c:v>11566.30055</c:v>
                </c:pt>
                <c:pt idx="137">
                  <c:v>6600.2059499999996</c:v>
                </c:pt>
                <c:pt idx="138">
                  <c:v>9144.5650000000005</c:v>
                </c:pt>
                <c:pt idx="139">
                  <c:v>24393.6224</c:v>
                </c:pt>
                <c:pt idx="140">
                  <c:v>13429.035400000001</c:v>
                </c:pt>
                <c:pt idx="141">
                  <c:v>11658.379150000001</c:v>
                </c:pt>
                <c:pt idx="142">
                  <c:v>19144.576519999999</c:v>
                </c:pt>
                <c:pt idx="143">
                  <c:v>13822.803</c:v>
                </c:pt>
                <c:pt idx="144">
                  <c:v>12142.578600000001</c:v>
                </c:pt>
                <c:pt idx="145">
                  <c:v>13937.666499999999</c:v>
                </c:pt>
                <c:pt idx="146">
                  <c:v>8232.6388000000006</c:v>
                </c:pt>
                <c:pt idx="147">
                  <c:v>13352.0998</c:v>
                </c:pt>
                <c:pt idx="148">
                  <c:v>13217.094499999999</c:v>
                </c:pt>
                <c:pt idx="149">
                  <c:v>13981.850350000001</c:v>
                </c:pt>
                <c:pt idx="150">
                  <c:v>10977.2063</c:v>
                </c:pt>
                <c:pt idx="151">
                  <c:v>8334.4575499999992</c:v>
                </c:pt>
                <c:pt idx="152">
                  <c:v>11830.6072</c:v>
                </c:pt>
                <c:pt idx="153">
                  <c:v>8932.0840000000007</c:v>
                </c:pt>
                <c:pt idx="154">
                  <c:v>24603.04837</c:v>
                </c:pt>
                <c:pt idx="155">
                  <c:v>8944.1151000000009</c:v>
                </c:pt>
                <c:pt idx="156">
                  <c:v>9620.3307000000004</c:v>
                </c:pt>
                <c:pt idx="157">
                  <c:v>10043.249</c:v>
                </c:pt>
                <c:pt idx="158">
                  <c:v>9778.3472000000002</c:v>
                </c:pt>
                <c:pt idx="159">
                  <c:v>13430.264999999999</c:v>
                </c:pt>
                <c:pt idx="160">
                  <c:v>8116.2688500000004</c:v>
                </c:pt>
                <c:pt idx="161">
                  <c:v>13415.0381</c:v>
                </c:pt>
                <c:pt idx="162">
                  <c:v>12029.286700000001</c:v>
                </c:pt>
                <c:pt idx="163">
                  <c:v>7639.4174499999999</c:v>
                </c:pt>
                <c:pt idx="164">
                  <c:v>21659.930100000001</c:v>
                </c:pt>
                <c:pt idx="165">
                  <c:v>16455.707849999999</c:v>
                </c:pt>
                <c:pt idx="166">
                  <c:v>27000.98473</c:v>
                </c:pt>
                <c:pt idx="167">
                  <c:v>20781.48892</c:v>
                </c:pt>
                <c:pt idx="168">
                  <c:v>5846.9175999999998</c:v>
                </c:pt>
                <c:pt idx="169">
                  <c:v>8302.5356499999998</c:v>
                </c:pt>
                <c:pt idx="170">
                  <c:v>11856.4115</c:v>
                </c:pt>
                <c:pt idx="171">
                  <c:v>30284.642940000002</c:v>
                </c:pt>
                <c:pt idx="172">
                  <c:v>10736.87075</c:v>
                </c:pt>
                <c:pt idx="173">
                  <c:v>8964.0605500000001</c:v>
                </c:pt>
                <c:pt idx="174">
                  <c:v>9290.1394999999993</c:v>
                </c:pt>
                <c:pt idx="175">
                  <c:v>9411.0049999999992</c:v>
                </c:pt>
                <c:pt idx="176">
                  <c:v>7526.7064499999997</c:v>
                </c:pt>
                <c:pt idx="177">
                  <c:v>8522.0030000000006</c:v>
                </c:pt>
                <c:pt idx="178">
                  <c:v>14988.432000000001</c:v>
                </c:pt>
                <c:pt idx="179">
                  <c:v>9264.7970000000005</c:v>
                </c:pt>
                <c:pt idx="180">
                  <c:v>8083.9197999999997</c:v>
                </c:pt>
                <c:pt idx="181">
                  <c:v>14692.66935</c:v>
                </c:pt>
                <c:pt idx="182">
                  <c:v>10269.459999999999</c:v>
                </c:pt>
                <c:pt idx="183">
                  <c:v>11396.9002</c:v>
                </c:pt>
                <c:pt idx="184">
                  <c:v>8539.6710000000003</c:v>
                </c:pt>
                <c:pt idx="185">
                  <c:v>19594.809649999999</c:v>
                </c:pt>
                <c:pt idx="186">
                  <c:v>7345.7266</c:v>
                </c:pt>
                <c:pt idx="187">
                  <c:v>9140.9509999999991</c:v>
                </c:pt>
                <c:pt idx="188">
                  <c:v>14418.2804</c:v>
                </c:pt>
                <c:pt idx="189">
                  <c:v>28950.4692</c:v>
                </c:pt>
                <c:pt idx="190">
                  <c:v>8968.33</c:v>
                </c:pt>
                <c:pt idx="191">
                  <c:v>9788.8659000000007</c:v>
                </c:pt>
                <c:pt idx="192">
                  <c:v>12638.195</c:v>
                </c:pt>
                <c:pt idx="193">
                  <c:v>13919.822899999999</c:v>
                </c:pt>
                <c:pt idx="194">
                  <c:v>12592.5345</c:v>
                </c:pt>
                <c:pt idx="195">
                  <c:v>28287.897659999999</c:v>
                </c:pt>
                <c:pt idx="196">
                  <c:v>26109.32905</c:v>
                </c:pt>
                <c:pt idx="197">
                  <c:v>7345.0839999999998</c:v>
                </c:pt>
                <c:pt idx="198">
                  <c:v>12730.999599999999</c:v>
                </c:pt>
                <c:pt idx="199">
                  <c:v>11454.021500000001</c:v>
                </c:pt>
                <c:pt idx="200">
                  <c:v>21797.000400000001</c:v>
                </c:pt>
                <c:pt idx="201">
                  <c:v>11881.9696</c:v>
                </c:pt>
                <c:pt idx="202">
                  <c:v>11840.77505</c:v>
                </c:pt>
                <c:pt idx="203">
                  <c:v>10601.412</c:v>
                </c:pt>
                <c:pt idx="204">
                  <c:v>7682.67</c:v>
                </c:pt>
                <c:pt idx="205">
                  <c:v>10381.4787</c:v>
                </c:pt>
                <c:pt idx="206">
                  <c:v>22144.031999999999</c:v>
                </c:pt>
                <c:pt idx="207">
                  <c:v>15230.324049999999</c:v>
                </c:pt>
                <c:pt idx="208">
                  <c:v>11165.417649999999</c:v>
                </c:pt>
                <c:pt idx="209">
                  <c:v>13224.692999999999</c:v>
                </c:pt>
                <c:pt idx="210">
                  <c:v>12643.3778</c:v>
                </c:pt>
                <c:pt idx="211">
                  <c:v>20878.78443</c:v>
                </c:pt>
                <c:pt idx="212">
                  <c:v>25382.296999999999</c:v>
                </c:pt>
                <c:pt idx="213">
                  <c:v>28868.6639</c:v>
                </c:pt>
                <c:pt idx="214">
                  <c:v>15555.188749999999</c:v>
                </c:pt>
                <c:pt idx="215">
                  <c:v>9304.7019</c:v>
                </c:pt>
                <c:pt idx="216">
                  <c:v>9880.0679999999993</c:v>
                </c:pt>
                <c:pt idx="217">
                  <c:v>9563.0290000000005</c:v>
                </c:pt>
                <c:pt idx="218">
                  <c:v>12475.3513</c:v>
                </c:pt>
                <c:pt idx="219">
                  <c:v>10461.9794</c:v>
                </c:pt>
                <c:pt idx="220">
                  <c:v>24513.091260000001</c:v>
                </c:pt>
                <c:pt idx="221">
                  <c:v>12574.049000000001</c:v>
                </c:pt>
                <c:pt idx="222">
                  <c:v>8027.9679999999998</c:v>
                </c:pt>
                <c:pt idx="223">
                  <c:v>8211.1002000000008</c:v>
                </c:pt>
                <c:pt idx="224">
                  <c:v>13470.86</c:v>
                </c:pt>
                <c:pt idx="225">
                  <c:v>6837.3687</c:v>
                </c:pt>
                <c:pt idx="226">
                  <c:v>22218.1149</c:v>
                </c:pt>
                <c:pt idx="227">
                  <c:v>11455.28</c:v>
                </c:pt>
                <c:pt idx="228">
                  <c:v>11763.000899999999</c:v>
                </c:pt>
                <c:pt idx="229">
                  <c:v>9361.3268000000007</c:v>
                </c:pt>
                <c:pt idx="230">
                  <c:v>21082.16</c:v>
                </c:pt>
                <c:pt idx="231">
                  <c:v>11362.754999999999</c:v>
                </c:pt>
                <c:pt idx="232">
                  <c:v>8413.4630500000003</c:v>
                </c:pt>
                <c:pt idx="233">
                  <c:v>25656.575260000001</c:v>
                </c:pt>
                <c:pt idx="234">
                  <c:v>9866.3048500000004</c:v>
                </c:pt>
                <c:pt idx="235">
                  <c:v>5397.6166999999996</c:v>
                </c:pt>
                <c:pt idx="236">
                  <c:v>9861.0249999999996</c:v>
                </c:pt>
                <c:pt idx="237">
                  <c:v>8342.9087500000005</c:v>
                </c:pt>
                <c:pt idx="238">
                  <c:v>14043.476699999999</c:v>
                </c:pt>
                <c:pt idx="239">
                  <c:v>12925.886</c:v>
                </c:pt>
                <c:pt idx="240">
                  <c:v>19214.705529999999</c:v>
                </c:pt>
                <c:pt idx="241">
                  <c:v>13831.1152</c:v>
                </c:pt>
                <c:pt idx="242">
                  <c:v>8825.0859999999993</c:v>
                </c:pt>
                <c:pt idx="243">
                  <c:v>8233.0974999999999</c:v>
                </c:pt>
                <c:pt idx="244">
                  <c:v>27346.04207</c:v>
                </c:pt>
                <c:pt idx="245">
                  <c:v>13887.204</c:v>
                </c:pt>
                <c:pt idx="246">
                  <c:v>10231.499900000001</c:v>
                </c:pt>
                <c:pt idx="247">
                  <c:v>23807.240600000001</c:v>
                </c:pt>
                <c:pt idx="248">
                  <c:v>11538.421</c:v>
                </c:pt>
                <c:pt idx="249">
                  <c:v>13390.558999999999</c:v>
                </c:pt>
                <c:pt idx="250">
                  <c:v>12957.118</c:v>
                </c:pt>
                <c:pt idx="251">
                  <c:v>11187.6567</c:v>
                </c:pt>
                <c:pt idx="252">
                  <c:v>8334.5895999999993</c:v>
                </c:pt>
                <c:pt idx="253">
                  <c:v>9193.8384999999998</c:v>
                </c:pt>
                <c:pt idx="254">
                  <c:v>10923.933199999999</c:v>
                </c:pt>
                <c:pt idx="255">
                  <c:v>9058.7302999999993</c:v>
                </c:pt>
                <c:pt idx="256">
                  <c:v>6373.55735</c:v>
                </c:pt>
                <c:pt idx="257">
                  <c:v>7256.7231000000002</c:v>
                </c:pt>
                <c:pt idx="258">
                  <c:v>11552.904</c:v>
                </c:pt>
                <c:pt idx="259">
                  <c:v>13224.057049999999</c:v>
                </c:pt>
                <c:pt idx="260">
                  <c:v>12222.898300000001</c:v>
                </c:pt>
                <c:pt idx="261">
                  <c:v>9724.5300000000007</c:v>
                </c:pt>
                <c:pt idx="262">
                  <c:v>12913.992399999999</c:v>
                </c:pt>
                <c:pt idx="263">
                  <c:v>6356.2707</c:v>
                </c:pt>
                <c:pt idx="264">
                  <c:v>13635.6379</c:v>
                </c:pt>
                <c:pt idx="265">
                  <c:v>11842.441999999999</c:v>
                </c:pt>
                <c:pt idx="266">
                  <c:v>8428.0692999999992</c:v>
                </c:pt>
                <c:pt idx="267">
                  <c:v>5709.1643999999997</c:v>
                </c:pt>
                <c:pt idx="268">
                  <c:v>8823.9857499999998</c:v>
                </c:pt>
                <c:pt idx="269">
                  <c:v>7640.3091999999997</c:v>
                </c:pt>
                <c:pt idx="270">
                  <c:v>7441.5010000000002</c:v>
                </c:pt>
                <c:pt idx="271">
                  <c:v>9174.1356500000002</c:v>
                </c:pt>
                <c:pt idx="272">
                  <c:v>11070.535</c:v>
                </c:pt>
                <c:pt idx="273">
                  <c:v>16085.127500000001</c:v>
                </c:pt>
                <c:pt idx="274">
                  <c:v>9283.5619999999999</c:v>
                </c:pt>
                <c:pt idx="275">
                  <c:v>25678.778450000002</c:v>
                </c:pt>
                <c:pt idx="276">
                  <c:v>8547.6913000000004</c:v>
                </c:pt>
                <c:pt idx="277">
                  <c:v>11658.11505</c:v>
                </c:pt>
                <c:pt idx="278">
                  <c:v>23306.546999999999</c:v>
                </c:pt>
                <c:pt idx="279">
                  <c:v>10713.644</c:v>
                </c:pt>
                <c:pt idx="280">
                  <c:v>9182.17</c:v>
                </c:pt>
                <c:pt idx="281">
                  <c:v>12129.614149999999</c:v>
                </c:pt>
                <c:pt idx="282">
                  <c:v>11365.951999999999</c:v>
                </c:pt>
                <c:pt idx="283">
                  <c:v>10085.846</c:v>
                </c:pt>
                <c:pt idx="284">
                  <c:v>9391.3459999999995</c:v>
                </c:pt>
                <c:pt idx="285">
                  <c:v>14410.9321</c:v>
                </c:pt>
                <c:pt idx="286">
                  <c:v>20149.322899999999</c:v>
                </c:pt>
                <c:pt idx="287">
                  <c:v>12949.1554</c:v>
                </c:pt>
                <c:pt idx="288">
                  <c:v>13143.86485</c:v>
                </c:pt>
                <c:pt idx="289">
                  <c:v>18806.145469999999</c:v>
                </c:pt>
                <c:pt idx="290">
                  <c:v>10141.136200000001</c:v>
                </c:pt>
                <c:pt idx="291">
                  <c:v>12430.95335</c:v>
                </c:pt>
                <c:pt idx="292">
                  <c:v>9800.8881999999994</c:v>
                </c:pt>
                <c:pt idx="293">
                  <c:v>10579.710999999999</c:v>
                </c:pt>
                <c:pt idx="294">
                  <c:v>8280.6226999999999</c:v>
                </c:pt>
                <c:pt idx="295">
                  <c:v>8527.5319999999992</c:v>
                </c:pt>
                <c:pt idx="296">
                  <c:v>12244.531000000001</c:v>
                </c:pt>
                <c:pt idx="297">
                  <c:v>24667.419000000002</c:v>
                </c:pt>
                <c:pt idx="298">
                  <c:v>14394.398150000001</c:v>
                </c:pt>
                <c:pt idx="299">
                  <c:v>6435.6237000000001</c:v>
                </c:pt>
                <c:pt idx="300">
                  <c:v>22192.437109999999</c:v>
                </c:pt>
                <c:pt idx="301">
                  <c:v>27037.914100000002</c:v>
                </c:pt>
                <c:pt idx="302">
                  <c:v>8703.4560000000001</c:v>
                </c:pt>
                <c:pt idx="303">
                  <c:v>6185.3208000000004</c:v>
                </c:pt>
                <c:pt idx="304">
                  <c:v>7222.7862500000001</c:v>
                </c:pt>
                <c:pt idx="305">
                  <c:v>12485.8009</c:v>
                </c:pt>
                <c:pt idx="306">
                  <c:v>12363.547</c:v>
                </c:pt>
                <c:pt idx="307">
                  <c:v>10156.7832</c:v>
                </c:pt>
                <c:pt idx="308">
                  <c:v>9863.4717999999993</c:v>
                </c:pt>
                <c:pt idx="309">
                  <c:v>11244.376899999999</c:v>
                </c:pt>
                <c:pt idx="310">
                  <c:v>7729.6457499999997</c:v>
                </c:pt>
                <c:pt idx="311">
                  <c:v>5438.7491</c:v>
                </c:pt>
                <c:pt idx="312">
                  <c:v>26236.579969999999</c:v>
                </c:pt>
                <c:pt idx="313">
                  <c:v>8068.1850000000004</c:v>
                </c:pt>
                <c:pt idx="314">
                  <c:v>29186.482360000002</c:v>
                </c:pt>
                <c:pt idx="315">
                  <c:v>10976.24575</c:v>
                </c:pt>
                <c:pt idx="316">
                  <c:v>9541.6955500000004</c:v>
                </c:pt>
                <c:pt idx="317">
                  <c:v>9504.3102999999992</c:v>
                </c:pt>
                <c:pt idx="318">
                  <c:v>8930.9345499999999</c:v>
                </c:pt>
                <c:pt idx="319">
                  <c:v>10264.4421</c:v>
                </c:pt>
                <c:pt idx="320">
                  <c:v>10107.220600000001</c:v>
                </c:pt>
                <c:pt idx="321">
                  <c:v>8310.8391499999998</c:v>
                </c:pt>
                <c:pt idx="322">
                  <c:v>12146.971</c:v>
                </c:pt>
                <c:pt idx="323">
                  <c:v>9566.9909000000007</c:v>
                </c:pt>
                <c:pt idx="324">
                  <c:v>13112.604799999999</c:v>
                </c:pt>
                <c:pt idx="325">
                  <c:v>10848.1343</c:v>
                </c:pt>
                <c:pt idx="326">
                  <c:v>12231.613600000001</c:v>
                </c:pt>
                <c:pt idx="327">
                  <c:v>9875.6803999999993</c:v>
                </c:pt>
                <c:pt idx="328">
                  <c:v>11264.540999999999</c:v>
                </c:pt>
                <c:pt idx="329">
                  <c:v>12979.358</c:v>
                </c:pt>
                <c:pt idx="330">
                  <c:v>10106.134249999999</c:v>
                </c:pt>
                <c:pt idx="331">
                  <c:v>6781.3541999999998</c:v>
                </c:pt>
                <c:pt idx="332">
                  <c:v>10065.413</c:v>
                </c:pt>
                <c:pt idx="333">
                  <c:v>9447.2503500000003</c:v>
                </c:pt>
                <c:pt idx="334">
                  <c:v>14007.222</c:v>
                </c:pt>
                <c:pt idx="335">
                  <c:v>9583.8932999999997</c:v>
                </c:pt>
                <c:pt idx="336">
                  <c:v>8604.4836500000001</c:v>
                </c:pt>
                <c:pt idx="337">
                  <c:v>8827.2098999999998</c:v>
                </c:pt>
                <c:pt idx="338">
                  <c:v>9910.3598500000007</c:v>
                </c:pt>
                <c:pt idx="339">
                  <c:v>8556.9069999999992</c:v>
                </c:pt>
                <c:pt idx="340">
                  <c:v>14210.53595</c:v>
                </c:pt>
                <c:pt idx="341">
                  <c:v>11833.782300000001</c:v>
                </c:pt>
                <c:pt idx="342">
                  <c:v>23065.420699999999</c:v>
                </c:pt>
                <c:pt idx="343">
                  <c:v>9095.0682500000003</c:v>
                </c:pt>
                <c:pt idx="344">
                  <c:v>11842.623750000001</c:v>
                </c:pt>
                <c:pt idx="345">
                  <c:v>8062.7640000000001</c:v>
                </c:pt>
                <c:pt idx="346">
                  <c:v>7050.6419999999998</c:v>
                </c:pt>
                <c:pt idx="347">
                  <c:v>14319.031000000001</c:v>
                </c:pt>
                <c:pt idx="348">
                  <c:v>27941.28758</c:v>
                </c:pt>
                <c:pt idx="349">
                  <c:v>11150.78</c:v>
                </c:pt>
                <c:pt idx="350">
                  <c:v>12797.20962</c:v>
                </c:pt>
                <c:pt idx="351">
                  <c:v>7261.741</c:v>
                </c:pt>
                <c:pt idx="352">
                  <c:v>10560.4917</c:v>
                </c:pt>
                <c:pt idx="353">
                  <c:v>6986.6970000000001</c:v>
                </c:pt>
                <c:pt idx="354">
                  <c:v>7448.4039499999999</c:v>
                </c:pt>
                <c:pt idx="355">
                  <c:v>9869.8101999999999</c:v>
                </c:pt>
                <c:pt idx="356">
                  <c:v>9386.1612999999998</c:v>
                </c:pt>
                <c:pt idx="357">
                  <c:v>24520.263999999999</c:v>
                </c:pt>
                <c:pt idx="358">
                  <c:v>12741.167450000001</c:v>
                </c:pt>
                <c:pt idx="359">
                  <c:v>13457.960800000001</c:v>
                </c:pt>
                <c:pt idx="360">
                  <c:v>5662.2250000000004</c:v>
                </c:pt>
                <c:pt idx="361">
                  <c:v>21195.817999999999</c:v>
                </c:pt>
                <c:pt idx="362">
                  <c:v>11848.141</c:v>
                </c:pt>
                <c:pt idx="363">
                  <c:v>14313.846299999999</c:v>
                </c:pt>
                <c:pt idx="364">
                  <c:v>7731.8578500000003</c:v>
                </c:pt>
                <c:pt idx="365">
                  <c:v>9414.92</c:v>
                </c:pt>
                <c:pt idx="366">
                  <c:v>11013.7119</c:v>
                </c:pt>
                <c:pt idx="367">
                  <c:v>23401.30575</c:v>
                </c:pt>
                <c:pt idx="368">
                  <c:v>7445.9179999999997</c:v>
                </c:pt>
                <c:pt idx="369">
                  <c:v>8219.2039000000004</c:v>
                </c:pt>
                <c:pt idx="370">
                  <c:v>12523.604799999999</c:v>
                </c:pt>
                <c:pt idx="371">
                  <c:v>16069.08475</c:v>
                </c:pt>
                <c:pt idx="372">
                  <c:v>13393.755999999999</c:v>
                </c:pt>
                <c:pt idx="373">
                  <c:v>11743.9341</c:v>
                </c:pt>
                <c:pt idx="374">
                  <c:v>7160.3302999999996</c:v>
                </c:pt>
                <c:pt idx="375">
                  <c:v>11657.7189</c:v>
                </c:pt>
                <c:pt idx="376">
                  <c:v>12622.1795</c:v>
                </c:pt>
                <c:pt idx="377">
                  <c:v>12323.936</c:v>
                </c:pt>
                <c:pt idx="378">
                  <c:v>27533.912899999999</c:v>
                </c:pt>
                <c:pt idx="379">
                  <c:v>10072.055050000001</c:v>
                </c:pt>
                <c:pt idx="380">
                  <c:v>9872.7009999999991</c:v>
                </c:pt>
                <c:pt idx="381">
                  <c:v>10601.632250000001</c:v>
                </c:pt>
                <c:pt idx="382">
                  <c:v>14119.62</c:v>
                </c:pt>
                <c:pt idx="383">
                  <c:v>11729.6795</c:v>
                </c:pt>
                <c:pt idx="384">
                  <c:v>24106.912550000001</c:v>
                </c:pt>
                <c:pt idx="385">
                  <c:v>10965.446</c:v>
                </c:pt>
                <c:pt idx="386">
                  <c:v>12269.68865</c:v>
                </c:pt>
                <c:pt idx="387">
                  <c:v>8782.4689999999991</c:v>
                </c:pt>
                <c:pt idx="388">
                  <c:v>11576.13</c:v>
                </c:pt>
                <c:pt idx="389">
                  <c:v>13129.603450000001</c:v>
                </c:pt>
                <c:pt idx="390">
                  <c:v>8457.8179999999993</c:v>
                </c:pt>
                <c:pt idx="391">
                  <c:v>6849.0259999999998</c:v>
                </c:pt>
                <c:pt idx="392">
                  <c:v>8891.1394999999993</c:v>
                </c:pt>
                <c:pt idx="393">
                  <c:v>26140.3603</c:v>
                </c:pt>
                <c:pt idx="394">
                  <c:v>27218.437249999999</c:v>
                </c:pt>
                <c:pt idx="395">
                  <c:v>11945.1327</c:v>
                </c:pt>
                <c:pt idx="396">
                  <c:v>29330.98315</c:v>
                </c:pt>
                <c:pt idx="397">
                  <c:v>10422.916649999999</c:v>
                </c:pt>
                <c:pt idx="398">
                  <c:v>13555.0049</c:v>
                </c:pt>
                <c:pt idx="399">
                  <c:v>13063.883</c:v>
                </c:pt>
                <c:pt idx="400">
                  <c:v>19798.054550000001</c:v>
                </c:pt>
                <c:pt idx="401">
                  <c:v>8688.8588500000005</c:v>
                </c:pt>
                <c:pt idx="402">
                  <c:v>8125.7844999999998</c:v>
                </c:pt>
                <c:pt idx="403">
                  <c:v>12644.589</c:v>
                </c:pt>
                <c:pt idx="404">
                  <c:v>7633.7205999999996</c:v>
                </c:pt>
                <c:pt idx="405">
                  <c:v>15170.069</c:v>
                </c:pt>
                <c:pt idx="406">
                  <c:v>14382.709049999999</c:v>
                </c:pt>
                <c:pt idx="407">
                  <c:v>7626.9930000000004</c:v>
                </c:pt>
                <c:pt idx="408">
                  <c:v>21774.32215</c:v>
                </c:pt>
                <c:pt idx="409">
                  <c:v>13041.921</c:v>
                </c:pt>
                <c:pt idx="410">
                  <c:v>13451.121999999999</c:v>
                </c:pt>
                <c:pt idx="411">
                  <c:v>13462.52</c:v>
                </c:pt>
                <c:pt idx="412">
                  <c:v>25333.332839999999</c:v>
                </c:pt>
                <c:pt idx="413">
                  <c:v>12032.325999999999</c:v>
                </c:pt>
                <c:pt idx="414">
                  <c:v>13470.804400000001</c:v>
                </c:pt>
                <c:pt idx="415">
                  <c:v>6289.7548999999999</c:v>
                </c:pt>
                <c:pt idx="416">
                  <c:v>10096.969999999999</c:v>
                </c:pt>
                <c:pt idx="417">
                  <c:v>7348.1419999999998</c:v>
                </c:pt>
                <c:pt idx="418">
                  <c:v>12233.828</c:v>
                </c:pt>
                <c:pt idx="419">
                  <c:v>9487.6442000000006</c:v>
                </c:pt>
                <c:pt idx="420">
                  <c:v>9549.5650999999998</c:v>
                </c:pt>
                <c:pt idx="421">
                  <c:v>12982.8747</c:v>
                </c:pt>
                <c:pt idx="422">
                  <c:v>11674.13</c:v>
                </c:pt>
                <c:pt idx="423">
                  <c:v>7160.0940000000001</c:v>
                </c:pt>
                <c:pt idx="424">
                  <c:v>6358.7764500000003</c:v>
                </c:pt>
                <c:pt idx="425">
                  <c:v>11534.872649999999</c:v>
                </c:pt>
                <c:pt idx="426">
                  <c:v>14474.674999999999</c:v>
                </c:pt>
                <c:pt idx="427">
                  <c:v>9500.5730500000009</c:v>
                </c:pt>
                <c:pt idx="428">
                  <c:v>26467.09737</c:v>
                </c:pt>
                <c:pt idx="429">
                  <c:v>23967.38305</c:v>
                </c:pt>
                <c:pt idx="430">
                  <c:v>7518.0253499999999</c:v>
                </c:pt>
                <c:pt idx="431">
                  <c:v>8596.8277999999991</c:v>
                </c:pt>
                <c:pt idx="432">
                  <c:v>10702.642400000001</c:v>
                </c:pt>
                <c:pt idx="433">
                  <c:v>7804.1605</c:v>
                </c:pt>
                <c:pt idx="434">
                  <c:v>9704.6680500000002</c:v>
                </c:pt>
                <c:pt idx="435">
                  <c:v>25517.11363</c:v>
                </c:pt>
                <c:pt idx="436">
                  <c:v>7624.63</c:v>
                </c:pt>
                <c:pt idx="437">
                  <c:v>8410.0468500000006</c:v>
                </c:pt>
                <c:pt idx="438">
                  <c:v>28340.188849999999</c:v>
                </c:pt>
                <c:pt idx="439">
                  <c:v>10118.424000000001</c:v>
                </c:pt>
                <c:pt idx="440">
                  <c:v>7418.5219999999999</c:v>
                </c:pt>
                <c:pt idx="441">
                  <c:v>13887.968500000001</c:v>
                </c:pt>
                <c:pt idx="442">
                  <c:v>21232.182260000001</c:v>
                </c:pt>
                <c:pt idx="443">
                  <c:v>8627.5411000000004</c:v>
                </c:pt>
                <c:pt idx="444">
                  <c:v>24915.220850000002</c:v>
                </c:pt>
                <c:pt idx="445">
                  <c:v>9957.7216000000008</c:v>
                </c:pt>
                <c:pt idx="446">
                  <c:v>8269.0439999999999</c:v>
                </c:pt>
                <c:pt idx="447">
                  <c:v>18767.737700000001</c:v>
                </c:pt>
                <c:pt idx="448">
                  <c:v>8765.2489999999998</c:v>
                </c:pt>
                <c:pt idx="449">
                  <c:v>12124.992399999999</c:v>
                </c:pt>
                <c:pt idx="450">
                  <c:v>12495.290849999999</c:v>
                </c:pt>
                <c:pt idx="451">
                  <c:v>8798.5930000000008</c:v>
                </c:pt>
                <c:pt idx="452">
                  <c:v>8569.8618000000006</c:v>
                </c:pt>
                <c:pt idx="453">
                  <c:v>9850.4320000000007</c:v>
                </c:pt>
                <c:pt idx="454">
                  <c:v>21677.283449999999</c:v>
                </c:pt>
                <c:pt idx="455">
                  <c:v>12950.0712</c:v>
                </c:pt>
                <c:pt idx="456">
                  <c:v>12094.477999999999</c:v>
                </c:pt>
                <c:pt idx="457">
                  <c:v>11394.065549999999</c:v>
                </c:pt>
                <c:pt idx="458">
                  <c:v>21880.82</c:v>
                </c:pt>
                <c:pt idx="459">
                  <c:v>7325.0482000000002</c:v>
                </c:pt>
                <c:pt idx="460">
                  <c:v>8023.1354499999998</c:v>
                </c:pt>
                <c:pt idx="461">
                  <c:v>14394.5579</c:v>
                </c:pt>
                <c:pt idx="462">
                  <c:v>9288.0267000000003</c:v>
                </c:pt>
                <c:pt idx="463">
                  <c:v>25309.489000000001</c:v>
                </c:pt>
                <c:pt idx="464">
                  <c:v>10594.501550000001</c:v>
                </c:pt>
                <c:pt idx="465">
                  <c:v>8277.5229999999992</c:v>
                </c:pt>
                <c:pt idx="466">
                  <c:v>17929.303370000001</c:v>
                </c:pt>
                <c:pt idx="467">
                  <c:v>11554.223599999999</c:v>
                </c:pt>
                <c:pt idx="468">
                  <c:v>8978.1851000000006</c:v>
                </c:pt>
                <c:pt idx="469">
                  <c:v>5757.41345</c:v>
                </c:pt>
                <c:pt idx="470">
                  <c:v>14349.8544</c:v>
                </c:pt>
                <c:pt idx="471">
                  <c:v>10928.849</c:v>
                </c:pt>
                <c:pt idx="472">
                  <c:v>13974.455550000001</c:v>
                </c:pt>
                <c:pt idx="473">
                  <c:v>12096.6512</c:v>
                </c:pt>
                <c:pt idx="474">
                  <c:v>13204.28565</c:v>
                </c:pt>
                <c:pt idx="475">
                  <c:v>8551.3469999999998</c:v>
                </c:pt>
                <c:pt idx="476">
                  <c:v>15161.5344</c:v>
                </c:pt>
                <c:pt idx="477">
                  <c:v>15019.760050000001</c:v>
                </c:pt>
                <c:pt idx="478">
                  <c:v>10796.35025</c:v>
                </c:pt>
                <c:pt idx="479">
                  <c:v>11353.2276</c:v>
                </c:pt>
                <c:pt idx="480">
                  <c:v>9748.9105999999992</c:v>
                </c:pt>
                <c:pt idx="481">
                  <c:v>10577.087</c:v>
                </c:pt>
                <c:pt idx="482">
                  <c:v>11286.538699999999</c:v>
                </c:pt>
                <c:pt idx="483">
                  <c:v>11299.343000000001</c:v>
                </c:pt>
                <c:pt idx="484">
                  <c:v>23045.566159999998</c:v>
                </c:pt>
                <c:pt idx="485">
                  <c:v>11253.421</c:v>
                </c:pt>
                <c:pt idx="486">
                  <c:v>11363.2832</c:v>
                </c:pt>
                <c:pt idx="487">
                  <c:v>20420.604650000001</c:v>
                </c:pt>
                <c:pt idx="488">
                  <c:v>10338.9316</c:v>
                </c:pt>
                <c:pt idx="489">
                  <c:v>8988.1587500000005</c:v>
                </c:pt>
                <c:pt idx="490">
                  <c:v>10493.9458</c:v>
                </c:pt>
                <c:pt idx="491">
                  <c:v>8605.3615000000009</c:v>
                </c:pt>
                <c:pt idx="492">
                  <c:v>11512.405000000001</c:v>
                </c:pt>
                <c:pt idx="493">
                  <c:v>24180.933499999999</c:v>
                </c:pt>
                <c:pt idx="494">
                  <c:v>10807.4863</c:v>
                </c:pt>
                <c:pt idx="495">
                  <c:v>9222.4025999999994</c:v>
                </c:pt>
                <c:pt idx="496">
                  <c:v>8347.1643000000004</c:v>
                </c:pt>
                <c:pt idx="497">
                  <c:v>14254.608200000001</c:v>
                </c:pt>
                <c:pt idx="498">
                  <c:v>10214.636</c:v>
                </c:pt>
                <c:pt idx="499">
                  <c:v>20709.020339999999</c:v>
                </c:pt>
                <c:pt idx="500">
                  <c:v>9991.0376500000002</c:v>
                </c:pt>
                <c:pt idx="501">
                  <c:v>11085.586799999999</c:v>
                </c:pt>
                <c:pt idx="502">
                  <c:v>7623.518</c:v>
                </c:pt>
                <c:pt idx="503">
                  <c:v>9048.0272999999997</c:v>
                </c:pt>
                <c:pt idx="504">
                  <c:v>7954.5169999999998</c:v>
                </c:pt>
                <c:pt idx="505">
                  <c:v>27117.993780000001</c:v>
                </c:pt>
                <c:pt idx="506">
                  <c:v>9630.3970000000008</c:v>
                </c:pt>
                <c:pt idx="507">
                  <c:v>11289.10925</c:v>
                </c:pt>
                <c:pt idx="508">
                  <c:v>10791.96</c:v>
                </c:pt>
                <c:pt idx="509">
                  <c:v>5979.7309999999998</c:v>
                </c:pt>
                <c:pt idx="510">
                  <c:v>12235.8392</c:v>
                </c:pt>
                <c:pt idx="511">
                  <c:v>11015.1747</c:v>
                </c:pt>
                <c:pt idx="512">
                  <c:v>7727.2532000000001</c:v>
                </c:pt>
                <c:pt idx="513">
                  <c:v>10982.5013</c:v>
                </c:pt>
                <c:pt idx="514">
                  <c:v>22478.6</c:v>
                </c:pt>
                <c:pt idx="515">
                  <c:v>11093.6229</c:v>
                </c:pt>
                <c:pt idx="516">
                  <c:v>23887.662700000001</c:v>
                </c:pt>
                <c:pt idx="517">
                  <c:v>7650.7737500000003</c:v>
                </c:pt>
                <c:pt idx="518">
                  <c:v>9447.3824000000004</c:v>
                </c:pt>
                <c:pt idx="519">
                  <c:v>8603.8233999999993</c:v>
                </c:pt>
                <c:pt idx="520">
                  <c:v>13844.797200000001</c:v>
                </c:pt>
                <c:pt idx="521">
                  <c:v>21771.3423</c:v>
                </c:pt>
                <c:pt idx="522">
                  <c:v>13019.161050000001</c:v>
                </c:pt>
                <c:pt idx="523">
                  <c:v>8671.1912499999999</c:v>
                </c:pt>
                <c:pt idx="524">
                  <c:v>5699.8374999999996</c:v>
                </c:pt>
                <c:pt idx="525">
                  <c:v>8733.2292500000003</c:v>
                </c:pt>
                <c:pt idx="526">
                  <c:v>9964.06</c:v>
                </c:pt>
                <c:pt idx="527">
                  <c:v>12347.172</c:v>
                </c:pt>
                <c:pt idx="528">
                  <c:v>23563.016179999999</c:v>
                </c:pt>
                <c:pt idx="529">
                  <c:v>10806.839</c:v>
                </c:pt>
                <c:pt idx="530">
                  <c:v>8442.6669999999995</c:v>
                </c:pt>
                <c:pt idx="531">
                  <c:v>7162.0122000000001</c:v>
                </c:pt>
                <c:pt idx="532">
                  <c:v>10594.225700000001</c:v>
                </c:pt>
                <c:pt idx="533">
                  <c:v>11938.255950000001</c:v>
                </c:pt>
                <c:pt idx="534">
                  <c:v>12479.70895</c:v>
                </c:pt>
                <c:pt idx="535">
                  <c:v>11345.519</c:v>
                </c:pt>
                <c:pt idx="536">
                  <c:v>8515.7587000000003</c:v>
                </c:pt>
                <c:pt idx="537">
                  <c:v>14449.8544</c:v>
                </c:pt>
                <c:pt idx="538">
                  <c:v>12224.350850000001</c:v>
                </c:pt>
                <c:pt idx="539">
                  <c:v>9101.7980000000007</c:v>
                </c:pt>
                <c:pt idx="540">
                  <c:v>15828.82173</c:v>
                </c:pt>
                <c:pt idx="541">
                  <c:v>6474.0129999999999</c:v>
                </c:pt>
                <c:pt idx="542">
                  <c:v>11436.738149999999</c:v>
                </c:pt>
                <c:pt idx="543">
                  <c:v>11305.93455</c:v>
                </c:pt>
                <c:pt idx="544">
                  <c:v>10197.772199999999</c:v>
                </c:pt>
                <c:pt idx="545">
                  <c:v>7337.7479999999996</c:v>
                </c:pt>
                <c:pt idx="546">
                  <c:v>10370.912549999999</c:v>
                </c:pt>
                <c:pt idx="547">
                  <c:v>26926.5144</c:v>
                </c:pt>
                <c:pt idx="548">
                  <c:v>10704.47</c:v>
                </c:pt>
                <c:pt idx="549">
                  <c:v>8615.2999999999993</c:v>
                </c:pt>
                <c:pt idx="550">
                  <c:v>14478.33015</c:v>
                </c:pt>
                <c:pt idx="551">
                  <c:v>10959.33</c:v>
                </c:pt>
                <c:pt idx="552">
                  <c:v>22462.043750000001</c:v>
                </c:pt>
                <c:pt idx="553">
                  <c:v>8283.6807000000008</c:v>
                </c:pt>
                <c:pt idx="554">
                  <c:v>24535.698550000001</c:v>
                </c:pt>
                <c:pt idx="555">
                  <c:v>8534.6718000000001</c:v>
                </c:pt>
                <c:pt idx="556">
                  <c:v>7147.4727999999996</c:v>
                </c:pt>
                <c:pt idx="557">
                  <c:v>9301.8935500000007</c:v>
                </c:pt>
                <c:pt idx="558">
                  <c:v>11931.125249999999</c:v>
                </c:pt>
                <c:pt idx="559">
                  <c:v>21259.377949999998</c:v>
                </c:pt>
                <c:pt idx="560">
                  <c:v>6875.9610000000002</c:v>
                </c:pt>
                <c:pt idx="561">
                  <c:v>28101.333050000001</c:v>
                </c:pt>
                <c:pt idx="562">
                  <c:v>12981.3457</c:v>
                </c:pt>
                <c:pt idx="563">
                  <c:v>13143.336649999999</c:v>
                </c:pt>
                <c:pt idx="564">
                  <c:v>7050.0213000000003</c:v>
                </c:pt>
                <c:pt idx="565">
                  <c:v>9377.9046999999991</c:v>
                </c:pt>
                <c:pt idx="566">
                  <c:v>10325.206</c:v>
                </c:pt>
                <c:pt idx="567">
                  <c:v>12629.1656</c:v>
                </c:pt>
                <c:pt idx="568">
                  <c:v>11411.684999999999</c:v>
                </c:pt>
                <c:pt idx="569">
                  <c:v>10600.5483</c:v>
                </c:pt>
                <c:pt idx="570">
                  <c:v>29141.3603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9A9-4A0B-B407-43DEC477923B}"/>
            </c:ext>
          </c:extLst>
        </c:ser>
        <c:ser>
          <c:idx val="2"/>
          <c:order val="2"/>
          <c:tx>
            <c:v>Group 3</c:v>
          </c:tx>
          <c:spPr>
            <a:ln w="0">
              <a:noFill/>
            </a:ln>
          </c:spPr>
          <c:marker>
            <c:symbol val="square"/>
            <c:size val="4"/>
            <c:spPr>
              <a:solidFill>
                <a:srgbClr val="0D8A8A"/>
              </a:solidFill>
            </c:spPr>
          </c:marker>
          <c:xVal>
            <c:numRef>
              <c:f>'Chart Data'!$E$2:$E$163</c:f>
              <c:numCache>
                <c:formatCode>General</c:formatCode>
                <c:ptCount val="162"/>
                <c:pt idx="0">
                  <c:v>27</c:v>
                </c:pt>
                <c:pt idx="1">
                  <c:v>30</c:v>
                </c:pt>
                <c:pt idx="2">
                  <c:v>34</c:v>
                </c:pt>
                <c:pt idx="3">
                  <c:v>31</c:v>
                </c:pt>
                <c:pt idx="4">
                  <c:v>22</c:v>
                </c:pt>
                <c:pt idx="5">
                  <c:v>28</c:v>
                </c:pt>
                <c:pt idx="6">
                  <c:v>35</c:v>
                </c:pt>
                <c:pt idx="7">
                  <c:v>60</c:v>
                </c:pt>
                <c:pt idx="8">
                  <c:v>36</c:v>
                </c:pt>
                <c:pt idx="9">
                  <c:v>36</c:v>
                </c:pt>
                <c:pt idx="10">
                  <c:v>58</c:v>
                </c:pt>
                <c:pt idx="11">
                  <c:v>18</c:v>
                </c:pt>
                <c:pt idx="12">
                  <c:v>22</c:v>
                </c:pt>
                <c:pt idx="13">
                  <c:v>37</c:v>
                </c:pt>
                <c:pt idx="14">
                  <c:v>57</c:v>
                </c:pt>
                <c:pt idx="15">
                  <c:v>64</c:v>
                </c:pt>
                <c:pt idx="16">
                  <c:v>63</c:v>
                </c:pt>
                <c:pt idx="17">
                  <c:v>44</c:v>
                </c:pt>
                <c:pt idx="18">
                  <c:v>46</c:v>
                </c:pt>
                <c:pt idx="19">
                  <c:v>30</c:v>
                </c:pt>
                <c:pt idx="20">
                  <c:v>18</c:v>
                </c:pt>
                <c:pt idx="21">
                  <c:v>63</c:v>
                </c:pt>
                <c:pt idx="22">
                  <c:v>36</c:v>
                </c:pt>
                <c:pt idx="23">
                  <c:v>27</c:v>
                </c:pt>
                <c:pt idx="24">
                  <c:v>19</c:v>
                </c:pt>
                <c:pt idx="25">
                  <c:v>23</c:v>
                </c:pt>
                <c:pt idx="26">
                  <c:v>55</c:v>
                </c:pt>
                <c:pt idx="27">
                  <c:v>63</c:v>
                </c:pt>
                <c:pt idx="28">
                  <c:v>54</c:v>
                </c:pt>
                <c:pt idx="29">
                  <c:v>50</c:v>
                </c:pt>
                <c:pt idx="30">
                  <c:v>56</c:v>
                </c:pt>
                <c:pt idx="31">
                  <c:v>19</c:v>
                </c:pt>
                <c:pt idx="32">
                  <c:v>19</c:v>
                </c:pt>
                <c:pt idx="33">
                  <c:v>46</c:v>
                </c:pt>
                <c:pt idx="34">
                  <c:v>50</c:v>
                </c:pt>
                <c:pt idx="35">
                  <c:v>54</c:v>
                </c:pt>
                <c:pt idx="36">
                  <c:v>59</c:v>
                </c:pt>
                <c:pt idx="37">
                  <c:v>25</c:v>
                </c:pt>
                <c:pt idx="38">
                  <c:v>31</c:v>
                </c:pt>
                <c:pt idx="39">
                  <c:v>43</c:v>
                </c:pt>
                <c:pt idx="40">
                  <c:v>27</c:v>
                </c:pt>
                <c:pt idx="41">
                  <c:v>34</c:v>
                </c:pt>
                <c:pt idx="42">
                  <c:v>45</c:v>
                </c:pt>
                <c:pt idx="43">
                  <c:v>64</c:v>
                </c:pt>
                <c:pt idx="44">
                  <c:v>61</c:v>
                </c:pt>
                <c:pt idx="45">
                  <c:v>50</c:v>
                </c:pt>
                <c:pt idx="46">
                  <c:v>26</c:v>
                </c:pt>
                <c:pt idx="47">
                  <c:v>24</c:v>
                </c:pt>
                <c:pt idx="48">
                  <c:v>55</c:v>
                </c:pt>
                <c:pt idx="49">
                  <c:v>64</c:v>
                </c:pt>
                <c:pt idx="50">
                  <c:v>61</c:v>
                </c:pt>
                <c:pt idx="51">
                  <c:v>40</c:v>
                </c:pt>
                <c:pt idx="52">
                  <c:v>33</c:v>
                </c:pt>
                <c:pt idx="53">
                  <c:v>24</c:v>
                </c:pt>
                <c:pt idx="54">
                  <c:v>44</c:v>
                </c:pt>
                <c:pt idx="55">
                  <c:v>29</c:v>
                </c:pt>
                <c:pt idx="56">
                  <c:v>19</c:v>
                </c:pt>
                <c:pt idx="57">
                  <c:v>20</c:v>
                </c:pt>
                <c:pt idx="58">
                  <c:v>42</c:v>
                </c:pt>
                <c:pt idx="59">
                  <c:v>57</c:v>
                </c:pt>
                <c:pt idx="60">
                  <c:v>54</c:v>
                </c:pt>
                <c:pt idx="61">
                  <c:v>43</c:v>
                </c:pt>
                <c:pt idx="62">
                  <c:v>35</c:v>
                </c:pt>
                <c:pt idx="63">
                  <c:v>48</c:v>
                </c:pt>
                <c:pt idx="64">
                  <c:v>62</c:v>
                </c:pt>
                <c:pt idx="65">
                  <c:v>31</c:v>
                </c:pt>
                <c:pt idx="66">
                  <c:v>34</c:v>
                </c:pt>
                <c:pt idx="67">
                  <c:v>52</c:v>
                </c:pt>
                <c:pt idx="68">
                  <c:v>30</c:v>
                </c:pt>
                <c:pt idx="69">
                  <c:v>47</c:v>
                </c:pt>
                <c:pt idx="70">
                  <c:v>19</c:v>
                </c:pt>
                <c:pt idx="71">
                  <c:v>37</c:v>
                </c:pt>
                <c:pt idx="72">
                  <c:v>18</c:v>
                </c:pt>
                <c:pt idx="73">
                  <c:v>44</c:v>
                </c:pt>
                <c:pt idx="74">
                  <c:v>35</c:v>
                </c:pt>
                <c:pt idx="75">
                  <c:v>42</c:v>
                </c:pt>
                <c:pt idx="76">
                  <c:v>48</c:v>
                </c:pt>
                <c:pt idx="77">
                  <c:v>43</c:v>
                </c:pt>
                <c:pt idx="78">
                  <c:v>40</c:v>
                </c:pt>
                <c:pt idx="79">
                  <c:v>62</c:v>
                </c:pt>
                <c:pt idx="80">
                  <c:v>44</c:v>
                </c:pt>
                <c:pt idx="81">
                  <c:v>60</c:v>
                </c:pt>
                <c:pt idx="82">
                  <c:v>39</c:v>
                </c:pt>
                <c:pt idx="83">
                  <c:v>27</c:v>
                </c:pt>
                <c:pt idx="84">
                  <c:v>41</c:v>
                </c:pt>
                <c:pt idx="85">
                  <c:v>51</c:v>
                </c:pt>
                <c:pt idx="86">
                  <c:v>30</c:v>
                </c:pt>
                <c:pt idx="87">
                  <c:v>37</c:v>
                </c:pt>
                <c:pt idx="88">
                  <c:v>23</c:v>
                </c:pt>
                <c:pt idx="89">
                  <c:v>29</c:v>
                </c:pt>
                <c:pt idx="90">
                  <c:v>53</c:v>
                </c:pt>
                <c:pt idx="91">
                  <c:v>18</c:v>
                </c:pt>
                <c:pt idx="92">
                  <c:v>18</c:v>
                </c:pt>
                <c:pt idx="93">
                  <c:v>40</c:v>
                </c:pt>
                <c:pt idx="94">
                  <c:v>33</c:v>
                </c:pt>
                <c:pt idx="95">
                  <c:v>56</c:v>
                </c:pt>
                <c:pt idx="96">
                  <c:v>41</c:v>
                </c:pt>
                <c:pt idx="97">
                  <c:v>23</c:v>
                </c:pt>
                <c:pt idx="98">
                  <c:v>60</c:v>
                </c:pt>
                <c:pt idx="99">
                  <c:v>37</c:v>
                </c:pt>
                <c:pt idx="100">
                  <c:v>46</c:v>
                </c:pt>
                <c:pt idx="101">
                  <c:v>48</c:v>
                </c:pt>
                <c:pt idx="102">
                  <c:v>37</c:v>
                </c:pt>
                <c:pt idx="103">
                  <c:v>51</c:v>
                </c:pt>
                <c:pt idx="104">
                  <c:v>47</c:v>
                </c:pt>
                <c:pt idx="105">
                  <c:v>60</c:v>
                </c:pt>
                <c:pt idx="106">
                  <c:v>18</c:v>
                </c:pt>
                <c:pt idx="107">
                  <c:v>45</c:v>
                </c:pt>
                <c:pt idx="108">
                  <c:v>44</c:v>
                </c:pt>
                <c:pt idx="109">
                  <c:v>37</c:v>
                </c:pt>
                <c:pt idx="110">
                  <c:v>51</c:v>
                </c:pt>
                <c:pt idx="111">
                  <c:v>44</c:v>
                </c:pt>
                <c:pt idx="112">
                  <c:v>54</c:v>
                </c:pt>
                <c:pt idx="113">
                  <c:v>43</c:v>
                </c:pt>
                <c:pt idx="114">
                  <c:v>48</c:v>
                </c:pt>
                <c:pt idx="115">
                  <c:v>24</c:v>
                </c:pt>
                <c:pt idx="116">
                  <c:v>61</c:v>
                </c:pt>
                <c:pt idx="117">
                  <c:v>22</c:v>
                </c:pt>
                <c:pt idx="118">
                  <c:v>47</c:v>
                </c:pt>
                <c:pt idx="119">
                  <c:v>55</c:v>
                </c:pt>
                <c:pt idx="120">
                  <c:v>22</c:v>
                </c:pt>
                <c:pt idx="121">
                  <c:v>45</c:v>
                </c:pt>
                <c:pt idx="122">
                  <c:v>20</c:v>
                </c:pt>
                <c:pt idx="123">
                  <c:v>22</c:v>
                </c:pt>
                <c:pt idx="124">
                  <c:v>49</c:v>
                </c:pt>
                <c:pt idx="125">
                  <c:v>59</c:v>
                </c:pt>
                <c:pt idx="126">
                  <c:v>37</c:v>
                </c:pt>
                <c:pt idx="127">
                  <c:v>28</c:v>
                </c:pt>
                <c:pt idx="128">
                  <c:v>47</c:v>
                </c:pt>
                <c:pt idx="129">
                  <c:v>22</c:v>
                </c:pt>
                <c:pt idx="130">
                  <c:v>51</c:v>
                </c:pt>
                <c:pt idx="131">
                  <c:v>38</c:v>
                </c:pt>
                <c:pt idx="132">
                  <c:v>25</c:v>
                </c:pt>
                <c:pt idx="133">
                  <c:v>33</c:v>
                </c:pt>
                <c:pt idx="134">
                  <c:v>23</c:v>
                </c:pt>
                <c:pt idx="135">
                  <c:v>53</c:v>
                </c:pt>
                <c:pt idx="136">
                  <c:v>23</c:v>
                </c:pt>
                <c:pt idx="137">
                  <c:v>19</c:v>
                </c:pt>
                <c:pt idx="138">
                  <c:v>60</c:v>
                </c:pt>
                <c:pt idx="139">
                  <c:v>43</c:v>
                </c:pt>
                <c:pt idx="140">
                  <c:v>19</c:v>
                </c:pt>
                <c:pt idx="141">
                  <c:v>20</c:v>
                </c:pt>
                <c:pt idx="142">
                  <c:v>19</c:v>
                </c:pt>
                <c:pt idx="143">
                  <c:v>59</c:v>
                </c:pt>
                <c:pt idx="144">
                  <c:v>36</c:v>
                </c:pt>
                <c:pt idx="145">
                  <c:v>46</c:v>
                </c:pt>
                <c:pt idx="146">
                  <c:v>52</c:v>
                </c:pt>
                <c:pt idx="147">
                  <c:v>52</c:v>
                </c:pt>
                <c:pt idx="148">
                  <c:v>64</c:v>
                </c:pt>
                <c:pt idx="149">
                  <c:v>32</c:v>
                </c:pt>
                <c:pt idx="150">
                  <c:v>55</c:v>
                </c:pt>
                <c:pt idx="151">
                  <c:v>24</c:v>
                </c:pt>
                <c:pt idx="152">
                  <c:v>61</c:v>
                </c:pt>
                <c:pt idx="153">
                  <c:v>20</c:v>
                </c:pt>
                <c:pt idx="154">
                  <c:v>19</c:v>
                </c:pt>
                <c:pt idx="155">
                  <c:v>45</c:v>
                </c:pt>
                <c:pt idx="156">
                  <c:v>62</c:v>
                </c:pt>
                <c:pt idx="157">
                  <c:v>43</c:v>
                </c:pt>
                <c:pt idx="158">
                  <c:v>25</c:v>
                </c:pt>
                <c:pt idx="159">
                  <c:v>19</c:v>
                </c:pt>
                <c:pt idx="160">
                  <c:v>35</c:v>
                </c:pt>
                <c:pt idx="161">
                  <c:v>42</c:v>
                </c:pt>
              </c:numCache>
            </c:numRef>
          </c:xVal>
          <c:yVal>
            <c:numRef>
              <c:f>'Chart Data'!$F$2:$F$163</c:f>
              <c:numCache>
                <c:formatCode>\$#,##0</c:formatCode>
                <c:ptCount val="162"/>
                <c:pt idx="0">
                  <c:v>39611.757700000002</c:v>
                </c:pt>
                <c:pt idx="1">
                  <c:v>36837.466999999997</c:v>
                </c:pt>
                <c:pt idx="2">
                  <c:v>37701.876799999998</c:v>
                </c:pt>
                <c:pt idx="3">
                  <c:v>38711</c:v>
                </c:pt>
                <c:pt idx="4">
                  <c:v>35585.576000000001</c:v>
                </c:pt>
                <c:pt idx="5">
                  <c:v>51194.559139999998</c:v>
                </c:pt>
                <c:pt idx="6">
                  <c:v>39774.276299999998</c:v>
                </c:pt>
                <c:pt idx="7">
                  <c:v>48173.360999999997</c:v>
                </c:pt>
                <c:pt idx="8">
                  <c:v>38709.175999999999</c:v>
                </c:pt>
                <c:pt idx="9">
                  <c:v>37742.575700000001</c:v>
                </c:pt>
                <c:pt idx="10">
                  <c:v>47496.494449999998</c:v>
                </c:pt>
                <c:pt idx="11">
                  <c:v>34303.167200000004</c:v>
                </c:pt>
                <c:pt idx="12">
                  <c:v>37165.163800000002</c:v>
                </c:pt>
                <c:pt idx="13">
                  <c:v>39836.519</c:v>
                </c:pt>
                <c:pt idx="14">
                  <c:v>43578.939400000003</c:v>
                </c:pt>
                <c:pt idx="15">
                  <c:v>47291.055</c:v>
                </c:pt>
                <c:pt idx="16">
                  <c:v>47055.532099999997</c:v>
                </c:pt>
                <c:pt idx="17">
                  <c:v>39556.494500000001</c:v>
                </c:pt>
                <c:pt idx="18">
                  <c:v>40720.551050000002</c:v>
                </c:pt>
                <c:pt idx="19">
                  <c:v>36950.256699999998</c:v>
                </c:pt>
                <c:pt idx="20">
                  <c:v>36149.483500000002</c:v>
                </c:pt>
                <c:pt idx="21">
                  <c:v>48824.45</c:v>
                </c:pt>
                <c:pt idx="22">
                  <c:v>43753.337050000002</c:v>
                </c:pt>
                <c:pt idx="23">
                  <c:v>37133.898200000003</c:v>
                </c:pt>
                <c:pt idx="24">
                  <c:v>34779.614999999998</c:v>
                </c:pt>
                <c:pt idx="25">
                  <c:v>38511.628299999997</c:v>
                </c:pt>
                <c:pt idx="26">
                  <c:v>35160.134570000002</c:v>
                </c:pt>
                <c:pt idx="27">
                  <c:v>47305.305</c:v>
                </c:pt>
                <c:pt idx="28">
                  <c:v>44260.749900000003</c:v>
                </c:pt>
                <c:pt idx="29">
                  <c:v>41097.161749999999</c:v>
                </c:pt>
                <c:pt idx="30">
                  <c:v>43921.183700000001</c:v>
                </c:pt>
                <c:pt idx="31">
                  <c:v>33750.291799999999</c:v>
                </c:pt>
                <c:pt idx="32">
                  <c:v>36219.405449999998</c:v>
                </c:pt>
                <c:pt idx="33">
                  <c:v>46151.124499999998</c:v>
                </c:pt>
                <c:pt idx="34">
                  <c:v>42856.838000000003</c:v>
                </c:pt>
                <c:pt idx="35">
                  <c:v>48549.178350000002</c:v>
                </c:pt>
                <c:pt idx="36">
                  <c:v>47896.79135</c:v>
                </c:pt>
                <c:pt idx="37">
                  <c:v>42112.2356</c:v>
                </c:pt>
                <c:pt idx="38">
                  <c:v>38746.355100000001</c:v>
                </c:pt>
                <c:pt idx="39">
                  <c:v>42124.515299999999</c:v>
                </c:pt>
                <c:pt idx="40">
                  <c:v>34838.873</c:v>
                </c:pt>
                <c:pt idx="41">
                  <c:v>35491.64</c:v>
                </c:pt>
                <c:pt idx="42">
                  <c:v>42760.502200000003</c:v>
                </c:pt>
                <c:pt idx="43">
                  <c:v>47928.03</c:v>
                </c:pt>
                <c:pt idx="44">
                  <c:v>48517.563150000002</c:v>
                </c:pt>
                <c:pt idx="45">
                  <c:v>41919.097000000002</c:v>
                </c:pt>
                <c:pt idx="46">
                  <c:v>36085.218999999997</c:v>
                </c:pt>
                <c:pt idx="47">
                  <c:v>38126.246500000001</c:v>
                </c:pt>
                <c:pt idx="48">
                  <c:v>42303.692150000003</c:v>
                </c:pt>
                <c:pt idx="49">
                  <c:v>46889.261200000001</c:v>
                </c:pt>
                <c:pt idx="50">
                  <c:v>46599.108399999997</c:v>
                </c:pt>
                <c:pt idx="51">
                  <c:v>39125.332249999999</c:v>
                </c:pt>
                <c:pt idx="52">
                  <c:v>37079.372000000003</c:v>
                </c:pt>
                <c:pt idx="53">
                  <c:v>35147.528480000001</c:v>
                </c:pt>
                <c:pt idx="54">
                  <c:v>48885.135609999998</c:v>
                </c:pt>
                <c:pt idx="55">
                  <c:v>36197.699000000001</c:v>
                </c:pt>
                <c:pt idx="56">
                  <c:v>32548.340499999998</c:v>
                </c:pt>
                <c:pt idx="57">
                  <c:v>27724.28875</c:v>
                </c:pt>
                <c:pt idx="58">
                  <c:v>38245.593269999998</c:v>
                </c:pt>
                <c:pt idx="59">
                  <c:v>48675.517699999997</c:v>
                </c:pt>
                <c:pt idx="60">
                  <c:v>63770.428010000003</c:v>
                </c:pt>
                <c:pt idx="61">
                  <c:v>45863.205000000002</c:v>
                </c:pt>
                <c:pt idx="62">
                  <c:v>39983.425949999997</c:v>
                </c:pt>
                <c:pt idx="63">
                  <c:v>45702.022349999999</c:v>
                </c:pt>
                <c:pt idx="64">
                  <c:v>31620.001059999999</c:v>
                </c:pt>
                <c:pt idx="65">
                  <c:v>58571.074480000003</c:v>
                </c:pt>
                <c:pt idx="66">
                  <c:v>43943.876100000001</c:v>
                </c:pt>
                <c:pt idx="67">
                  <c:v>33471.971890000001</c:v>
                </c:pt>
                <c:pt idx="68">
                  <c:v>39241.442000000003</c:v>
                </c:pt>
                <c:pt idx="69">
                  <c:v>42969.852700000003</c:v>
                </c:pt>
                <c:pt idx="70">
                  <c:v>34439.855900000002</c:v>
                </c:pt>
                <c:pt idx="71">
                  <c:v>40182.245999999999</c:v>
                </c:pt>
                <c:pt idx="72">
                  <c:v>34617.840649999998</c:v>
                </c:pt>
                <c:pt idx="73">
                  <c:v>42983.458500000001</c:v>
                </c:pt>
                <c:pt idx="74">
                  <c:v>24915.046259999999</c:v>
                </c:pt>
                <c:pt idx="75">
                  <c:v>32787.458590000002</c:v>
                </c:pt>
                <c:pt idx="76">
                  <c:v>26392.260289999998</c:v>
                </c:pt>
                <c:pt idx="77">
                  <c:v>42560.430399999997</c:v>
                </c:pt>
                <c:pt idx="78">
                  <c:v>40003.332249999999</c:v>
                </c:pt>
                <c:pt idx="79">
                  <c:v>45710.207849999999</c:v>
                </c:pt>
                <c:pt idx="80">
                  <c:v>46200.985099999998</c:v>
                </c:pt>
                <c:pt idx="81">
                  <c:v>46130.5265</c:v>
                </c:pt>
                <c:pt idx="82">
                  <c:v>40103.89</c:v>
                </c:pt>
                <c:pt idx="83">
                  <c:v>34806.467700000001</c:v>
                </c:pt>
                <c:pt idx="84">
                  <c:v>40273.645499999999</c:v>
                </c:pt>
                <c:pt idx="85">
                  <c:v>44400.4064</c:v>
                </c:pt>
                <c:pt idx="86">
                  <c:v>40932.429499999998</c:v>
                </c:pt>
                <c:pt idx="87">
                  <c:v>40419.019099999998</c:v>
                </c:pt>
                <c:pt idx="88">
                  <c:v>36189.101699999999</c:v>
                </c:pt>
                <c:pt idx="89">
                  <c:v>44585.455869999998</c:v>
                </c:pt>
                <c:pt idx="90">
                  <c:v>43254.417950000003</c:v>
                </c:pt>
                <c:pt idx="91">
                  <c:v>36307.798300000002</c:v>
                </c:pt>
                <c:pt idx="92">
                  <c:v>38792.685599999997</c:v>
                </c:pt>
                <c:pt idx="93">
                  <c:v>28476.734990000001</c:v>
                </c:pt>
                <c:pt idx="94">
                  <c:v>55135.402090000003</c:v>
                </c:pt>
                <c:pt idx="95">
                  <c:v>43813.866099999999</c:v>
                </c:pt>
                <c:pt idx="96">
                  <c:v>39597.407200000001</c:v>
                </c:pt>
                <c:pt idx="97">
                  <c:v>36021.011200000001</c:v>
                </c:pt>
                <c:pt idx="98">
                  <c:v>45008.955499999996</c:v>
                </c:pt>
                <c:pt idx="99">
                  <c:v>37270.1512</c:v>
                </c:pt>
                <c:pt idx="100">
                  <c:v>42111.664700000001</c:v>
                </c:pt>
                <c:pt idx="101">
                  <c:v>40974.164900000003</c:v>
                </c:pt>
                <c:pt idx="102">
                  <c:v>46113.510999999999</c:v>
                </c:pt>
                <c:pt idx="103">
                  <c:v>46255.112500000003</c:v>
                </c:pt>
                <c:pt idx="104">
                  <c:v>44202.653599999998</c:v>
                </c:pt>
                <c:pt idx="105">
                  <c:v>48673.558799999999</c:v>
                </c:pt>
                <c:pt idx="106">
                  <c:v>33732.686699999998</c:v>
                </c:pt>
                <c:pt idx="107">
                  <c:v>35069.374519999998</c:v>
                </c:pt>
                <c:pt idx="108">
                  <c:v>32108.662820000001</c:v>
                </c:pt>
                <c:pt idx="109">
                  <c:v>39047.285000000003</c:v>
                </c:pt>
                <c:pt idx="110">
                  <c:v>47462.894</c:v>
                </c:pt>
                <c:pt idx="111">
                  <c:v>38998.546000000002</c:v>
                </c:pt>
                <c:pt idx="112">
                  <c:v>41999.519999999997</c:v>
                </c:pt>
                <c:pt idx="113">
                  <c:v>41034.221400000002</c:v>
                </c:pt>
                <c:pt idx="114">
                  <c:v>28468.919010000001</c:v>
                </c:pt>
                <c:pt idx="115">
                  <c:v>34472.841</c:v>
                </c:pt>
                <c:pt idx="116">
                  <c:v>36580.282160000002</c:v>
                </c:pt>
                <c:pt idx="117">
                  <c:v>35595.589800000002</c:v>
                </c:pt>
                <c:pt idx="118">
                  <c:v>42211.138200000001</c:v>
                </c:pt>
                <c:pt idx="119">
                  <c:v>44423.803</c:v>
                </c:pt>
                <c:pt idx="120">
                  <c:v>37484.4493</c:v>
                </c:pt>
                <c:pt idx="121">
                  <c:v>39725.518049999999</c:v>
                </c:pt>
                <c:pt idx="122">
                  <c:v>33475.817150000003</c:v>
                </c:pt>
                <c:pt idx="123">
                  <c:v>44501.398200000003</c:v>
                </c:pt>
                <c:pt idx="124">
                  <c:v>39727.614000000001</c:v>
                </c:pt>
                <c:pt idx="125">
                  <c:v>48970.247600000002</c:v>
                </c:pt>
                <c:pt idx="126">
                  <c:v>39871.704299999998</c:v>
                </c:pt>
                <c:pt idx="127">
                  <c:v>34672.147199999999</c:v>
                </c:pt>
                <c:pt idx="128">
                  <c:v>41676.081100000003</c:v>
                </c:pt>
                <c:pt idx="129">
                  <c:v>33907.548000000003</c:v>
                </c:pt>
                <c:pt idx="130">
                  <c:v>44641.197399999997</c:v>
                </c:pt>
                <c:pt idx="131">
                  <c:v>41949.244100000004</c:v>
                </c:pt>
                <c:pt idx="132">
                  <c:v>36124.573700000001</c:v>
                </c:pt>
                <c:pt idx="133">
                  <c:v>38282.749499999998</c:v>
                </c:pt>
                <c:pt idx="134">
                  <c:v>34166.273000000001</c:v>
                </c:pt>
                <c:pt idx="135">
                  <c:v>46661.4424</c:v>
                </c:pt>
                <c:pt idx="136">
                  <c:v>40904.199500000002</c:v>
                </c:pt>
                <c:pt idx="137">
                  <c:v>36898.733079999998</c:v>
                </c:pt>
                <c:pt idx="138">
                  <c:v>52590.829389999999</c:v>
                </c:pt>
                <c:pt idx="139">
                  <c:v>40941.285400000001</c:v>
                </c:pt>
                <c:pt idx="140">
                  <c:v>39722.746200000001</c:v>
                </c:pt>
                <c:pt idx="141">
                  <c:v>37465.34375</c:v>
                </c:pt>
                <c:pt idx="142">
                  <c:v>33307.550799999997</c:v>
                </c:pt>
                <c:pt idx="143">
                  <c:v>36910.608030000003</c:v>
                </c:pt>
                <c:pt idx="144">
                  <c:v>38415.474000000002</c:v>
                </c:pt>
                <c:pt idx="145">
                  <c:v>41661.601999999999</c:v>
                </c:pt>
                <c:pt idx="146">
                  <c:v>60021.398970000002</c:v>
                </c:pt>
                <c:pt idx="147">
                  <c:v>47269.853999999999</c:v>
                </c:pt>
                <c:pt idx="148">
                  <c:v>49577.662400000001</c:v>
                </c:pt>
                <c:pt idx="149">
                  <c:v>37607.527699999999</c:v>
                </c:pt>
                <c:pt idx="150">
                  <c:v>30063.580549999999</c:v>
                </c:pt>
                <c:pt idx="151">
                  <c:v>34254.053350000002</c:v>
                </c:pt>
                <c:pt idx="152">
                  <c:v>47403.88</c:v>
                </c:pt>
                <c:pt idx="153">
                  <c:v>38344.565999999999</c:v>
                </c:pt>
                <c:pt idx="154">
                  <c:v>34828.654000000002</c:v>
                </c:pt>
                <c:pt idx="155">
                  <c:v>62592.873090000001</c:v>
                </c:pt>
                <c:pt idx="156">
                  <c:v>46718.163249999998</c:v>
                </c:pt>
                <c:pt idx="157">
                  <c:v>37829.724199999997</c:v>
                </c:pt>
                <c:pt idx="158">
                  <c:v>33900.652999999998</c:v>
                </c:pt>
                <c:pt idx="159">
                  <c:v>36397.576000000001</c:v>
                </c:pt>
                <c:pt idx="160">
                  <c:v>19496.71917</c:v>
                </c:pt>
                <c:pt idx="161">
                  <c:v>43896.376300000004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9A9-4A0B-B407-43DEC477923B}"/>
            </c:ext>
          </c:extLst>
        </c:ser>
        <c:ser>
          <c:idx val="3"/>
          <c:order val="3"/>
          <c:tx>
            <c:v>Centre 1</c:v>
          </c:tx>
          <c:spPr>
            <a:ln w="0">
              <a:noFill/>
            </a:ln>
          </c:spPr>
          <c:marker>
            <c:symbol val="diamond"/>
            <c:size val="16"/>
            <c:spPr>
              <a:solidFill>
                <a:srgbClr val="FFFFFF"/>
              </a:solidFill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27.344370999999999</c:v>
                </c:pt>
              </c:numCache>
            </c:numRef>
          </c:xVal>
          <c:yVal>
            <c:numRef>
              <c:f>'Chart Data'!$H$2:$H$2</c:f>
              <c:numCache>
                <c:formatCode>\$#,##0</c:formatCode>
                <c:ptCount val="1"/>
                <c:pt idx="0">
                  <c:v>6433.0065569999997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9A9-4A0B-B407-43DEC477923B}"/>
            </c:ext>
          </c:extLst>
        </c:ser>
        <c:ser>
          <c:idx val="4"/>
          <c:order val="4"/>
          <c:tx>
            <c:v>Centre 2</c:v>
          </c:tx>
          <c:spPr>
            <a:ln w="0">
              <a:noFill/>
            </a:ln>
          </c:spPr>
          <c:marker>
            <c:symbol val="diamond"/>
            <c:size val="16"/>
            <c:spPr>
              <a:solidFill>
                <a:srgbClr val="FFFFFF"/>
              </a:solidFill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51.633975</c:v>
                </c:pt>
              </c:numCache>
            </c:numRef>
          </c:xVal>
          <c:yVal>
            <c:numRef>
              <c:f>'Chart Data'!$J$2:$J$2</c:f>
              <c:numCache>
                <c:formatCode>\$#,##0</c:formatCode>
                <c:ptCount val="1"/>
                <c:pt idx="0">
                  <c:v>12774.809254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9A9-4A0B-B407-43DEC477923B}"/>
            </c:ext>
          </c:extLst>
        </c:ser>
        <c:ser>
          <c:idx val="5"/>
          <c:order val="5"/>
          <c:tx>
            <c:v>Centre 3</c:v>
          </c:tx>
          <c:spPr>
            <a:ln w="0">
              <a:noFill/>
            </a:ln>
          </c:spPr>
          <c:marker>
            <c:symbol val="diamond"/>
            <c:size val="16"/>
            <c:spPr>
              <a:solidFill>
                <a:srgbClr val="FFFFFF"/>
              </a:solidFill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39.759259</c:v>
                </c:pt>
              </c:numCache>
            </c:numRef>
          </c:xVal>
          <c:yVal>
            <c:numRef>
              <c:f>'Chart Data'!$L$2:$L$2</c:f>
              <c:numCache>
                <c:formatCode>\$#,##0</c:formatCode>
                <c:ptCount val="1"/>
                <c:pt idx="0">
                  <c:v>40581.687552000003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9A9-4A0B-B407-43DEC47792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000"/>
          <c:min val="0"/>
        </c:scaling>
        <c:delete val="0"/>
        <c:axPos val="l"/>
        <c:majorGridlines>
          <c:spPr>
            <a:ln w="8890">
              <a:solidFill>
                <a:srgbClr val="D5DD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900">
                    <a:latin typeface="Arial"/>
                    <a:ea typeface="Arial"/>
                    <a:cs typeface="Arial"/>
                  </a:rPr>
                  <a:t>Medical charges ($)</a:t>
                </a:r>
              </a:p>
            </c:rich>
          </c:tx>
          <c:overlay val="0"/>
        </c:title>
        <c:numFmt formatCode="\$#,##0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20000"/>
      </c:valAx>
      <c:valAx>
        <c:axId val="48650112"/>
        <c:scaling>
          <c:orientation val="minMax"/>
          <c:max val="67"/>
          <c:min val="15"/>
        </c:scaling>
        <c:delete val="0"/>
        <c:axPos val="b"/>
        <c:title>
          <c:tx>
            <c:rich>
              <a:bodyPr/>
              <a:lstStyle/>
              <a:p>
                <a:r>
                  <a:rPr sz="1900">
                    <a:latin typeface="Arial"/>
                    <a:ea typeface="Arial"/>
                    <a:cs typeface="Arial"/>
                  </a:rPr>
                  <a:t>Age (years)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>
            <a:solidFill>
              <a:srgbClr val="D5DDE2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10"/>
      </c:valAx>
      <c:spPr>
        <a:solidFill>
          <a:srgbClr val="F4F6F7"/>
        </a:solidFill>
      </c:spPr>
    </c:plotArea>
    <c:plotVisOnly val="1"/>
    <c:dispBlanksAs val="zero"/>
    <c:showDLblsOverMax val="1"/>
  </c:chart>
  <c:spPr>
    <a:solidFill>
      <a:srgbClr val="F4F6F7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presentation explains the final project results directly on the slides. The final slide contains the complete decision tree as an additional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cleaned file has 1,337 rows and nine columns. The encoded/scaled file has 17 columns. One-hot encoding and appropriate scaling were completed. The IQR rule flagged 145 distinct records across BMI and charges, but no confirmed errors justified removing them.</a:t>
            </a:r>
          </a:p>
          <a:p>
            <a:r>
              <a:t>Source: Data preprocessing and exploratory analysis.ipynb.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Correlations are rounded Pearson correlations from all 1,337 cleaned records. A low pairwise correlation does not exclude joint or nonlinear predictive value.</a:t>
            </a:r>
          </a:p>
          <a:p>
            <a:r>
              <a:t>Source: Data preprocessing and exploratory analysis.ipynb.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two-sided t-test. t=9.901, df=1,336. The mean’s 95% confidence interval is $12,629.39–$13,928.85. Independence and appropriate sampling remain assumptions.</a:t>
            </a:r>
          </a:p>
          <a:p>
            <a:r>
              <a:t>Source: Hypothesis testing and statistical inference.ipynb.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alternatives were two-sided, not selected after inspecting the result. Welch’s test does not assume equal variances. The mean difference’s 95% interval is $22,190.79–$25,028.35.</a:t>
            </a:r>
          </a:p>
          <a:p>
            <a:r>
              <a:t>Source: Hypothesis testing and statistical inference.ipynb.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exact observed percentages are 20.07% and 20.81%. Pearson chi-square without continuity correction: statistic 0.111, df=1, p=0.739517. All expected counts were above 5.</a:t>
            </a:r>
          </a:p>
          <a:p>
            <a:r>
              <a:t>Source: Hypothesis testing and statistical inference.ipynb.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OLS coefficients and overall F-test were significant, including the HC3 robust sensitivity check. Classical overall F=941.627, p=5.87665e-299. All inputs are in original units.</a:t>
            </a:r>
          </a:p>
          <a:p>
            <a:r>
              <a:t>Source: Predictive modelling &amp; regression analysis.ipynb.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MAE=$4,191.70, RMSE=$5,986.78; mean-only baseline RMSE=$13,612.43. Negative predictions were retained in evaluation.</a:t>
            </a:r>
          </a:p>
          <a:p>
            <a:r>
              <a:t>Source: Predictive modelling &amp; regression analysis.ipynb.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model uses actual charges, age and BMI. This task is retrospective classification; charges must already be available. The 70% example illustrates the threshold and is not an additional test result.</a:t>
            </a:r>
          </a:p>
          <a:p>
            <a:r>
              <a:t>Source: Predictive modelling &amp; regression analysis.ipynb.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Precision 0.929, recall 0.945, F1 0.937, ROC-AUC 0.996. Classifier trained/tested with stratified 80/20 split, random_state42.</a:t>
            </a:r>
          </a:p>
          <a:p>
            <a:r>
              <a:t>Source: Predictive modelling &amp; regression analysis.ipynb.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an explicitly partial view: top two levels of the final depth-5 tree. No box in the bottom row is labelled as a final prediction. Exact thresholds 15374.252441,14525.110352,33602.330078 are rounded for reading. Full tree on slide 24.</a:t>
            </a:r>
          </a:p>
          <a:p>
            <a:r>
              <a:t>Source: Supervised machine learning with decision trees.ipynb.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Examples are hypothetical and not evidence that every record with those values has that smoking status. Exact rule A: charges≤14525.110352 and BMI&gt;21.727500 yields No. Exact rule B: charges&gt;33602.330078 and BMI&gt;27.650000 and age≤58.5 yields Yes. Cutoffs are rounded on the slide.</a:t>
            </a:r>
          </a:p>
          <a:p>
            <a:r>
              <a:t>Source: Supervised machine learning with decision trees.ipynb.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Initial stratified split: 801 training, 268 validation, 268 test. Baseline reached depth 10, then we tested depths 5 and 2. All other settings were fixed.</a:t>
            </a:r>
          </a:p>
          <a:p>
            <a:r>
              <a:t>Source: Supervised machine learning with decision trees.ipynb.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unique candidates were evaluated because the unrestricted/leafsize1 baseline was shared. The result does not establish a universally optimal hyperparameter choice.</a:t>
            </a:r>
          </a:p>
          <a:p>
            <a:r>
              <a:t>Source: Supervised machine learning with decision trees.ipynb.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model: 31 nodes, 16 leaves, minimum leaf size 1, depth 5. Precision 0.944, recall 0.927, F1 0.936, AUC 0.979. Logistic has 4 false positives and 3 false negatives; the tree has 3 false positives and 4 false negatives. Exactly extracted rules match predictions/probabilities.</a:t>
            </a:r>
          </a:p>
          <a:p>
            <a:r>
              <a:t>Source: Supervised machine learning with decision trees.ipynb.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1,337 records were used for exploratory clustering. StandardScaler fitted age, BMI and charges. No held-out classification accuracy is claimed. n_init=20, random_state=42.</a:t>
            </a:r>
          </a:p>
          <a:p>
            <a:r>
              <a:t>Source: Unsupervised learning with K-means clustering.ipynb.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Scores for k=2–6 are 0.306366, 0.347493, 0.338924, 0.321750 and 0.321951. Selection used the highest tested score, with the elbow plot as a supporting check.</a:t>
            </a:r>
          </a:p>
          <a:p>
            <a:r>
              <a:t>Source: Unsupervised learning with K-means clustering.ipynb.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k=1 fit is an elbow reference; silhouette is undefined for k=1. Inertia uses standardized features.</a:t>
            </a:r>
          </a:p>
          <a:p>
            <a:r>
              <a:t>Source: Unsupervised learning with K-means clustering.ipynb.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Points and centres come from the verified k=3 result. Cluster labels are ordered by mean charges. This is one projection of clustering in three standardized dimensions.</a:t>
            </a:r>
          </a:p>
          <a:p>
            <a:r>
              <a:t>Source: Unsupervised learning with K-means clustering.ipynb.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means and group smoking percentages were verified against saved results. Centres represent mean positions, not real people. Group labels are not clinical risk categories.</a:t>
            </a:r>
          </a:p>
          <a:p>
            <a:r>
              <a:t>Source: Unsupervised learning with K-means clustering.ipynb.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essential conclusions are on the slide; the following slide is the complete tree for reference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diagram uses all 31 nodes of the final fitted tree: 16 leaves, maximum depth 5. Y and N are answers at branches; YES/NO terminal boxes are predictions. Thresholds are rounded for reading; code and rules retain full precision.</a:t>
            </a:r>
          </a:p>
          <a:p>
            <a:r>
              <a:t>Source: Supervised machine learning with decision trees.ipynb. Dataset: https://www.kaggle.com/datasets/mirichoi0218/insurance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795C9BC-58BE-431A-8CF4-E7D5B8A5C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454400"/>
            <a:ext cx="13004800" cy="132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1F80EC9-7EBA-4172-89EC-CE1A788EF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0" y="5029200"/>
            <a:ext cx="11379200" cy="1016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696FB93-3127-4861-9504-4CDBDE04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810000"/>
            <a:ext cx="13004800" cy="15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78BC816-7DCF-4859-A147-9739EC540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11200"/>
            <a:ext cx="14427200" cy="1117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5044887-6DDB-4DEB-8041-AAA82BFC3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540000"/>
            <a:ext cx="14427200" cy="5689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48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1pPr>
            <a:lvl2pPr marL="7112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2pPr>
            <a:lvl3pPr marL="11176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3pPr>
            <a:lvl4pPr marL="15240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4pPr>
            <a:lvl5pPr marL="19304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5pPr>
            <a:lvl6pPr marL="23368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6pPr>
            <a:lvl7pPr marL="27432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7pPr>
            <a:lvl8pPr marL="31496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8pPr>
            <a:lvl9pPr marL="35560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8D15EE9-3FCA-4100-9779-7044D270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11200"/>
            <a:ext cx="14427200" cy="1117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0BFF85E-7B1D-4394-8C29-005334702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540000"/>
            <a:ext cx="6705600" cy="5689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48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1pPr>
            <a:lvl2pPr marL="7112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2pPr>
            <a:lvl3pPr marL="11176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3pPr>
            <a:lvl4pPr marL="15240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4pPr>
            <a:lvl5pPr marL="19304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5pPr>
            <a:lvl6pPr marL="23368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6pPr>
            <a:lvl7pPr marL="27432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7pPr>
            <a:lvl8pPr marL="31496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8pPr>
            <a:lvl9pPr marL="35560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BB029D8-E1DE-43DF-824D-60C85FA1C82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636000" y="2540000"/>
            <a:ext cx="6705600" cy="5689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48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1pPr>
            <a:lvl2pPr marL="7112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2pPr>
            <a:lvl3pPr marL="11176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3pPr>
            <a:lvl4pPr marL="15240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4pPr>
            <a:lvl5pPr marL="19304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5pPr>
            <a:lvl6pPr marL="23368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6pPr>
            <a:lvl7pPr marL="27432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7pPr>
            <a:lvl8pPr marL="31496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8pPr>
            <a:lvl9pPr marL="35560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8E8D261-22CC-4933-8306-081B0C83A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11200"/>
            <a:ext cx="14427200" cy="1117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5616D03-843B-40F8-83B1-006D04ACD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540000"/>
            <a:ext cx="6705600" cy="5689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048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1pPr>
            <a:lvl2pPr marL="7112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2pPr>
            <a:lvl3pPr marL="11176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3pPr>
            <a:lvl4pPr marL="15240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4pPr>
            <a:lvl5pPr marL="19304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5pPr>
            <a:lvl6pPr marL="23368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6pPr>
            <a:lvl7pPr marL="27432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7pPr>
            <a:lvl8pPr marL="31496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8pPr>
            <a:lvl9pPr marL="3556000" indent="-3048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5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">
            <a:extLst>
              <a:ext uri="{FF2B5EF4-FFF2-40B4-BE49-F238E27FC236}">
                <a16:creationId xmlns:a16="http://schemas.microsoft.com/office/drawing/2014/main" id="{36FF527C-3E48-4EC6-A740-2C8E09B72839}"/>
              </a:ext>
            </a:extLst>
          </p:cNvPr>
          <p:cNvSpPr>
            <a:spLocks noGrp="1"/>
          </p:cNvSpPr>
          <p:nvPr/>
        </p:nvSpPr>
        <p:spPr>
          <a:xfrm>
            <a:off x="787400" y="901700"/>
            <a:ext cx="13970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SCHOOL PROJECT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C57CC6CD-9243-4C18-BEC7-F6ABFB2FFFA0}"/>
              </a:ext>
            </a:extLst>
          </p:cNvPr>
          <p:cNvSpPr>
            <a:spLocks noGrp="1"/>
          </p:cNvSpPr>
          <p:nvPr/>
        </p:nvSpPr>
        <p:spPr>
          <a:xfrm>
            <a:off x="787400" y="2273300"/>
            <a:ext cx="14605000" cy="205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6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Medical Insurance</a:t>
            </a:r>
          </a:p>
          <a:p>
            <a:pPr algn="l">
              <a:defRPr sz="6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F184EB30-7567-4F6F-96E2-90C886497DC0}"/>
              </a:ext>
            </a:extLst>
          </p:cNvPr>
          <p:cNvSpPr>
            <a:spLocks noGrp="1"/>
          </p:cNvSpPr>
          <p:nvPr/>
        </p:nvSpPr>
        <p:spPr>
          <a:xfrm>
            <a:off x="825500" y="4737100"/>
            <a:ext cx="14605000" cy="1130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affects charges? Can we predict and group records?</a:t>
            </a:r>
          </a:p>
        </p:txBody>
      </p:sp>
      <p:sp>
        <p:nvSpPr>
          <p:cNvPr id="4" name="block-4">
            <a:extLst>
              <a:ext uri="{FF2B5EF4-FFF2-40B4-BE49-F238E27FC236}">
                <a16:creationId xmlns:a16="http://schemas.microsoft.com/office/drawing/2014/main" id="{C0845DA5-45DF-4E41-BCB0-30428A7FA7C5}"/>
              </a:ext>
            </a:extLst>
          </p:cNvPr>
          <p:cNvSpPr>
            <a:spLocks noGrp="1"/>
          </p:cNvSpPr>
          <p:nvPr/>
        </p:nvSpPr>
        <p:spPr>
          <a:xfrm>
            <a:off x="825500" y="6337300"/>
            <a:ext cx="914400" cy="635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64A263ED-48F9-45F9-B073-9173399C26B7}"/>
              </a:ext>
            </a:extLst>
          </p:cNvPr>
          <p:cNvSpPr>
            <a:spLocks noGrp="1"/>
          </p:cNvSpPr>
          <p:nvPr/>
        </p:nvSpPr>
        <p:spPr>
          <a:xfrm>
            <a:off x="825500" y="6743700"/>
            <a:ext cx="142875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7F28D2B0-0A65-4883-9EBA-A260577A0538}"/>
              </a:ext>
            </a:extLst>
          </p:cNvPr>
          <p:cNvSpPr>
            <a:spLocks noGrp="1"/>
          </p:cNvSpPr>
          <p:nvPr/>
        </p:nvSpPr>
        <p:spPr>
          <a:xfrm>
            <a:off x="825500" y="7988300"/>
            <a:ext cx="146050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en-US" sz="200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https://github.com/Draxo659</a:t>
            </a:r>
          </a:p>
          <a:p>
            <a:pPr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https://github.com/Keshav02-rk</a:t>
            </a:r>
            <a:b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endParaRPr sz="20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686550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lock-7">
            <a:extLst>
              <a:ext uri="{FF2B5EF4-FFF2-40B4-BE49-F238E27FC236}">
                <a16:creationId xmlns:a16="http://schemas.microsoft.com/office/drawing/2014/main" id="{8B72FDE6-DC0A-48C0-AACF-AD7F4C2801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8">
            <a:extLst>
              <a:ext uri="{FF2B5EF4-FFF2-40B4-BE49-F238E27FC236}">
                <a16:creationId xmlns:a16="http://schemas.microsoft.com/office/drawing/2014/main" id="{1199CE37-177B-4F53-9B50-AA9863787D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9">
            <a:extLst>
              <a:ext uri="{FF2B5EF4-FFF2-40B4-BE49-F238E27FC236}">
                <a16:creationId xmlns:a16="http://schemas.microsoft.com/office/drawing/2014/main" id="{25009DE6-7F9A-4BDF-9C24-6D410992CAC7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10">
            <a:extLst>
              <a:ext uri="{FF2B5EF4-FFF2-40B4-BE49-F238E27FC236}">
                <a16:creationId xmlns:a16="http://schemas.microsoft.com/office/drawing/2014/main" id="{F78EDAD8-B51A-4EA2-BE4E-E629C03936C2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11">
            <a:extLst>
              <a:ext uri="{FF2B5EF4-FFF2-40B4-BE49-F238E27FC236}">
                <a16:creationId xmlns:a16="http://schemas.microsoft.com/office/drawing/2014/main" id="{4DBE5C0C-CC7A-4401-A3DB-16E4C363258E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12">
            <a:extLst>
              <a:ext uri="{FF2B5EF4-FFF2-40B4-BE49-F238E27FC236}">
                <a16:creationId xmlns:a16="http://schemas.microsoft.com/office/drawing/2014/main" id="{B66DD9BF-DE74-4A63-B16A-E1E48D4F687B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13">
            <a:extLst>
              <a:ext uri="{FF2B5EF4-FFF2-40B4-BE49-F238E27FC236}">
                <a16:creationId xmlns:a16="http://schemas.microsoft.com/office/drawing/2014/main" id="{A13CB2EE-6F74-436B-B595-B5C706EB9463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14">
            <a:extLst>
              <a:ext uri="{FF2B5EF4-FFF2-40B4-BE49-F238E27FC236}">
                <a16:creationId xmlns:a16="http://schemas.microsoft.com/office/drawing/2014/main" id="{62CD47B3-3F45-473F-92CF-6E06BFA9367E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15">
            <a:extLst>
              <a:ext uri="{FF2B5EF4-FFF2-40B4-BE49-F238E27FC236}">
                <a16:creationId xmlns:a16="http://schemas.microsoft.com/office/drawing/2014/main" id="{9DA7CCB9-627E-415F-8E7D-6F985D7869ED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6">
            <a:extLst>
              <a:ext uri="{FF2B5EF4-FFF2-40B4-BE49-F238E27FC236}">
                <a16:creationId xmlns:a16="http://schemas.microsoft.com/office/drawing/2014/main" id="{148EBF7E-B22C-4EDA-A7A2-253B9522C203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17">
            <a:extLst>
              <a:ext uri="{FF2B5EF4-FFF2-40B4-BE49-F238E27FC236}">
                <a16:creationId xmlns:a16="http://schemas.microsoft.com/office/drawing/2014/main" id="{AA779927-D108-4E15-90D0-C9ED5BB834E1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What were we trying to find out?</a:t>
            </a:r>
          </a:p>
        </p:txBody>
      </p:sp>
      <p:sp>
        <p:nvSpPr>
          <p:cNvPr id="12" name="text-18">
            <a:extLst>
              <a:ext uri="{FF2B5EF4-FFF2-40B4-BE49-F238E27FC236}">
                <a16:creationId xmlns:a16="http://schemas.microsoft.com/office/drawing/2014/main" id="{71683229-7BE0-4FC1-B96D-18F61D50346E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One dataset, five connected tasks</a:t>
            </a:r>
          </a:p>
        </p:txBody>
      </p:sp>
      <p:sp>
        <p:nvSpPr>
          <p:cNvPr id="13" name="text-19">
            <a:extLst>
              <a:ext uri="{FF2B5EF4-FFF2-40B4-BE49-F238E27FC236}">
                <a16:creationId xmlns:a16="http://schemas.microsoft.com/office/drawing/2014/main" id="{A9CE0476-D9AB-4D7B-9CA0-5E78FB7EB0DF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20">
            <a:extLst>
              <a:ext uri="{FF2B5EF4-FFF2-40B4-BE49-F238E27FC236}">
                <a16:creationId xmlns:a16="http://schemas.microsoft.com/office/drawing/2014/main" id="{D4D18E4E-BD71-4007-BBD1-D4BD5A34CE5B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2 / 24</a:t>
            </a:r>
          </a:p>
        </p:txBody>
      </p:sp>
      <p:sp>
        <p:nvSpPr>
          <p:cNvPr id="15" name="text-21">
            <a:extLst>
              <a:ext uri="{FF2B5EF4-FFF2-40B4-BE49-F238E27FC236}">
                <a16:creationId xmlns:a16="http://schemas.microsoft.com/office/drawing/2014/main" id="{97060A53-D0DC-4152-A3E6-A3025F8EA408}"/>
              </a:ext>
            </a:extLst>
          </p:cNvPr>
          <p:cNvSpPr>
            <a:spLocks noGrp="1"/>
          </p:cNvSpPr>
          <p:nvPr/>
        </p:nvSpPr>
        <p:spPr>
          <a:xfrm>
            <a:off x="787400" y="2349500"/>
            <a:ext cx="635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text-22">
            <a:extLst>
              <a:ext uri="{FF2B5EF4-FFF2-40B4-BE49-F238E27FC236}">
                <a16:creationId xmlns:a16="http://schemas.microsoft.com/office/drawing/2014/main" id="{7AB66BAB-D045-417E-A9B7-AE0581D3A1D0}"/>
              </a:ext>
            </a:extLst>
          </p:cNvPr>
          <p:cNvSpPr>
            <a:spLocks noGrp="1"/>
          </p:cNvSpPr>
          <p:nvPr/>
        </p:nvSpPr>
        <p:spPr>
          <a:xfrm>
            <a:off x="1790700" y="2349500"/>
            <a:ext cx="32131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7" name="text-23">
            <a:extLst>
              <a:ext uri="{FF2B5EF4-FFF2-40B4-BE49-F238E27FC236}">
                <a16:creationId xmlns:a16="http://schemas.microsoft.com/office/drawing/2014/main" id="{6BBF5BCD-571F-4468-8775-997FCAB55AD1}"/>
              </a:ext>
            </a:extLst>
          </p:cNvPr>
          <p:cNvSpPr>
            <a:spLocks noGrp="1"/>
          </p:cNvSpPr>
          <p:nvPr/>
        </p:nvSpPr>
        <p:spPr>
          <a:xfrm>
            <a:off x="5346700" y="23495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Can we trust the data enough to analyse it?</a:t>
            </a:r>
          </a:p>
        </p:txBody>
      </p:sp>
      <p:sp>
        <p:nvSpPr>
          <p:cNvPr id="18" name="block-24">
            <a:extLst>
              <a:ext uri="{FF2B5EF4-FFF2-40B4-BE49-F238E27FC236}">
                <a16:creationId xmlns:a16="http://schemas.microsoft.com/office/drawing/2014/main" id="{72410FCA-3122-4DFD-AF13-F84934196C7B}"/>
              </a:ext>
            </a:extLst>
          </p:cNvPr>
          <p:cNvSpPr>
            <a:spLocks noGrp="1"/>
          </p:cNvSpPr>
          <p:nvPr/>
        </p:nvSpPr>
        <p:spPr>
          <a:xfrm>
            <a:off x="1790700" y="3187700"/>
            <a:ext cx="13487400" cy="12700"/>
          </a:xfrm>
          <a:prstGeom prst="rect">
            <a:avLst/>
          </a:prstGeom>
          <a:solidFill>
            <a:srgbClr val="D5DD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-25">
            <a:extLst>
              <a:ext uri="{FF2B5EF4-FFF2-40B4-BE49-F238E27FC236}">
                <a16:creationId xmlns:a16="http://schemas.microsoft.com/office/drawing/2014/main" id="{55BCA790-262F-4155-8AC8-0644C62B8C1E}"/>
              </a:ext>
            </a:extLst>
          </p:cNvPr>
          <p:cNvSpPr>
            <a:spLocks noGrp="1"/>
          </p:cNvSpPr>
          <p:nvPr/>
        </p:nvSpPr>
        <p:spPr>
          <a:xfrm>
            <a:off x="787400" y="3340100"/>
            <a:ext cx="635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text-26">
            <a:extLst>
              <a:ext uri="{FF2B5EF4-FFF2-40B4-BE49-F238E27FC236}">
                <a16:creationId xmlns:a16="http://schemas.microsoft.com/office/drawing/2014/main" id="{3A06F17A-0DBF-4442-9B44-F4633FDF6E36}"/>
              </a:ext>
            </a:extLst>
          </p:cNvPr>
          <p:cNvSpPr>
            <a:spLocks noGrp="1"/>
          </p:cNvSpPr>
          <p:nvPr/>
        </p:nvSpPr>
        <p:spPr>
          <a:xfrm>
            <a:off x="1790700" y="3340100"/>
            <a:ext cx="32131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1" name="text-27">
            <a:extLst>
              <a:ext uri="{FF2B5EF4-FFF2-40B4-BE49-F238E27FC236}">
                <a16:creationId xmlns:a16="http://schemas.microsoft.com/office/drawing/2014/main" id="{86F2A53A-C812-4639-9480-EEB2E3733D55}"/>
              </a:ext>
            </a:extLst>
          </p:cNvPr>
          <p:cNvSpPr>
            <a:spLocks noGrp="1"/>
          </p:cNvSpPr>
          <p:nvPr/>
        </p:nvSpPr>
        <p:spPr>
          <a:xfrm>
            <a:off x="5346700" y="33401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Are the differences we see supported by statistical evidence?</a:t>
            </a:r>
          </a:p>
        </p:txBody>
      </p:sp>
      <p:sp>
        <p:nvSpPr>
          <p:cNvPr id="22" name="block-28">
            <a:extLst>
              <a:ext uri="{FF2B5EF4-FFF2-40B4-BE49-F238E27FC236}">
                <a16:creationId xmlns:a16="http://schemas.microsoft.com/office/drawing/2014/main" id="{5A85BB69-E38F-42EF-88DF-AA4B856D5D73}"/>
              </a:ext>
            </a:extLst>
          </p:cNvPr>
          <p:cNvSpPr>
            <a:spLocks noGrp="1"/>
          </p:cNvSpPr>
          <p:nvPr/>
        </p:nvSpPr>
        <p:spPr>
          <a:xfrm>
            <a:off x="1790700" y="4178300"/>
            <a:ext cx="13487400" cy="12700"/>
          </a:xfrm>
          <a:prstGeom prst="rect">
            <a:avLst/>
          </a:prstGeom>
          <a:solidFill>
            <a:srgbClr val="D5DD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29">
            <a:extLst>
              <a:ext uri="{FF2B5EF4-FFF2-40B4-BE49-F238E27FC236}">
                <a16:creationId xmlns:a16="http://schemas.microsoft.com/office/drawing/2014/main" id="{737A707E-8E99-4084-B74B-5295019DD273}"/>
              </a:ext>
            </a:extLst>
          </p:cNvPr>
          <p:cNvSpPr>
            <a:spLocks noGrp="1"/>
          </p:cNvSpPr>
          <p:nvPr/>
        </p:nvSpPr>
        <p:spPr>
          <a:xfrm>
            <a:off x="787400" y="4330700"/>
            <a:ext cx="635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text-30">
            <a:extLst>
              <a:ext uri="{FF2B5EF4-FFF2-40B4-BE49-F238E27FC236}">
                <a16:creationId xmlns:a16="http://schemas.microsoft.com/office/drawing/2014/main" id="{4887D01F-57E9-4430-B0CA-B9604970B346}"/>
              </a:ext>
            </a:extLst>
          </p:cNvPr>
          <p:cNvSpPr>
            <a:spLocks noGrp="1"/>
          </p:cNvSpPr>
          <p:nvPr/>
        </p:nvSpPr>
        <p:spPr>
          <a:xfrm>
            <a:off x="1790700" y="4330700"/>
            <a:ext cx="32131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5" name="text-31">
            <a:extLst>
              <a:ext uri="{FF2B5EF4-FFF2-40B4-BE49-F238E27FC236}">
                <a16:creationId xmlns:a16="http://schemas.microsoft.com/office/drawing/2014/main" id="{FC4E150F-212B-4B63-A7ED-0141968B5B76}"/>
              </a:ext>
            </a:extLst>
          </p:cNvPr>
          <p:cNvSpPr>
            <a:spLocks noGrp="1"/>
          </p:cNvSpPr>
          <p:nvPr/>
        </p:nvSpPr>
        <p:spPr>
          <a:xfrm>
            <a:off x="5346700" y="43307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Can we estimate charges or identify smoking status?</a:t>
            </a:r>
          </a:p>
        </p:txBody>
      </p:sp>
      <p:sp>
        <p:nvSpPr>
          <p:cNvPr id="26" name="block-32">
            <a:extLst>
              <a:ext uri="{FF2B5EF4-FFF2-40B4-BE49-F238E27FC236}">
                <a16:creationId xmlns:a16="http://schemas.microsoft.com/office/drawing/2014/main" id="{7869A27C-BB87-4A24-8D27-764E3F2B59B0}"/>
              </a:ext>
            </a:extLst>
          </p:cNvPr>
          <p:cNvSpPr>
            <a:spLocks noGrp="1"/>
          </p:cNvSpPr>
          <p:nvPr/>
        </p:nvSpPr>
        <p:spPr>
          <a:xfrm>
            <a:off x="1790700" y="5168900"/>
            <a:ext cx="13487400" cy="12700"/>
          </a:xfrm>
          <a:prstGeom prst="rect">
            <a:avLst/>
          </a:prstGeom>
          <a:solidFill>
            <a:srgbClr val="D5DD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-33">
            <a:extLst>
              <a:ext uri="{FF2B5EF4-FFF2-40B4-BE49-F238E27FC236}">
                <a16:creationId xmlns:a16="http://schemas.microsoft.com/office/drawing/2014/main" id="{749BD0D4-E58D-4A23-BB23-44218A12F6EA}"/>
              </a:ext>
            </a:extLst>
          </p:cNvPr>
          <p:cNvSpPr>
            <a:spLocks noGrp="1"/>
          </p:cNvSpPr>
          <p:nvPr/>
        </p:nvSpPr>
        <p:spPr>
          <a:xfrm>
            <a:off x="787400" y="5321300"/>
            <a:ext cx="635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text-34">
            <a:extLst>
              <a:ext uri="{FF2B5EF4-FFF2-40B4-BE49-F238E27FC236}">
                <a16:creationId xmlns:a16="http://schemas.microsoft.com/office/drawing/2014/main" id="{F0C6C593-AA6D-4479-A72F-C1CE673BA427}"/>
              </a:ext>
            </a:extLst>
          </p:cNvPr>
          <p:cNvSpPr>
            <a:spLocks noGrp="1"/>
          </p:cNvSpPr>
          <p:nvPr/>
        </p:nvSpPr>
        <p:spPr>
          <a:xfrm>
            <a:off x="1790700" y="5321300"/>
            <a:ext cx="32131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Compare trees</a:t>
            </a:r>
          </a:p>
        </p:txBody>
      </p:sp>
      <p:sp>
        <p:nvSpPr>
          <p:cNvPr id="29" name="text-35">
            <a:extLst>
              <a:ext uri="{FF2B5EF4-FFF2-40B4-BE49-F238E27FC236}">
                <a16:creationId xmlns:a16="http://schemas.microsoft.com/office/drawing/2014/main" id="{7422F83F-4E44-4238-B375-F920B63348E1}"/>
              </a:ext>
            </a:extLst>
          </p:cNvPr>
          <p:cNvSpPr>
            <a:spLocks noGrp="1"/>
          </p:cNvSpPr>
          <p:nvPr/>
        </p:nvSpPr>
        <p:spPr>
          <a:xfrm>
            <a:off x="5346700" y="53213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How much detail should a decision tree use?</a:t>
            </a:r>
          </a:p>
        </p:txBody>
      </p:sp>
      <p:sp>
        <p:nvSpPr>
          <p:cNvPr id="30" name="block-36">
            <a:extLst>
              <a:ext uri="{FF2B5EF4-FFF2-40B4-BE49-F238E27FC236}">
                <a16:creationId xmlns:a16="http://schemas.microsoft.com/office/drawing/2014/main" id="{BA1EF7D5-73CF-44AB-B9F6-033518C7B161}"/>
              </a:ext>
            </a:extLst>
          </p:cNvPr>
          <p:cNvSpPr>
            <a:spLocks noGrp="1"/>
          </p:cNvSpPr>
          <p:nvPr/>
        </p:nvSpPr>
        <p:spPr>
          <a:xfrm>
            <a:off x="1790700" y="6159500"/>
            <a:ext cx="13487400" cy="12700"/>
          </a:xfrm>
          <a:prstGeom prst="rect">
            <a:avLst/>
          </a:prstGeom>
          <a:solidFill>
            <a:srgbClr val="D5DD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-37">
            <a:extLst>
              <a:ext uri="{FF2B5EF4-FFF2-40B4-BE49-F238E27FC236}">
                <a16:creationId xmlns:a16="http://schemas.microsoft.com/office/drawing/2014/main" id="{866A7EFD-5814-4EEC-BC94-C5498202FF70}"/>
              </a:ext>
            </a:extLst>
          </p:cNvPr>
          <p:cNvSpPr>
            <a:spLocks noGrp="1"/>
          </p:cNvSpPr>
          <p:nvPr/>
        </p:nvSpPr>
        <p:spPr>
          <a:xfrm>
            <a:off x="787400" y="6311900"/>
            <a:ext cx="635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2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text-38">
            <a:extLst>
              <a:ext uri="{FF2B5EF4-FFF2-40B4-BE49-F238E27FC236}">
                <a16:creationId xmlns:a16="http://schemas.microsoft.com/office/drawing/2014/main" id="{64FFF57E-4195-4CB6-A20B-75BF0E5E0967}"/>
              </a:ext>
            </a:extLst>
          </p:cNvPr>
          <p:cNvSpPr>
            <a:spLocks noGrp="1"/>
          </p:cNvSpPr>
          <p:nvPr/>
        </p:nvSpPr>
        <p:spPr>
          <a:xfrm>
            <a:off x="1790700" y="6311900"/>
            <a:ext cx="32131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Find groups</a:t>
            </a:r>
          </a:p>
        </p:txBody>
      </p:sp>
      <p:sp>
        <p:nvSpPr>
          <p:cNvPr id="33" name="text-39">
            <a:extLst>
              <a:ext uri="{FF2B5EF4-FFF2-40B4-BE49-F238E27FC236}">
                <a16:creationId xmlns:a16="http://schemas.microsoft.com/office/drawing/2014/main" id="{10A2C57E-F615-4042-8DA2-E9E177815EBC}"/>
              </a:ext>
            </a:extLst>
          </p:cNvPr>
          <p:cNvSpPr>
            <a:spLocks noGrp="1"/>
          </p:cNvSpPr>
          <p:nvPr/>
        </p:nvSpPr>
        <p:spPr>
          <a:xfrm>
            <a:off x="5346700" y="63119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Which records are similar in age, BMI and charges?</a:t>
            </a:r>
          </a:p>
        </p:txBody>
      </p:sp>
      <p:sp>
        <p:nvSpPr>
          <p:cNvPr id="34" name="block-40">
            <a:extLst>
              <a:ext uri="{FF2B5EF4-FFF2-40B4-BE49-F238E27FC236}">
                <a16:creationId xmlns:a16="http://schemas.microsoft.com/office/drawing/2014/main" id="{0154306F-147E-448D-AAA1-8FBFFAFEEBA6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block-41">
            <a:extLst>
              <a:ext uri="{FF2B5EF4-FFF2-40B4-BE49-F238E27FC236}">
                <a16:creationId xmlns:a16="http://schemas.microsoft.com/office/drawing/2014/main" id="{5007E08E-2E15-4962-BF80-DF38089E6718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-42">
            <a:extLst>
              <a:ext uri="{FF2B5EF4-FFF2-40B4-BE49-F238E27FC236}">
                <a16:creationId xmlns:a16="http://schemas.microsoft.com/office/drawing/2014/main" id="{5B81548C-C706-4EE3-B834-B46718AE67B3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OUR GOAL</a:t>
            </a:r>
          </a:p>
        </p:txBody>
      </p:sp>
      <p:sp>
        <p:nvSpPr>
          <p:cNvPr id="37" name="text-43">
            <a:extLst>
              <a:ext uri="{FF2B5EF4-FFF2-40B4-BE49-F238E27FC236}">
                <a16:creationId xmlns:a16="http://schemas.microsoft.com/office/drawing/2014/main" id="{ABC03914-D216-45D2-A652-24B1E6A521DF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Explain the patterns, test selected ideas, then build and compare models.</a:t>
            </a:r>
          </a:p>
        </p:txBody>
      </p:sp>
    </p:spTree>
    <p:extLst>
      <p:ext uri="{BB962C8B-B14F-4D97-AF65-F5344CB8AC3E}">
        <p14:creationId xmlns:p14="http://schemas.microsoft.com/office/powerpoint/2010/main" val="425272997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lock-44">
            <a:extLst>
              <a:ext uri="{FF2B5EF4-FFF2-40B4-BE49-F238E27FC236}">
                <a16:creationId xmlns:a16="http://schemas.microsoft.com/office/drawing/2014/main" id="{1197A289-9854-4341-8829-4379CC82E9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45">
            <a:extLst>
              <a:ext uri="{FF2B5EF4-FFF2-40B4-BE49-F238E27FC236}">
                <a16:creationId xmlns:a16="http://schemas.microsoft.com/office/drawing/2014/main" id="{604D85CA-81CE-44B2-B596-F53C562F29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46">
            <a:extLst>
              <a:ext uri="{FF2B5EF4-FFF2-40B4-BE49-F238E27FC236}">
                <a16:creationId xmlns:a16="http://schemas.microsoft.com/office/drawing/2014/main" id="{4B285042-98A2-4F8A-9422-0D224ED434F7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47">
            <a:extLst>
              <a:ext uri="{FF2B5EF4-FFF2-40B4-BE49-F238E27FC236}">
                <a16:creationId xmlns:a16="http://schemas.microsoft.com/office/drawing/2014/main" id="{C6005597-53A2-46CF-849A-1DC3BB41154E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48">
            <a:extLst>
              <a:ext uri="{FF2B5EF4-FFF2-40B4-BE49-F238E27FC236}">
                <a16:creationId xmlns:a16="http://schemas.microsoft.com/office/drawing/2014/main" id="{2A85692B-E3EE-43B8-96B7-073155FF9AFB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49">
            <a:extLst>
              <a:ext uri="{FF2B5EF4-FFF2-40B4-BE49-F238E27FC236}">
                <a16:creationId xmlns:a16="http://schemas.microsoft.com/office/drawing/2014/main" id="{1EF8AF19-41C7-4E5D-95FC-1A1C0EF885CC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50">
            <a:extLst>
              <a:ext uri="{FF2B5EF4-FFF2-40B4-BE49-F238E27FC236}">
                <a16:creationId xmlns:a16="http://schemas.microsoft.com/office/drawing/2014/main" id="{F6E6D776-9E25-432E-A2D6-6F10159C9A22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51">
            <a:extLst>
              <a:ext uri="{FF2B5EF4-FFF2-40B4-BE49-F238E27FC236}">
                <a16:creationId xmlns:a16="http://schemas.microsoft.com/office/drawing/2014/main" id="{FDD17643-61A9-41A2-9A60-4A82740D311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52">
            <a:extLst>
              <a:ext uri="{FF2B5EF4-FFF2-40B4-BE49-F238E27FC236}">
                <a16:creationId xmlns:a16="http://schemas.microsoft.com/office/drawing/2014/main" id="{FC58F85B-9BEE-4E5D-9C53-2450C2722625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53">
            <a:extLst>
              <a:ext uri="{FF2B5EF4-FFF2-40B4-BE49-F238E27FC236}">
                <a16:creationId xmlns:a16="http://schemas.microsoft.com/office/drawing/2014/main" id="{A5B5547F-8550-471E-81D5-90E404F6DE79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54">
            <a:extLst>
              <a:ext uri="{FF2B5EF4-FFF2-40B4-BE49-F238E27FC236}">
                <a16:creationId xmlns:a16="http://schemas.microsoft.com/office/drawing/2014/main" id="{5BCED710-2DF4-410C-A294-1B3323390993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We cleaned the data and kept plausible extremes</a:t>
            </a:r>
          </a:p>
        </p:txBody>
      </p:sp>
      <p:sp>
        <p:nvSpPr>
          <p:cNvPr id="12" name="text-55">
            <a:extLst>
              <a:ext uri="{FF2B5EF4-FFF2-40B4-BE49-F238E27FC236}">
                <a16:creationId xmlns:a16="http://schemas.microsoft.com/office/drawing/2014/main" id="{3DE5EFB2-02E5-4E53-A1BC-956066970CA6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1 · Preparing the insurance data</a:t>
            </a:r>
          </a:p>
        </p:txBody>
      </p:sp>
      <p:sp>
        <p:nvSpPr>
          <p:cNvPr id="13" name="text-56">
            <a:extLst>
              <a:ext uri="{FF2B5EF4-FFF2-40B4-BE49-F238E27FC236}">
                <a16:creationId xmlns:a16="http://schemas.microsoft.com/office/drawing/2014/main" id="{E4C478F7-CEA2-4EB8-98C2-6E2DCBDE1DEC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57">
            <a:extLst>
              <a:ext uri="{FF2B5EF4-FFF2-40B4-BE49-F238E27FC236}">
                <a16:creationId xmlns:a16="http://schemas.microsoft.com/office/drawing/2014/main" id="{AF925F23-DE70-4E14-9A2D-6C203EFCF195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3 / 24</a:t>
            </a:r>
          </a:p>
        </p:txBody>
      </p:sp>
      <p:sp>
        <p:nvSpPr>
          <p:cNvPr id="15" name="text-58">
            <a:extLst>
              <a:ext uri="{FF2B5EF4-FFF2-40B4-BE49-F238E27FC236}">
                <a16:creationId xmlns:a16="http://schemas.microsoft.com/office/drawing/2014/main" id="{8859EF2A-03F7-40B1-A46B-DABC6A274A78}"/>
              </a:ext>
            </a:extLst>
          </p:cNvPr>
          <p:cNvSpPr>
            <a:spLocks noGrp="1"/>
          </p:cNvSpPr>
          <p:nvPr/>
        </p:nvSpPr>
        <p:spPr>
          <a:xfrm>
            <a:off x="825500" y="2298700"/>
            <a:ext cx="3810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1,338</a:t>
            </a:r>
          </a:p>
        </p:txBody>
      </p:sp>
      <p:sp>
        <p:nvSpPr>
          <p:cNvPr id="16" name="text-59">
            <a:extLst>
              <a:ext uri="{FF2B5EF4-FFF2-40B4-BE49-F238E27FC236}">
                <a16:creationId xmlns:a16="http://schemas.microsoft.com/office/drawing/2014/main" id="{4428C515-30BC-4BD0-84CF-2B3C243D60CF}"/>
              </a:ext>
            </a:extLst>
          </p:cNvPr>
          <p:cNvSpPr>
            <a:spLocks noGrp="1"/>
          </p:cNvSpPr>
          <p:nvPr/>
        </p:nvSpPr>
        <p:spPr>
          <a:xfrm>
            <a:off x="825500" y="3136900"/>
            <a:ext cx="38100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original records</a:t>
            </a:r>
          </a:p>
        </p:txBody>
      </p:sp>
      <p:sp>
        <p:nvSpPr>
          <p:cNvPr id="17" name="text-60">
            <a:extLst>
              <a:ext uri="{FF2B5EF4-FFF2-40B4-BE49-F238E27FC236}">
                <a16:creationId xmlns:a16="http://schemas.microsoft.com/office/drawing/2014/main" id="{D57C645F-BE63-4BDE-A26F-57659B35AEFA}"/>
              </a:ext>
            </a:extLst>
          </p:cNvPr>
          <p:cNvSpPr>
            <a:spLocks noGrp="1"/>
          </p:cNvSpPr>
          <p:nvPr/>
        </p:nvSpPr>
        <p:spPr>
          <a:xfrm>
            <a:off x="5867400" y="2298700"/>
            <a:ext cx="431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-61">
            <a:extLst>
              <a:ext uri="{FF2B5EF4-FFF2-40B4-BE49-F238E27FC236}">
                <a16:creationId xmlns:a16="http://schemas.microsoft.com/office/drawing/2014/main" id="{C6C70758-6E8A-43A3-B266-7E74BD119EB6}"/>
              </a:ext>
            </a:extLst>
          </p:cNvPr>
          <p:cNvSpPr>
            <a:spLocks noGrp="1"/>
          </p:cNvSpPr>
          <p:nvPr/>
        </p:nvSpPr>
        <p:spPr>
          <a:xfrm>
            <a:off x="5867400" y="3136900"/>
            <a:ext cx="43180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duplicate removed</a:t>
            </a:r>
          </a:p>
        </p:txBody>
      </p:sp>
      <p:sp>
        <p:nvSpPr>
          <p:cNvPr id="19" name="text-62">
            <a:extLst>
              <a:ext uri="{FF2B5EF4-FFF2-40B4-BE49-F238E27FC236}">
                <a16:creationId xmlns:a16="http://schemas.microsoft.com/office/drawing/2014/main" id="{CE9E7EDE-C0A3-4675-BA50-32297296D748}"/>
              </a:ext>
            </a:extLst>
          </p:cNvPr>
          <p:cNvSpPr>
            <a:spLocks noGrp="1"/>
          </p:cNvSpPr>
          <p:nvPr/>
        </p:nvSpPr>
        <p:spPr>
          <a:xfrm>
            <a:off x="11417300" y="2298700"/>
            <a:ext cx="393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1,337</a:t>
            </a:r>
          </a:p>
        </p:txBody>
      </p:sp>
      <p:sp>
        <p:nvSpPr>
          <p:cNvPr id="20" name="text-63">
            <a:extLst>
              <a:ext uri="{FF2B5EF4-FFF2-40B4-BE49-F238E27FC236}">
                <a16:creationId xmlns:a16="http://schemas.microsoft.com/office/drawing/2014/main" id="{9125F54E-059E-4484-9C90-A0169919EB40}"/>
              </a:ext>
            </a:extLst>
          </p:cNvPr>
          <p:cNvSpPr>
            <a:spLocks noGrp="1"/>
          </p:cNvSpPr>
          <p:nvPr/>
        </p:nvSpPr>
        <p:spPr>
          <a:xfrm>
            <a:off x="11417300" y="3136900"/>
            <a:ext cx="39370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records used afterwards</a:t>
            </a:r>
          </a:p>
        </p:txBody>
      </p:sp>
      <p:sp>
        <p:nvSpPr>
          <p:cNvPr id="21" name="block-64">
            <a:extLst>
              <a:ext uri="{FF2B5EF4-FFF2-40B4-BE49-F238E27FC236}">
                <a16:creationId xmlns:a16="http://schemas.microsoft.com/office/drawing/2014/main" id="{D70124AF-9C4D-4B62-91DC-65AF03DD756E}"/>
              </a:ext>
            </a:extLst>
          </p:cNvPr>
          <p:cNvSpPr>
            <a:spLocks noGrp="1"/>
          </p:cNvSpPr>
          <p:nvPr/>
        </p:nvSpPr>
        <p:spPr>
          <a:xfrm>
            <a:off x="660400" y="4216400"/>
            <a:ext cx="14935200" cy="12700"/>
          </a:xfrm>
          <a:prstGeom prst="rect">
            <a:avLst/>
          </a:prstGeom>
          <a:solidFill>
            <a:srgbClr val="D5DD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65">
            <a:extLst>
              <a:ext uri="{FF2B5EF4-FFF2-40B4-BE49-F238E27FC236}">
                <a16:creationId xmlns:a16="http://schemas.microsoft.com/office/drawing/2014/main" id="{12FF38ED-0490-468F-8A7E-96781F9ED550}"/>
              </a:ext>
            </a:extLst>
          </p:cNvPr>
          <p:cNvSpPr>
            <a:spLocks noGrp="1"/>
          </p:cNvSpPr>
          <p:nvPr/>
        </p:nvSpPr>
        <p:spPr>
          <a:xfrm>
            <a:off x="825500" y="4635500"/>
            <a:ext cx="7048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WHAT EACH ROW CONTAINS</a:t>
            </a:r>
          </a:p>
        </p:txBody>
      </p:sp>
      <p:sp>
        <p:nvSpPr>
          <p:cNvPr id="23" name="text-66">
            <a:extLst>
              <a:ext uri="{FF2B5EF4-FFF2-40B4-BE49-F238E27FC236}">
                <a16:creationId xmlns:a16="http://schemas.microsoft.com/office/drawing/2014/main" id="{5275B1BD-0383-4372-AE8A-A39D0178F1C0}"/>
              </a:ext>
            </a:extLst>
          </p:cNvPr>
          <p:cNvSpPr>
            <a:spLocks noGrp="1"/>
          </p:cNvSpPr>
          <p:nvPr/>
        </p:nvSpPr>
        <p:spPr>
          <a:xfrm>
            <a:off x="825500" y="5130800"/>
            <a:ext cx="70485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Age, sex, BMI, covered dependents,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smoking status, region and charges.</a:t>
            </a:r>
          </a:p>
        </p:txBody>
      </p:sp>
      <p:sp>
        <p:nvSpPr>
          <p:cNvPr id="24" name="text-67">
            <a:extLst>
              <a:ext uri="{FF2B5EF4-FFF2-40B4-BE49-F238E27FC236}">
                <a16:creationId xmlns:a16="http://schemas.microsoft.com/office/drawing/2014/main" id="{E054DD7E-5EAA-470C-964F-7BB1B6203588}"/>
              </a:ext>
            </a:extLst>
          </p:cNvPr>
          <p:cNvSpPr>
            <a:spLocks noGrp="1"/>
          </p:cNvSpPr>
          <p:nvPr/>
        </p:nvSpPr>
        <p:spPr>
          <a:xfrm>
            <a:off x="8521700" y="4635500"/>
            <a:ext cx="6870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WHAT WE CHANGED</a:t>
            </a:r>
          </a:p>
        </p:txBody>
      </p:sp>
      <p:sp>
        <p:nvSpPr>
          <p:cNvPr id="25" name="text-68">
            <a:extLst>
              <a:ext uri="{FF2B5EF4-FFF2-40B4-BE49-F238E27FC236}">
                <a16:creationId xmlns:a16="http://schemas.microsoft.com/office/drawing/2014/main" id="{C3A245B6-A73B-4F91-8AB6-192E321ACE7F}"/>
              </a:ext>
            </a:extLst>
          </p:cNvPr>
          <p:cNvSpPr>
            <a:spLocks noGrp="1"/>
          </p:cNvSpPr>
          <p:nvPr/>
        </p:nvSpPr>
        <p:spPr>
          <a:xfrm>
            <a:off x="8521700" y="5130800"/>
            <a:ext cx="68707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Added BMI categories and a yes/no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indicator for covered dependents.</a:t>
            </a:r>
          </a:p>
        </p:txBody>
      </p:sp>
      <p:sp>
        <p:nvSpPr>
          <p:cNvPr id="26" name="text-69">
            <a:extLst>
              <a:ext uri="{FF2B5EF4-FFF2-40B4-BE49-F238E27FC236}">
                <a16:creationId xmlns:a16="http://schemas.microsoft.com/office/drawing/2014/main" id="{6414B447-CC86-4BCA-942B-0F5AB3814924}"/>
              </a:ext>
            </a:extLst>
          </p:cNvPr>
          <p:cNvSpPr>
            <a:spLocks noGrp="1"/>
          </p:cNvSpPr>
          <p:nvPr/>
        </p:nvSpPr>
        <p:spPr>
          <a:xfrm>
            <a:off x="825500" y="6680200"/>
            <a:ext cx="14452600" cy="78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No missing values were found. High BMI and high charges were reviewed and retained.</a:t>
            </a:r>
          </a:p>
        </p:txBody>
      </p:sp>
      <p:sp>
        <p:nvSpPr>
          <p:cNvPr id="27" name="block-70">
            <a:extLst>
              <a:ext uri="{FF2B5EF4-FFF2-40B4-BE49-F238E27FC236}">
                <a16:creationId xmlns:a16="http://schemas.microsoft.com/office/drawing/2014/main" id="{56ADD935-EBA3-4224-80F8-D7A18AFCB3B9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block-71">
            <a:extLst>
              <a:ext uri="{FF2B5EF4-FFF2-40B4-BE49-F238E27FC236}">
                <a16:creationId xmlns:a16="http://schemas.microsoft.com/office/drawing/2014/main" id="{EBC6CD92-63EC-48E5-9F40-7039EFDD3E0F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-72">
            <a:extLst>
              <a:ext uri="{FF2B5EF4-FFF2-40B4-BE49-F238E27FC236}">
                <a16:creationId xmlns:a16="http://schemas.microsoft.com/office/drawing/2014/main" id="{B5500DA3-DBB8-4D28-B0BD-BF26309F3EA4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IMPORTANT</a:t>
            </a:r>
          </a:p>
        </p:txBody>
      </p:sp>
      <p:sp>
        <p:nvSpPr>
          <p:cNvPr id="30" name="text-73">
            <a:extLst>
              <a:ext uri="{FF2B5EF4-FFF2-40B4-BE49-F238E27FC236}">
                <a16:creationId xmlns:a16="http://schemas.microsoft.com/office/drawing/2014/main" id="{795CB59E-95D7-4D02-A7D9-ECAFE1CA5512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“Children” means covered children/dependents. A young age alone did not make a row an error.</a:t>
            </a:r>
          </a:p>
        </p:txBody>
      </p:sp>
    </p:spTree>
    <p:extLst>
      <p:ext uri="{BB962C8B-B14F-4D97-AF65-F5344CB8AC3E}">
        <p14:creationId xmlns:p14="http://schemas.microsoft.com/office/powerpoint/2010/main" val="129184315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lock-74">
            <a:extLst>
              <a:ext uri="{FF2B5EF4-FFF2-40B4-BE49-F238E27FC236}">
                <a16:creationId xmlns:a16="http://schemas.microsoft.com/office/drawing/2014/main" id="{9C96B853-B2F2-4EB9-8D5F-7398A44CED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75">
            <a:extLst>
              <a:ext uri="{FF2B5EF4-FFF2-40B4-BE49-F238E27FC236}">
                <a16:creationId xmlns:a16="http://schemas.microsoft.com/office/drawing/2014/main" id="{67179281-B0DB-4E46-B796-4D95C199FE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76">
            <a:extLst>
              <a:ext uri="{FF2B5EF4-FFF2-40B4-BE49-F238E27FC236}">
                <a16:creationId xmlns:a16="http://schemas.microsoft.com/office/drawing/2014/main" id="{C514D0F2-E8C9-4388-B3F6-D9EDFA1E8A3F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77">
            <a:extLst>
              <a:ext uri="{FF2B5EF4-FFF2-40B4-BE49-F238E27FC236}">
                <a16:creationId xmlns:a16="http://schemas.microsoft.com/office/drawing/2014/main" id="{33310790-73A1-42F6-9693-C808849223CB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78">
            <a:extLst>
              <a:ext uri="{FF2B5EF4-FFF2-40B4-BE49-F238E27FC236}">
                <a16:creationId xmlns:a16="http://schemas.microsoft.com/office/drawing/2014/main" id="{7831F1C2-C107-4E96-A3AB-CE0E7097909E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79">
            <a:extLst>
              <a:ext uri="{FF2B5EF4-FFF2-40B4-BE49-F238E27FC236}">
                <a16:creationId xmlns:a16="http://schemas.microsoft.com/office/drawing/2014/main" id="{33433C3E-EC0A-4440-B7BE-854B6B9FA871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80">
            <a:extLst>
              <a:ext uri="{FF2B5EF4-FFF2-40B4-BE49-F238E27FC236}">
                <a16:creationId xmlns:a16="http://schemas.microsoft.com/office/drawing/2014/main" id="{3E3F0F78-5A7C-4753-89B3-35082C1912A0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81">
            <a:extLst>
              <a:ext uri="{FF2B5EF4-FFF2-40B4-BE49-F238E27FC236}">
                <a16:creationId xmlns:a16="http://schemas.microsoft.com/office/drawing/2014/main" id="{32624351-9C7E-482C-9098-866CA1A6B18E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82">
            <a:extLst>
              <a:ext uri="{FF2B5EF4-FFF2-40B4-BE49-F238E27FC236}">
                <a16:creationId xmlns:a16="http://schemas.microsoft.com/office/drawing/2014/main" id="{A17CBFBB-F100-4E26-9180-B41E14E49958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83">
            <a:extLst>
              <a:ext uri="{FF2B5EF4-FFF2-40B4-BE49-F238E27FC236}">
                <a16:creationId xmlns:a16="http://schemas.microsoft.com/office/drawing/2014/main" id="{C0617F49-C8CC-4393-A12D-111ECB358264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84">
            <a:extLst>
              <a:ext uri="{FF2B5EF4-FFF2-40B4-BE49-F238E27FC236}">
                <a16:creationId xmlns:a16="http://schemas.microsoft.com/office/drawing/2014/main" id="{0F990547-E2B5-4A7B-95AA-5D94CED9F8F0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Smoking status has the clearest link with charges</a:t>
            </a:r>
          </a:p>
        </p:txBody>
      </p:sp>
      <p:sp>
        <p:nvSpPr>
          <p:cNvPr id="12" name="text-85">
            <a:extLst>
              <a:ext uri="{FF2B5EF4-FFF2-40B4-BE49-F238E27FC236}">
                <a16:creationId xmlns:a16="http://schemas.microsoft.com/office/drawing/2014/main" id="{EA0F00AA-B5B6-4CF0-B2CD-27E878D7BB99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1 · A first look at relationships</a:t>
            </a:r>
          </a:p>
        </p:txBody>
      </p:sp>
      <p:sp>
        <p:nvSpPr>
          <p:cNvPr id="13" name="text-86">
            <a:extLst>
              <a:ext uri="{FF2B5EF4-FFF2-40B4-BE49-F238E27FC236}">
                <a16:creationId xmlns:a16="http://schemas.microsoft.com/office/drawing/2014/main" id="{C46C91AC-5EC5-4171-970F-5D1789D4D133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87">
            <a:extLst>
              <a:ext uri="{FF2B5EF4-FFF2-40B4-BE49-F238E27FC236}">
                <a16:creationId xmlns:a16="http://schemas.microsoft.com/office/drawing/2014/main" id="{90B1C498-9A87-4EF9-80CF-AF6BF0DA903F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4 / 24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1FC13216-E81A-4A82-A3F2-52C58827CAE0}"/>
              </a:ext>
            </a:extLst>
          </p:cNvPr>
          <p:cNvGraphicFramePr/>
          <p:nvPr/>
        </p:nvGraphicFramePr>
        <p:xfrm>
          <a:off x="698500" y="2641600"/>
          <a:ext cx="9232900" cy="4737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-88">
            <a:extLst>
              <a:ext uri="{FF2B5EF4-FFF2-40B4-BE49-F238E27FC236}">
                <a16:creationId xmlns:a16="http://schemas.microsoft.com/office/drawing/2014/main" id="{FB3E0F83-3919-4027-9F9E-09C6CBEE30ED}"/>
              </a:ext>
            </a:extLst>
          </p:cNvPr>
          <p:cNvSpPr>
            <a:spLocks noGrp="1"/>
          </p:cNvSpPr>
          <p:nvPr/>
        </p:nvSpPr>
        <p:spPr>
          <a:xfrm>
            <a:off x="10642600" y="2451100"/>
            <a:ext cx="463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WHAT THE NUMBERS MEAN</a:t>
            </a:r>
          </a:p>
        </p:txBody>
      </p:sp>
      <p:sp>
        <p:nvSpPr>
          <p:cNvPr id="17" name="text-89">
            <a:extLst>
              <a:ext uri="{FF2B5EF4-FFF2-40B4-BE49-F238E27FC236}">
                <a16:creationId xmlns:a16="http://schemas.microsoft.com/office/drawing/2014/main" id="{9E5D3A23-878D-499D-87CD-792923132901}"/>
              </a:ext>
            </a:extLst>
          </p:cNvPr>
          <p:cNvSpPr>
            <a:spLocks noGrp="1"/>
          </p:cNvSpPr>
          <p:nvPr/>
        </p:nvSpPr>
        <p:spPr>
          <a:xfrm>
            <a:off x="10642600" y="2946400"/>
            <a:ext cx="46355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Closer to 1 = a stronger positive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straight-line relationship.</a:t>
            </a:r>
          </a:p>
        </p:txBody>
      </p:sp>
      <p:sp>
        <p:nvSpPr>
          <p:cNvPr id="18" name="text-90">
            <a:extLst>
              <a:ext uri="{FF2B5EF4-FFF2-40B4-BE49-F238E27FC236}">
                <a16:creationId xmlns:a16="http://schemas.microsoft.com/office/drawing/2014/main" id="{880F5B80-B962-413A-9FD5-240F430D974B}"/>
              </a:ext>
            </a:extLst>
          </p:cNvPr>
          <p:cNvSpPr>
            <a:spLocks noGrp="1"/>
          </p:cNvSpPr>
          <p:nvPr/>
        </p:nvSpPr>
        <p:spPr>
          <a:xfrm>
            <a:off x="10642600" y="4800600"/>
            <a:ext cx="463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WHAT WE SEE</a:t>
            </a:r>
          </a:p>
        </p:txBody>
      </p:sp>
      <p:sp>
        <p:nvSpPr>
          <p:cNvPr id="19" name="text-91">
            <a:extLst>
              <a:ext uri="{FF2B5EF4-FFF2-40B4-BE49-F238E27FC236}">
                <a16:creationId xmlns:a16="http://schemas.microsoft.com/office/drawing/2014/main" id="{6021A231-D4EB-4A8B-96F2-2F028C6ADC14}"/>
              </a:ext>
            </a:extLst>
          </p:cNvPr>
          <p:cNvSpPr>
            <a:spLocks noGrp="1"/>
          </p:cNvSpPr>
          <p:nvPr/>
        </p:nvSpPr>
        <p:spPr>
          <a:xfrm>
            <a:off x="10642600" y="5295900"/>
            <a:ext cx="46355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Smoking status is most strongly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associated with higher charges.</a:t>
            </a:r>
          </a:p>
        </p:txBody>
      </p:sp>
      <p:sp>
        <p:nvSpPr>
          <p:cNvPr id="20" name="block-92">
            <a:extLst>
              <a:ext uri="{FF2B5EF4-FFF2-40B4-BE49-F238E27FC236}">
                <a16:creationId xmlns:a16="http://schemas.microsoft.com/office/drawing/2014/main" id="{D95F9AC5-630F-49AF-806F-B37B73534FA6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block-93">
            <a:extLst>
              <a:ext uri="{FF2B5EF4-FFF2-40B4-BE49-F238E27FC236}">
                <a16:creationId xmlns:a16="http://schemas.microsoft.com/office/drawing/2014/main" id="{F38B0BF9-1BA2-4988-945A-D4F1AE748879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94">
            <a:extLst>
              <a:ext uri="{FF2B5EF4-FFF2-40B4-BE49-F238E27FC236}">
                <a16:creationId xmlns:a16="http://schemas.microsoft.com/office/drawing/2014/main" id="{7A301E91-77E5-4C3F-8E83-B5E30463F5EC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BE CAREFUL</a:t>
            </a:r>
          </a:p>
        </p:txBody>
      </p:sp>
      <p:sp>
        <p:nvSpPr>
          <p:cNvPr id="23" name="text-95">
            <a:extLst>
              <a:ext uri="{FF2B5EF4-FFF2-40B4-BE49-F238E27FC236}">
                <a16:creationId xmlns:a16="http://schemas.microsoft.com/office/drawing/2014/main" id="{A71C7411-D99B-4C24-9197-BD7D8CD9056E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 relationship in the data does not show that changing one thing causes the other.</a:t>
            </a:r>
          </a:p>
        </p:txBody>
      </p:sp>
    </p:spTree>
    <p:extLst>
      <p:ext uri="{BB962C8B-B14F-4D97-AF65-F5344CB8AC3E}">
        <p14:creationId xmlns:p14="http://schemas.microsoft.com/office/powerpoint/2010/main" val="14999365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C5FC98-45E1-49EB-A31B-109BDD1136C0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10325100" y="3187700"/>
            <a:ext cx="787400" cy="0"/>
          </a:xfrm>
          <a:prstGeom prst="straightConnector1">
            <a:avLst/>
          </a:prstGeom>
          <a:ln w="25400">
            <a:solidFill>
              <a:srgbClr val="596975"/>
            </a:solidFill>
            <a:tailEnd type="triangle" w="med" len="med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E71E89-4E04-48DF-8C3D-95CBA1FB0A6D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5156200" y="3187700"/>
            <a:ext cx="774700" cy="0"/>
          </a:xfrm>
          <a:prstGeom prst="straightConnector1">
            <a:avLst/>
          </a:prstGeom>
          <a:ln w="25400">
            <a:solidFill>
              <a:srgbClr val="596975"/>
            </a:solidFill>
            <a:tailEnd type="triangle" w="med" len="med"/>
          </a:ln>
        </p:spPr>
      </p:cxnSp>
      <p:sp>
        <p:nvSpPr>
          <p:cNvPr id="32" name="block-96">
            <a:extLst>
              <a:ext uri="{FF2B5EF4-FFF2-40B4-BE49-F238E27FC236}">
                <a16:creationId xmlns:a16="http://schemas.microsoft.com/office/drawing/2014/main" id="{49E3F2EC-268E-4AF6-9718-8C39F97BB6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97">
            <a:extLst>
              <a:ext uri="{FF2B5EF4-FFF2-40B4-BE49-F238E27FC236}">
                <a16:creationId xmlns:a16="http://schemas.microsoft.com/office/drawing/2014/main" id="{C70B4481-CB04-4062-A743-C7276ACCBC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98">
            <a:extLst>
              <a:ext uri="{FF2B5EF4-FFF2-40B4-BE49-F238E27FC236}">
                <a16:creationId xmlns:a16="http://schemas.microsoft.com/office/drawing/2014/main" id="{A89AEDEA-0A58-4F9C-8277-6DA3F460441A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99">
            <a:extLst>
              <a:ext uri="{FF2B5EF4-FFF2-40B4-BE49-F238E27FC236}">
                <a16:creationId xmlns:a16="http://schemas.microsoft.com/office/drawing/2014/main" id="{D46AA375-D7E9-4C4B-8C0F-3D02217BC314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100">
            <a:extLst>
              <a:ext uri="{FF2B5EF4-FFF2-40B4-BE49-F238E27FC236}">
                <a16:creationId xmlns:a16="http://schemas.microsoft.com/office/drawing/2014/main" id="{A6992EB7-73A6-4135-A3D6-C4967B0ED741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101">
            <a:extLst>
              <a:ext uri="{FF2B5EF4-FFF2-40B4-BE49-F238E27FC236}">
                <a16:creationId xmlns:a16="http://schemas.microsoft.com/office/drawing/2014/main" id="{16D842AF-7056-4D00-9B72-6BD55D9127C6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102">
            <a:extLst>
              <a:ext uri="{FF2B5EF4-FFF2-40B4-BE49-F238E27FC236}">
                <a16:creationId xmlns:a16="http://schemas.microsoft.com/office/drawing/2014/main" id="{A34B6484-8535-48DA-9655-9B62D3F89257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103">
            <a:extLst>
              <a:ext uri="{FF2B5EF4-FFF2-40B4-BE49-F238E27FC236}">
                <a16:creationId xmlns:a16="http://schemas.microsoft.com/office/drawing/2014/main" id="{9C62B44C-5B07-4723-B54F-81FE62075C2B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104">
            <a:extLst>
              <a:ext uri="{FF2B5EF4-FFF2-40B4-BE49-F238E27FC236}">
                <a16:creationId xmlns:a16="http://schemas.microsoft.com/office/drawing/2014/main" id="{27FB464F-4B3B-45F2-851C-213F0E958600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05">
            <a:extLst>
              <a:ext uri="{FF2B5EF4-FFF2-40B4-BE49-F238E27FC236}">
                <a16:creationId xmlns:a16="http://schemas.microsoft.com/office/drawing/2014/main" id="{226B5D25-C7BB-49B0-9BC4-121E90766578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106">
            <a:extLst>
              <a:ext uri="{FF2B5EF4-FFF2-40B4-BE49-F238E27FC236}">
                <a16:creationId xmlns:a16="http://schemas.microsoft.com/office/drawing/2014/main" id="{71FB1C83-A11A-4EA1-B688-0F36B51CEB10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How do we decide whether a hypothesis is supported?</a:t>
            </a:r>
          </a:p>
        </p:txBody>
      </p:sp>
      <p:sp>
        <p:nvSpPr>
          <p:cNvPr id="12" name="text-107">
            <a:extLst>
              <a:ext uri="{FF2B5EF4-FFF2-40B4-BE49-F238E27FC236}">
                <a16:creationId xmlns:a16="http://schemas.microsoft.com/office/drawing/2014/main" id="{57F71D1B-B429-4956-8806-B1666CB0AE46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2 · Three tests, using the same decision rule</a:t>
            </a:r>
          </a:p>
        </p:txBody>
      </p:sp>
      <p:sp>
        <p:nvSpPr>
          <p:cNvPr id="13" name="text-108">
            <a:extLst>
              <a:ext uri="{FF2B5EF4-FFF2-40B4-BE49-F238E27FC236}">
                <a16:creationId xmlns:a16="http://schemas.microsoft.com/office/drawing/2014/main" id="{75DC1092-28E7-4BA0-97FC-52A0C883F3EC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109">
            <a:extLst>
              <a:ext uri="{FF2B5EF4-FFF2-40B4-BE49-F238E27FC236}">
                <a16:creationId xmlns:a16="http://schemas.microsoft.com/office/drawing/2014/main" id="{DC176776-24DB-4842-8F6D-F70BCBA2EA40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5 / 24</a:t>
            </a:r>
          </a:p>
        </p:txBody>
      </p:sp>
      <p:sp>
        <p:nvSpPr>
          <p:cNvPr id="15" name="block-110">
            <a:extLst>
              <a:ext uri="{FF2B5EF4-FFF2-40B4-BE49-F238E27FC236}">
                <a16:creationId xmlns:a16="http://schemas.microsoft.com/office/drawing/2014/main" id="{1B4FF702-4116-46EA-9C99-D64A91F908ED}"/>
              </a:ext>
            </a:extLst>
          </p:cNvPr>
          <p:cNvSpPr>
            <a:spLocks noGrp="1"/>
          </p:cNvSpPr>
          <p:nvPr/>
        </p:nvSpPr>
        <p:spPr>
          <a:xfrm>
            <a:off x="762000" y="2527300"/>
            <a:ext cx="4394200" cy="1320800"/>
          </a:xfrm>
          <a:prstGeom prst="roundRect">
            <a:avLst>
              <a:gd name="adj" fmla="val 7692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111">
            <a:extLst>
              <a:ext uri="{FF2B5EF4-FFF2-40B4-BE49-F238E27FC236}">
                <a16:creationId xmlns:a16="http://schemas.microsoft.com/office/drawing/2014/main" id="{A850D473-4E3C-417F-8283-B060FFE4BB3B}"/>
              </a:ext>
            </a:extLst>
          </p:cNvPr>
          <p:cNvSpPr>
            <a:spLocks noGrp="1"/>
          </p:cNvSpPr>
          <p:nvPr/>
        </p:nvSpPr>
        <p:spPr>
          <a:xfrm>
            <a:off x="914400" y="2603500"/>
            <a:ext cx="4089400" cy="1168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State a starting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 (H₀)</a:t>
            </a:r>
          </a:p>
        </p:txBody>
      </p:sp>
      <p:sp>
        <p:nvSpPr>
          <p:cNvPr id="17" name="block-112">
            <a:extLst>
              <a:ext uri="{FF2B5EF4-FFF2-40B4-BE49-F238E27FC236}">
                <a16:creationId xmlns:a16="http://schemas.microsoft.com/office/drawing/2014/main" id="{7CC0A849-CA8E-434D-A7B7-341DC6EEA697}"/>
              </a:ext>
            </a:extLst>
          </p:cNvPr>
          <p:cNvSpPr>
            <a:spLocks noGrp="1"/>
          </p:cNvSpPr>
          <p:nvPr/>
        </p:nvSpPr>
        <p:spPr>
          <a:xfrm>
            <a:off x="5930900" y="2527300"/>
            <a:ext cx="4394200" cy="1320800"/>
          </a:xfrm>
          <a:prstGeom prst="roundRect">
            <a:avLst>
              <a:gd name="adj" fmla="val 7692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113">
            <a:extLst>
              <a:ext uri="{FF2B5EF4-FFF2-40B4-BE49-F238E27FC236}">
                <a16:creationId xmlns:a16="http://schemas.microsoft.com/office/drawing/2014/main" id="{68A8426C-8A94-41BA-A54E-25240DFDFAA4}"/>
              </a:ext>
            </a:extLst>
          </p:cNvPr>
          <p:cNvSpPr>
            <a:spLocks noGrp="1"/>
          </p:cNvSpPr>
          <p:nvPr/>
        </p:nvSpPr>
        <p:spPr>
          <a:xfrm>
            <a:off x="6083300" y="2603500"/>
            <a:ext cx="4089400" cy="1168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Calculate a p-value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the data</a:t>
            </a:r>
          </a:p>
        </p:txBody>
      </p:sp>
      <p:sp>
        <p:nvSpPr>
          <p:cNvPr id="19" name="block-114">
            <a:extLst>
              <a:ext uri="{FF2B5EF4-FFF2-40B4-BE49-F238E27FC236}">
                <a16:creationId xmlns:a16="http://schemas.microsoft.com/office/drawing/2014/main" id="{AD5F4871-C73A-4C48-A418-63B1A9DD171D}"/>
              </a:ext>
            </a:extLst>
          </p:cNvPr>
          <p:cNvSpPr>
            <a:spLocks noGrp="1"/>
          </p:cNvSpPr>
          <p:nvPr/>
        </p:nvSpPr>
        <p:spPr>
          <a:xfrm>
            <a:off x="11112500" y="2527300"/>
            <a:ext cx="4381500" cy="1320800"/>
          </a:xfrm>
          <a:prstGeom prst="roundRect">
            <a:avLst>
              <a:gd name="adj" fmla="val 7692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115">
            <a:extLst>
              <a:ext uri="{FF2B5EF4-FFF2-40B4-BE49-F238E27FC236}">
                <a16:creationId xmlns:a16="http://schemas.microsoft.com/office/drawing/2014/main" id="{A7840109-E206-4E1E-AA2F-B87E98DA3B13}"/>
              </a:ext>
            </a:extLst>
          </p:cNvPr>
          <p:cNvSpPr>
            <a:spLocks noGrp="1"/>
          </p:cNvSpPr>
          <p:nvPr/>
        </p:nvSpPr>
        <p:spPr>
          <a:xfrm>
            <a:off x="11264900" y="2603500"/>
            <a:ext cx="4076700" cy="1168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Compare it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0.05</a:t>
            </a:r>
          </a:p>
        </p:txBody>
      </p:sp>
      <p:sp>
        <p:nvSpPr>
          <p:cNvPr id="23" name="text-116">
            <a:extLst>
              <a:ext uri="{FF2B5EF4-FFF2-40B4-BE49-F238E27FC236}">
                <a16:creationId xmlns:a16="http://schemas.microsoft.com/office/drawing/2014/main" id="{70F31892-D73D-4761-9077-C6330991E541}"/>
              </a:ext>
            </a:extLst>
          </p:cNvPr>
          <p:cNvSpPr>
            <a:spLocks noGrp="1"/>
          </p:cNvSpPr>
          <p:nvPr/>
        </p:nvSpPr>
        <p:spPr>
          <a:xfrm>
            <a:off x="850900" y="4597400"/>
            <a:ext cx="70104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IF p ≤ 0.05</a:t>
            </a:r>
          </a:p>
        </p:txBody>
      </p:sp>
      <p:sp>
        <p:nvSpPr>
          <p:cNvPr id="24" name="text-117">
            <a:extLst>
              <a:ext uri="{FF2B5EF4-FFF2-40B4-BE49-F238E27FC236}">
                <a16:creationId xmlns:a16="http://schemas.microsoft.com/office/drawing/2014/main" id="{F24FE951-6FF6-4E9B-8A79-D7BF1EBBA981}"/>
              </a:ext>
            </a:extLst>
          </p:cNvPr>
          <p:cNvSpPr>
            <a:spLocks noGrp="1"/>
          </p:cNvSpPr>
          <p:nvPr/>
        </p:nvSpPr>
        <p:spPr>
          <a:xfrm>
            <a:off x="850900" y="5092700"/>
            <a:ext cx="70104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Reject H₀: the data gives enough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evidence against the assumption.</a:t>
            </a:r>
          </a:p>
        </p:txBody>
      </p:sp>
      <p:sp>
        <p:nvSpPr>
          <p:cNvPr id="25" name="text-118">
            <a:extLst>
              <a:ext uri="{FF2B5EF4-FFF2-40B4-BE49-F238E27FC236}">
                <a16:creationId xmlns:a16="http://schemas.microsoft.com/office/drawing/2014/main" id="{1C75CFC9-3B09-4572-B38F-31C5E6705ECD}"/>
              </a:ext>
            </a:extLst>
          </p:cNvPr>
          <p:cNvSpPr>
            <a:spLocks noGrp="1"/>
          </p:cNvSpPr>
          <p:nvPr/>
        </p:nvSpPr>
        <p:spPr>
          <a:xfrm>
            <a:off x="8572500" y="4597400"/>
            <a:ext cx="6731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IF p &gt; 0.05</a:t>
            </a:r>
          </a:p>
        </p:txBody>
      </p:sp>
      <p:sp>
        <p:nvSpPr>
          <p:cNvPr id="26" name="text-119">
            <a:extLst>
              <a:ext uri="{FF2B5EF4-FFF2-40B4-BE49-F238E27FC236}">
                <a16:creationId xmlns:a16="http://schemas.microsoft.com/office/drawing/2014/main" id="{35C89B78-687D-4F6C-89FA-EF6D40A3C1E1}"/>
              </a:ext>
            </a:extLst>
          </p:cNvPr>
          <p:cNvSpPr>
            <a:spLocks noGrp="1"/>
          </p:cNvSpPr>
          <p:nvPr/>
        </p:nvSpPr>
        <p:spPr>
          <a:xfrm>
            <a:off x="8572500" y="5092700"/>
            <a:ext cx="67310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Do not reject H₀: there is not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enough evidence against it.</a:t>
            </a:r>
          </a:p>
        </p:txBody>
      </p:sp>
      <p:sp>
        <p:nvSpPr>
          <p:cNvPr id="27" name="text-120">
            <a:extLst>
              <a:ext uri="{FF2B5EF4-FFF2-40B4-BE49-F238E27FC236}">
                <a16:creationId xmlns:a16="http://schemas.microsoft.com/office/drawing/2014/main" id="{FF43175D-42F1-4341-8F99-20E0A3F7DA50}"/>
              </a:ext>
            </a:extLst>
          </p:cNvPr>
          <p:cNvSpPr>
            <a:spLocks noGrp="1"/>
          </p:cNvSpPr>
          <p:nvPr/>
        </p:nvSpPr>
        <p:spPr>
          <a:xfrm>
            <a:off x="825500" y="6642100"/>
            <a:ext cx="14478000" cy="939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p-value measures how surprising a result this extreme would be if H₀ and the test assumptions held.</a:t>
            </a:r>
          </a:p>
        </p:txBody>
      </p:sp>
      <p:sp>
        <p:nvSpPr>
          <p:cNvPr id="28" name="block-121">
            <a:extLst>
              <a:ext uri="{FF2B5EF4-FFF2-40B4-BE49-F238E27FC236}">
                <a16:creationId xmlns:a16="http://schemas.microsoft.com/office/drawing/2014/main" id="{B65762CC-5824-4E9C-BE6C-3BCFD070FDA9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block-122">
            <a:extLst>
              <a:ext uri="{FF2B5EF4-FFF2-40B4-BE49-F238E27FC236}">
                <a16:creationId xmlns:a16="http://schemas.microsoft.com/office/drawing/2014/main" id="{F956ADAF-958B-4AB8-8C92-BE5027DF6A71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123">
            <a:extLst>
              <a:ext uri="{FF2B5EF4-FFF2-40B4-BE49-F238E27FC236}">
                <a16:creationId xmlns:a16="http://schemas.microsoft.com/office/drawing/2014/main" id="{97CED570-C244-4A13-92FF-30B310EFF5B1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REMEMBER</a:t>
            </a:r>
          </a:p>
        </p:txBody>
      </p:sp>
      <p:sp>
        <p:nvSpPr>
          <p:cNvPr id="31" name="text-124">
            <a:extLst>
              <a:ext uri="{FF2B5EF4-FFF2-40B4-BE49-F238E27FC236}">
                <a16:creationId xmlns:a16="http://schemas.microsoft.com/office/drawing/2014/main" id="{0DC3C113-8540-4EFC-A23A-77BA85568466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 large p-value does not prove H₀. A small p-value does not measure the size of a difference.</a:t>
            </a:r>
          </a:p>
        </p:txBody>
      </p:sp>
    </p:spTree>
    <p:extLst>
      <p:ext uri="{BB962C8B-B14F-4D97-AF65-F5344CB8AC3E}">
        <p14:creationId xmlns:p14="http://schemas.microsoft.com/office/powerpoint/2010/main" val="771599827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lock-125">
            <a:extLst>
              <a:ext uri="{FF2B5EF4-FFF2-40B4-BE49-F238E27FC236}">
                <a16:creationId xmlns:a16="http://schemas.microsoft.com/office/drawing/2014/main" id="{9D8A0C36-A2E2-4ACF-9AB4-CD64B76B5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126">
            <a:extLst>
              <a:ext uri="{FF2B5EF4-FFF2-40B4-BE49-F238E27FC236}">
                <a16:creationId xmlns:a16="http://schemas.microsoft.com/office/drawing/2014/main" id="{39E261BD-6866-4927-8158-12E11315E8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127">
            <a:extLst>
              <a:ext uri="{FF2B5EF4-FFF2-40B4-BE49-F238E27FC236}">
                <a16:creationId xmlns:a16="http://schemas.microsoft.com/office/drawing/2014/main" id="{AC6D75DC-F203-4101-8C62-D4DED3AF5548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128">
            <a:extLst>
              <a:ext uri="{FF2B5EF4-FFF2-40B4-BE49-F238E27FC236}">
                <a16:creationId xmlns:a16="http://schemas.microsoft.com/office/drawing/2014/main" id="{EC37A242-AD76-42C9-B4C4-D31433C7F40D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129">
            <a:extLst>
              <a:ext uri="{FF2B5EF4-FFF2-40B4-BE49-F238E27FC236}">
                <a16:creationId xmlns:a16="http://schemas.microsoft.com/office/drawing/2014/main" id="{33BD3D47-145D-442E-B497-A03554936DAC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130">
            <a:extLst>
              <a:ext uri="{FF2B5EF4-FFF2-40B4-BE49-F238E27FC236}">
                <a16:creationId xmlns:a16="http://schemas.microsoft.com/office/drawing/2014/main" id="{0FB2F15D-BD03-4ADE-B83C-E9867088F7B6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131">
            <a:extLst>
              <a:ext uri="{FF2B5EF4-FFF2-40B4-BE49-F238E27FC236}">
                <a16:creationId xmlns:a16="http://schemas.microsoft.com/office/drawing/2014/main" id="{32470676-EB27-4A56-83B9-084DA67A231E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132">
            <a:extLst>
              <a:ext uri="{FF2B5EF4-FFF2-40B4-BE49-F238E27FC236}">
                <a16:creationId xmlns:a16="http://schemas.microsoft.com/office/drawing/2014/main" id="{79D8FCD2-1915-4C92-A616-B1C532C5FC14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133">
            <a:extLst>
              <a:ext uri="{FF2B5EF4-FFF2-40B4-BE49-F238E27FC236}">
                <a16:creationId xmlns:a16="http://schemas.microsoft.com/office/drawing/2014/main" id="{1CB182D8-CC4D-4502-8D80-EDDE150FAD20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34">
            <a:extLst>
              <a:ext uri="{FF2B5EF4-FFF2-40B4-BE49-F238E27FC236}">
                <a16:creationId xmlns:a16="http://schemas.microsoft.com/office/drawing/2014/main" id="{1F7B0823-8B0A-4463-85B4-970BEA3D9EDA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135">
            <a:extLst>
              <a:ext uri="{FF2B5EF4-FFF2-40B4-BE49-F238E27FC236}">
                <a16:creationId xmlns:a16="http://schemas.microsoft.com/office/drawing/2014/main" id="{E7DE6B6A-792B-4891-AC85-2376868FCE65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Test 1: Is the average charge $10,000?</a:t>
            </a:r>
          </a:p>
        </p:txBody>
      </p:sp>
      <p:sp>
        <p:nvSpPr>
          <p:cNvPr id="12" name="text-136">
            <a:extLst>
              <a:ext uri="{FF2B5EF4-FFF2-40B4-BE49-F238E27FC236}">
                <a16:creationId xmlns:a16="http://schemas.microsoft.com/office/drawing/2014/main" id="{545D7A69-8A11-42A9-9338-E9EBF12A5159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One-sample t-test · $10,000 is our exercise benchmark, not a US national average</a:t>
            </a:r>
          </a:p>
        </p:txBody>
      </p:sp>
      <p:sp>
        <p:nvSpPr>
          <p:cNvPr id="13" name="text-137">
            <a:extLst>
              <a:ext uri="{FF2B5EF4-FFF2-40B4-BE49-F238E27FC236}">
                <a16:creationId xmlns:a16="http://schemas.microsoft.com/office/drawing/2014/main" id="{504E4145-B601-4032-9FD6-1D20C65CF0F1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138">
            <a:extLst>
              <a:ext uri="{FF2B5EF4-FFF2-40B4-BE49-F238E27FC236}">
                <a16:creationId xmlns:a16="http://schemas.microsoft.com/office/drawing/2014/main" id="{CE886A40-7853-4B10-8E1E-12853B19C651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6 / 24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84D223D2-4564-404C-8DD1-245B4AB2EC13}"/>
              </a:ext>
            </a:extLst>
          </p:cNvPr>
          <p:cNvGraphicFramePr/>
          <p:nvPr/>
        </p:nvGraphicFramePr>
        <p:xfrm>
          <a:off x="698500" y="2743200"/>
          <a:ext cx="8763000" cy="462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-139">
            <a:extLst>
              <a:ext uri="{FF2B5EF4-FFF2-40B4-BE49-F238E27FC236}">
                <a16:creationId xmlns:a16="http://schemas.microsoft.com/office/drawing/2014/main" id="{2AD25BCD-368E-49A2-AB13-68C52F060174}"/>
              </a:ext>
            </a:extLst>
          </p:cNvPr>
          <p:cNvSpPr>
            <a:spLocks noGrp="1"/>
          </p:cNvSpPr>
          <p:nvPr/>
        </p:nvSpPr>
        <p:spPr>
          <a:xfrm>
            <a:off x="10185400" y="2247900"/>
            <a:ext cx="516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H₀: STARTING ASSUMPTION</a:t>
            </a:r>
          </a:p>
        </p:txBody>
      </p:sp>
      <p:sp>
        <p:nvSpPr>
          <p:cNvPr id="17" name="text-140">
            <a:extLst>
              <a:ext uri="{FF2B5EF4-FFF2-40B4-BE49-F238E27FC236}">
                <a16:creationId xmlns:a16="http://schemas.microsoft.com/office/drawing/2014/main" id="{ECFA3CAB-7743-40B7-A145-530307AB6550}"/>
              </a:ext>
            </a:extLst>
          </p:cNvPr>
          <p:cNvSpPr>
            <a:spLocks noGrp="1"/>
          </p:cNvSpPr>
          <p:nvPr/>
        </p:nvSpPr>
        <p:spPr>
          <a:xfrm>
            <a:off x="10185400" y="2743200"/>
            <a:ext cx="51689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population mean charge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is $10,000.</a:t>
            </a:r>
          </a:p>
        </p:txBody>
      </p:sp>
      <p:sp>
        <p:nvSpPr>
          <p:cNvPr id="18" name="text-141">
            <a:extLst>
              <a:ext uri="{FF2B5EF4-FFF2-40B4-BE49-F238E27FC236}">
                <a16:creationId xmlns:a16="http://schemas.microsoft.com/office/drawing/2014/main" id="{9175DC34-4692-4C1F-9259-9E2BCC11A803}"/>
              </a:ext>
            </a:extLst>
          </p:cNvPr>
          <p:cNvSpPr>
            <a:spLocks noGrp="1"/>
          </p:cNvSpPr>
          <p:nvPr/>
        </p:nvSpPr>
        <p:spPr>
          <a:xfrm>
            <a:off x="10185400" y="4089400"/>
            <a:ext cx="516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H₁: ALTERNATIVE</a:t>
            </a:r>
          </a:p>
        </p:txBody>
      </p:sp>
      <p:sp>
        <p:nvSpPr>
          <p:cNvPr id="19" name="text-142">
            <a:extLst>
              <a:ext uri="{FF2B5EF4-FFF2-40B4-BE49-F238E27FC236}">
                <a16:creationId xmlns:a16="http://schemas.microsoft.com/office/drawing/2014/main" id="{B36F279E-4DF6-4706-B576-A3E46DC1E6EC}"/>
              </a:ext>
            </a:extLst>
          </p:cNvPr>
          <p:cNvSpPr>
            <a:spLocks noGrp="1"/>
          </p:cNvSpPr>
          <p:nvPr/>
        </p:nvSpPr>
        <p:spPr>
          <a:xfrm>
            <a:off x="10185400" y="4584700"/>
            <a:ext cx="51689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population mean charge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is different from $10,000.</a:t>
            </a:r>
          </a:p>
        </p:txBody>
      </p:sp>
      <p:sp>
        <p:nvSpPr>
          <p:cNvPr id="20" name="text-143">
            <a:extLst>
              <a:ext uri="{FF2B5EF4-FFF2-40B4-BE49-F238E27FC236}">
                <a16:creationId xmlns:a16="http://schemas.microsoft.com/office/drawing/2014/main" id="{808A2EF1-1D49-4831-A44A-DDA08BDA3C7A}"/>
              </a:ext>
            </a:extLst>
          </p:cNvPr>
          <p:cNvSpPr>
            <a:spLocks noGrp="1"/>
          </p:cNvSpPr>
          <p:nvPr/>
        </p:nvSpPr>
        <p:spPr>
          <a:xfrm>
            <a:off x="10185400" y="6083300"/>
            <a:ext cx="5168900" cy="124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p = 2.38 × 10⁻²²</a:t>
            </a:r>
          </a:p>
          <a:p>
            <a:pPr algn="l">
              <a:defRPr sz="26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Below 0.05 → reject H₀</a:t>
            </a:r>
          </a:p>
        </p:txBody>
      </p:sp>
      <p:sp>
        <p:nvSpPr>
          <p:cNvPr id="21" name="block-144">
            <a:extLst>
              <a:ext uri="{FF2B5EF4-FFF2-40B4-BE49-F238E27FC236}">
                <a16:creationId xmlns:a16="http://schemas.microsoft.com/office/drawing/2014/main" id="{C8A70598-BE6C-4498-AAFE-9BC3DC2E2513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lock-145">
            <a:extLst>
              <a:ext uri="{FF2B5EF4-FFF2-40B4-BE49-F238E27FC236}">
                <a16:creationId xmlns:a16="http://schemas.microsoft.com/office/drawing/2014/main" id="{BC1E42F0-3326-4941-B79B-7CE530FDDE8E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146">
            <a:extLst>
              <a:ext uri="{FF2B5EF4-FFF2-40B4-BE49-F238E27FC236}">
                <a16:creationId xmlns:a16="http://schemas.microsoft.com/office/drawing/2014/main" id="{A792F7EA-FD5F-4334-82AF-A87816B6720A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4" name="text-147">
            <a:extLst>
              <a:ext uri="{FF2B5EF4-FFF2-40B4-BE49-F238E27FC236}">
                <a16:creationId xmlns:a16="http://schemas.microsoft.com/office/drawing/2014/main" id="{845D1386-F068-49BC-8BF2-CA9A55A614DD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mean differs from our benchmark. The observed average is higher, at $13,279.12.</a:t>
            </a:r>
          </a:p>
        </p:txBody>
      </p:sp>
    </p:spTree>
    <p:extLst>
      <p:ext uri="{BB962C8B-B14F-4D97-AF65-F5344CB8AC3E}">
        <p14:creationId xmlns:p14="http://schemas.microsoft.com/office/powerpoint/2010/main" val="1154091203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lock-148">
            <a:extLst>
              <a:ext uri="{FF2B5EF4-FFF2-40B4-BE49-F238E27FC236}">
                <a16:creationId xmlns:a16="http://schemas.microsoft.com/office/drawing/2014/main" id="{4542557A-1B2D-45EE-AAD7-9091C8B30D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149">
            <a:extLst>
              <a:ext uri="{FF2B5EF4-FFF2-40B4-BE49-F238E27FC236}">
                <a16:creationId xmlns:a16="http://schemas.microsoft.com/office/drawing/2014/main" id="{E39C6AA6-39E5-4AD8-9041-E7DA6ABF35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150">
            <a:extLst>
              <a:ext uri="{FF2B5EF4-FFF2-40B4-BE49-F238E27FC236}">
                <a16:creationId xmlns:a16="http://schemas.microsoft.com/office/drawing/2014/main" id="{78E7BEC5-D2AB-45F7-9283-BEA2C9D1F569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151">
            <a:extLst>
              <a:ext uri="{FF2B5EF4-FFF2-40B4-BE49-F238E27FC236}">
                <a16:creationId xmlns:a16="http://schemas.microsoft.com/office/drawing/2014/main" id="{B59AF8C2-F0B8-41F4-95F6-7818ADD35FC8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152">
            <a:extLst>
              <a:ext uri="{FF2B5EF4-FFF2-40B4-BE49-F238E27FC236}">
                <a16:creationId xmlns:a16="http://schemas.microsoft.com/office/drawing/2014/main" id="{CB5248BA-F842-482D-939A-4B429CB04FE0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153">
            <a:extLst>
              <a:ext uri="{FF2B5EF4-FFF2-40B4-BE49-F238E27FC236}">
                <a16:creationId xmlns:a16="http://schemas.microsoft.com/office/drawing/2014/main" id="{D84FAC56-6069-43BA-B92B-DFBF241C8871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154">
            <a:extLst>
              <a:ext uri="{FF2B5EF4-FFF2-40B4-BE49-F238E27FC236}">
                <a16:creationId xmlns:a16="http://schemas.microsoft.com/office/drawing/2014/main" id="{E14F09DB-D5A5-43B7-9E76-B51B7715AAFF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155">
            <a:extLst>
              <a:ext uri="{FF2B5EF4-FFF2-40B4-BE49-F238E27FC236}">
                <a16:creationId xmlns:a16="http://schemas.microsoft.com/office/drawing/2014/main" id="{AD7530E7-B22E-444F-A051-ACFC7D28C71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156">
            <a:extLst>
              <a:ext uri="{FF2B5EF4-FFF2-40B4-BE49-F238E27FC236}">
                <a16:creationId xmlns:a16="http://schemas.microsoft.com/office/drawing/2014/main" id="{5FB5F4A7-DCCD-4C39-A722-C7F836AE5162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57">
            <a:extLst>
              <a:ext uri="{FF2B5EF4-FFF2-40B4-BE49-F238E27FC236}">
                <a16:creationId xmlns:a16="http://schemas.microsoft.com/office/drawing/2014/main" id="{C17CEB63-1766-4121-B7B4-E14FCEB92E68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158">
            <a:extLst>
              <a:ext uri="{FF2B5EF4-FFF2-40B4-BE49-F238E27FC236}">
                <a16:creationId xmlns:a16="http://schemas.microsoft.com/office/drawing/2014/main" id="{A4B21443-C56A-4F4A-A8C5-E5E049F7A2D9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Test 2: Do smokers have different average charges?</a:t>
            </a:r>
          </a:p>
        </p:txBody>
      </p:sp>
      <p:sp>
        <p:nvSpPr>
          <p:cNvPr id="12" name="text-159">
            <a:extLst>
              <a:ext uri="{FF2B5EF4-FFF2-40B4-BE49-F238E27FC236}">
                <a16:creationId xmlns:a16="http://schemas.microsoft.com/office/drawing/2014/main" id="{3B0B7CB1-3480-4638-97A9-14DAF826AAF3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Welch’s two-sample t-test · Comparing two groups of records</a:t>
            </a:r>
          </a:p>
        </p:txBody>
      </p:sp>
      <p:sp>
        <p:nvSpPr>
          <p:cNvPr id="13" name="text-160">
            <a:extLst>
              <a:ext uri="{FF2B5EF4-FFF2-40B4-BE49-F238E27FC236}">
                <a16:creationId xmlns:a16="http://schemas.microsoft.com/office/drawing/2014/main" id="{FA8217B5-ED7F-42E6-BCE9-D64B34F10278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161">
            <a:extLst>
              <a:ext uri="{FF2B5EF4-FFF2-40B4-BE49-F238E27FC236}">
                <a16:creationId xmlns:a16="http://schemas.microsoft.com/office/drawing/2014/main" id="{BA2A35B6-859D-46A2-AD99-AE4AF966C2D0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7 / 24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F485E41D-7A05-4C44-BCC9-6941B413D70C}"/>
              </a:ext>
            </a:extLst>
          </p:cNvPr>
          <p:cNvGraphicFramePr/>
          <p:nvPr/>
        </p:nvGraphicFramePr>
        <p:xfrm>
          <a:off x="698500" y="2806700"/>
          <a:ext cx="8839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-162">
            <a:extLst>
              <a:ext uri="{FF2B5EF4-FFF2-40B4-BE49-F238E27FC236}">
                <a16:creationId xmlns:a16="http://schemas.microsoft.com/office/drawing/2014/main" id="{3EEB10EC-BF92-42A4-A683-D32CB7CE4463}"/>
              </a:ext>
            </a:extLst>
          </p:cNvPr>
          <p:cNvSpPr>
            <a:spLocks noGrp="1"/>
          </p:cNvSpPr>
          <p:nvPr/>
        </p:nvSpPr>
        <p:spPr>
          <a:xfrm>
            <a:off x="10210800" y="2273300"/>
            <a:ext cx="506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sp>
        <p:nvSpPr>
          <p:cNvPr id="17" name="text-163">
            <a:extLst>
              <a:ext uri="{FF2B5EF4-FFF2-40B4-BE49-F238E27FC236}">
                <a16:creationId xmlns:a16="http://schemas.microsoft.com/office/drawing/2014/main" id="{3F887312-3DA2-487E-B493-117B3F07E060}"/>
              </a:ext>
            </a:extLst>
          </p:cNvPr>
          <p:cNvSpPr>
            <a:spLocks noGrp="1"/>
          </p:cNvSpPr>
          <p:nvPr/>
        </p:nvSpPr>
        <p:spPr>
          <a:xfrm>
            <a:off x="10210800" y="2768600"/>
            <a:ext cx="50673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two groups have the same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population mean charge.</a:t>
            </a:r>
          </a:p>
        </p:txBody>
      </p:sp>
      <p:sp>
        <p:nvSpPr>
          <p:cNvPr id="18" name="text-164">
            <a:extLst>
              <a:ext uri="{FF2B5EF4-FFF2-40B4-BE49-F238E27FC236}">
                <a16:creationId xmlns:a16="http://schemas.microsoft.com/office/drawing/2014/main" id="{E076FB5C-5E5D-44ED-80E7-511F85726421}"/>
              </a:ext>
            </a:extLst>
          </p:cNvPr>
          <p:cNvSpPr>
            <a:spLocks noGrp="1"/>
          </p:cNvSpPr>
          <p:nvPr/>
        </p:nvSpPr>
        <p:spPr>
          <a:xfrm>
            <a:off x="10210800" y="4089400"/>
            <a:ext cx="506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H₁</a:t>
            </a:r>
          </a:p>
        </p:txBody>
      </p:sp>
      <p:sp>
        <p:nvSpPr>
          <p:cNvPr id="19" name="text-165">
            <a:extLst>
              <a:ext uri="{FF2B5EF4-FFF2-40B4-BE49-F238E27FC236}">
                <a16:creationId xmlns:a16="http://schemas.microsoft.com/office/drawing/2014/main" id="{B978ADBA-3ADF-45B0-A45C-9E8E9DB31473}"/>
              </a:ext>
            </a:extLst>
          </p:cNvPr>
          <p:cNvSpPr>
            <a:spLocks noGrp="1"/>
          </p:cNvSpPr>
          <p:nvPr/>
        </p:nvSpPr>
        <p:spPr>
          <a:xfrm>
            <a:off x="10210800" y="4584700"/>
            <a:ext cx="50673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population mean charges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are different.</a:t>
            </a:r>
          </a:p>
        </p:txBody>
      </p:sp>
      <p:sp>
        <p:nvSpPr>
          <p:cNvPr id="20" name="text-166">
            <a:extLst>
              <a:ext uri="{FF2B5EF4-FFF2-40B4-BE49-F238E27FC236}">
                <a16:creationId xmlns:a16="http://schemas.microsoft.com/office/drawing/2014/main" id="{434E7108-FBA7-4C63-B200-CCEFD5AF321B}"/>
              </a:ext>
            </a:extLst>
          </p:cNvPr>
          <p:cNvSpPr>
            <a:spLocks noGrp="1"/>
          </p:cNvSpPr>
          <p:nvPr/>
        </p:nvSpPr>
        <p:spPr>
          <a:xfrm>
            <a:off x="10210800" y="6045200"/>
            <a:ext cx="51308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p = 6.26 × 10⁻¹⁰³</a:t>
            </a:r>
          </a:p>
          <a:p>
            <a:pPr algn="l">
              <a:defRPr sz="26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Below 0.05 → reject H₀</a:t>
            </a:r>
          </a:p>
        </p:txBody>
      </p:sp>
      <p:sp>
        <p:nvSpPr>
          <p:cNvPr id="21" name="block-167">
            <a:extLst>
              <a:ext uri="{FF2B5EF4-FFF2-40B4-BE49-F238E27FC236}">
                <a16:creationId xmlns:a16="http://schemas.microsoft.com/office/drawing/2014/main" id="{FE0DC575-0312-462C-9734-B693AAC94E82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lock-168">
            <a:extLst>
              <a:ext uri="{FF2B5EF4-FFF2-40B4-BE49-F238E27FC236}">
                <a16:creationId xmlns:a16="http://schemas.microsoft.com/office/drawing/2014/main" id="{9CA7D190-7FD3-4E5A-8DE8-29F197E5B743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169">
            <a:extLst>
              <a:ext uri="{FF2B5EF4-FFF2-40B4-BE49-F238E27FC236}">
                <a16:creationId xmlns:a16="http://schemas.microsoft.com/office/drawing/2014/main" id="{4050549E-22D9-4D3C-9D6F-742B6234223A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4" name="text-170">
            <a:extLst>
              <a:ext uri="{FF2B5EF4-FFF2-40B4-BE49-F238E27FC236}">
                <a16:creationId xmlns:a16="http://schemas.microsoft.com/office/drawing/2014/main" id="{2A93919C-3B02-443E-A71E-7C7B18B9F6AF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Smokers averaged $23,609.57 more in this dataset. This comparison does not establish causation.</a:t>
            </a:r>
          </a:p>
        </p:txBody>
      </p:sp>
    </p:spTree>
    <p:extLst>
      <p:ext uri="{BB962C8B-B14F-4D97-AF65-F5344CB8AC3E}">
        <p14:creationId xmlns:p14="http://schemas.microsoft.com/office/powerpoint/2010/main" val="194692511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lock-171">
            <a:extLst>
              <a:ext uri="{FF2B5EF4-FFF2-40B4-BE49-F238E27FC236}">
                <a16:creationId xmlns:a16="http://schemas.microsoft.com/office/drawing/2014/main" id="{38291E42-D163-4ECD-B59F-FEDB6F9BEC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172">
            <a:extLst>
              <a:ext uri="{FF2B5EF4-FFF2-40B4-BE49-F238E27FC236}">
                <a16:creationId xmlns:a16="http://schemas.microsoft.com/office/drawing/2014/main" id="{933A5970-1386-41BA-927B-8D4920599E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173">
            <a:extLst>
              <a:ext uri="{FF2B5EF4-FFF2-40B4-BE49-F238E27FC236}">
                <a16:creationId xmlns:a16="http://schemas.microsoft.com/office/drawing/2014/main" id="{8E15EC75-80AE-48D6-8175-6B9D7C2C5E8B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174">
            <a:extLst>
              <a:ext uri="{FF2B5EF4-FFF2-40B4-BE49-F238E27FC236}">
                <a16:creationId xmlns:a16="http://schemas.microsoft.com/office/drawing/2014/main" id="{BD9E0C6B-5FD7-4847-A3DA-60409A340417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175">
            <a:extLst>
              <a:ext uri="{FF2B5EF4-FFF2-40B4-BE49-F238E27FC236}">
                <a16:creationId xmlns:a16="http://schemas.microsoft.com/office/drawing/2014/main" id="{0A92CF22-D266-4488-9564-803663FDD056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176">
            <a:extLst>
              <a:ext uri="{FF2B5EF4-FFF2-40B4-BE49-F238E27FC236}">
                <a16:creationId xmlns:a16="http://schemas.microsoft.com/office/drawing/2014/main" id="{B08BE436-999C-49B3-A2FA-0D03947C38B4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177">
            <a:extLst>
              <a:ext uri="{FF2B5EF4-FFF2-40B4-BE49-F238E27FC236}">
                <a16:creationId xmlns:a16="http://schemas.microsoft.com/office/drawing/2014/main" id="{6B9A7D43-AD93-465E-96F0-FD93B09F4ED0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178">
            <a:extLst>
              <a:ext uri="{FF2B5EF4-FFF2-40B4-BE49-F238E27FC236}">
                <a16:creationId xmlns:a16="http://schemas.microsoft.com/office/drawing/2014/main" id="{DFCA30F5-5515-4445-AAE4-5E89B4E53D1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179">
            <a:extLst>
              <a:ext uri="{FF2B5EF4-FFF2-40B4-BE49-F238E27FC236}">
                <a16:creationId xmlns:a16="http://schemas.microsoft.com/office/drawing/2014/main" id="{B54AD717-A660-4C55-979B-C6FB3D5D9F13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180">
            <a:extLst>
              <a:ext uri="{FF2B5EF4-FFF2-40B4-BE49-F238E27FC236}">
                <a16:creationId xmlns:a16="http://schemas.microsoft.com/office/drawing/2014/main" id="{1682B800-74D3-45B6-83BE-02A936D7B30B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181">
            <a:extLst>
              <a:ext uri="{FF2B5EF4-FFF2-40B4-BE49-F238E27FC236}">
                <a16:creationId xmlns:a16="http://schemas.microsoft.com/office/drawing/2014/main" id="{4A54ABE1-61D7-46C1-8586-088B05988F25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Test 3: Does smoking differ by covered dependents?</a:t>
            </a:r>
          </a:p>
        </p:txBody>
      </p:sp>
      <p:sp>
        <p:nvSpPr>
          <p:cNvPr id="12" name="text-182">
            <a:extLst>
              <a:ext uri="{FF2B5EF4-FFF2-40B4-BE49-F238E27FC236}">
                <a16:creationId xmlns:a16="http://schemas.microsoft.com/office/drawing/2014/main" id="{E80DDC5A-B87B-4352-BDBD-E5FCB612C344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Chi-square test · Two yes/no variables</a:t>
            </a:r>
          </a:p>
        </p:txBody>
      </p:sp>
      <p:sp>
        <p:nvSpPr>
          <p:cNvPr id="13" name="text-183">
            <a:extLst>
              <a:ext uri="{FF2B5EF4-FFF2-40B4-BE49-F238E27FC236}">
                <a16:creationId xmlns:a16="http://schemas.microsoft.com/office/drawing/2014/main" id="{70F44661-17AB-4721-AF2A-7D6C4097EF74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184">
            <a:extLst>
              <a:ext uri="{FF2B5EF4-FFF2-40B4-BE49-F238E27FC236}">
                <a16:creationId xmlns:a16="http://schemas.microsoft.com/office/drawing/2014/main" id="{7D9B8D60-29F0-4EB2-82C1-09F607EB04D2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8 / 24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8103B4D2-5B4C-4608-A8ED-F651FADD9245}"/>
              </a:ext>
            </a:extLst>
          </p:cNvPr>
          <p:cNvGraphicFramePr/>
          <p:nvPr/>
        </p:nvGraphicFramePr>
        <p:xfrm>
          <a:off x="685800" y="2832100"/>
          <a:ext cx="8788400" cy="448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-185">
            <a:extLst>
              <a:ext uri="{FF2B5EF4-FFF2-40B4-BE49-F238E27FC236}">
                <a16:creationId xmlns:a16="http://schemas.microsoft.com/office/drawing/2014/main" id="{D65B1041-0B9F-400C-B1FB-42C1D12835F8}"/>
              </a:ext>
            </a:extLst>
          </p:cNvPr>
          <p:cNvSpPr>
            <a:spLocks noGrp="1"/>
          </p:cNvSpPr>
          <p:nvPr/>
        </p:nvSpPr>
        <p:spPr>
          <a:xfrm>
            <a:off x="10236200" y="2260600"/>
            <a:ext cx="5092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H₀</a:t>
            </a:r>
          </a:p>
        </p:txBody>
      </p:sp>
      <p:sp>
        <p:nvSpPr>
          <p:cNvPr id="17" name="text-186">
            <a:extLst>
              <a:ext uri="{FF2B5EF4-FFF2-40B4-BE49-F238E27FC236}">
                <a16:creationId xmlns:a16="http://schemas.microsoft.com/office/drawing/2014/main" id="{97A9B806-CF34-44AD-A8CD-6210674E3003}"/>
              </a:ext>
            </a:extLst>
          </p:cNvPr>
          <p:cNvSpPr>
            <a:spLocks noGrp="1"/>
          </p:cNvSpPr>
          <p:nvPr/>
        </p:nvSpPr>
        <p:spPr>
          <a:xfrm>
            <a:off x="10236200" y="2755900"/>
            <a:ext cx="50927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population smoking rate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is the same in both groups.</a:t>
            </a:r>
          </a:p>
        </p:txBody>
      </p:sp>
      <p:sp>
        <p:nvSpPr>
          <p:cNvPr id="18" name="text-187">
            <a:extLst>
              <a:ext uri="{FF2B5EF4-FFF2-40B4-BE49-F238E27FC236}">
                <a16:creationId xmlns:a16="http://schemas.microsoft.com/office/drawing/2014/main" id="{FCC75260-1451-4113-8ED5-16FC14405093}"/>
              </a:ext>
            </a:extLst>
          </p:cNvPr>
          <p:cNvSpPr>
            <a:spLocks noGrp="1"/>
          </p:cNvSpPr>
          <p:nvPr/>
        </p:nvSpPr>
        <p:spPr>
          <a:xfrm>
            <a:off x="10236200" y="4089400"/>
            <a:ext cx="5092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H₁</a:t>
            </a:r>
          </a:p>
        </p:txBody>
      </p:sp>
      <p:sp>
        <p:nvSpPr>
          <p:cNvPr id="19" name="text-188">
            <a:extLst>
              <a:ext uri="{FF2B5EF4-FFF2-40B4-BE49-F238E27FC236}">
                <a16:creationId xmlns:a16="http://schemas.microsoft.com/office/drawing/2014/main" id="{48422131-A18E-4A72-86B5-611A7E6159CA}"/>
              </a:ext>
            </a:extLst>
          </p:cNvPr>
          <p:cNvSpPr>
            <a:spLocks noGrp="1"/>
          </p:cNvSpPr>
          <p:nvPr/>
        </p:nvSpPr>
        <p:spPr>
          <a:xfrm>
            <a:off x="10236200" y="4584700"/>
            <a:ext cx="50927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population smoking rates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are different.</a:t>
            </a:r>
          </a:p>
        </p:txBody>
      </p:sp>
      <p:sp>
        <p:nvSpPr>
          <p:cNvPr id="20" name="text-189">
            <a:extLst>
              <a:ext uri="{FF2B5EF4-FFF2-40B4-BE49-F238E27FC236}">
                <a16:creationId xmlns:a16="http://schemas.microsoft.com/office/drawing/2014/main" id="{C34153F4-F4F2-4AD8-9D82-85DC1468D237}"/>
              </a:ext>
            </a:extLst>
          </p:cNvPr>
          <p:cNvSpPr>
            <a:spLocks noGrp="1"/>
          </p:cNvSpPr>
          <p:nvPr/>
        </p:nvSpPr>
        <p:spPr>
          <a:xfrm>
            <a:off x="10236200" y="6032500"/>
            <a:ext cx="5092700" cy="1358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p = 0.740</a:t>
            </a:r>
          </a:p>
          <a:p>
            <a:pPr algn="l">
              <a:defRPr sz="2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Above 0.05 → do not reject H₀</a:t>
            </a:r>
          </a:p>
        </p:txBody>
      </p:sp>
      <p:sp>
        <p:nvSpPr>
          <p:cNvPr id="21" name="block-190">
            <a:extLst>
              <a:ext uri="{FF2B5EF4-FFF2-40B4-BE49-F238E27FC236}">
                <a16:creationId xmlns:a16="http://schemas.microsoft.com/office/drawing/2014/main" id="{5D03561B-1691-4A0C-B4F8-8F63C69192E3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lock-191">
            <a:extLst>
              <a:ext uri="{FF2B5EF4-FFF2-40B4-BE49-F238E27FC236}">
                <a16:creationId xmlns:a16="http://schemas.microsoft.com/office/drawing/2014/main" id="{98238601-DF5E-4354-B87E-D06483BE81EA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192">
            <a:extLst>
              <a:ext uri="{FF2B5EF4-FFF2-40B4-BE49-F238E27FC236}">
                <a16:creationId xmlns:a16="http://schemas.microsoft.com/office/drawing/2014/main" id="{C9CA5E18-CE43-406A-A838-7D4CAF39886E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4" name="text-193">
            <a:extLst>
              <a:ext uri="{FF2B5EF4-FFF2-40B4-BE49-F238E27FC236}">
                <a16:creationId xmlns:a16="http://schemas.microsoft.com/office/drawing/2014/main" id="{EFB489F3-1EE5-43A4-8D16-5E3CCD370203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We found no clear evidence of different smoking rates. This does not prove they are identical.</a:t>
            </a:r>
          </a:p>
        </p:txBody>
      </p:sp>
    </p:spTree>
    <p:extLst>
      <p:ext uri="{BB962C8B-B14F-4D97-AF65-F5344CB8AC3E}">
        <p14:creationId xmlns:p14="http://schemas.microsoft.com/office/powerpoint/2010/main" val="914585612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lock-194">
            <a:extLst>
              <a:ext uri="{FF2B5EF4-FFF2-40B4-BE49-F238E27FC236}">
                <a16:creationId xmlns:a16="http://schemas.microsoft.com/office/drawing/2014/main" id="{EB9617B4-354A-409F-94AE-E28DCA3BA0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195">
            <a:extLst>
              <a:ext uri="{FF2B5EF4-FFF2-40B4-BE49-F238E27FC236}">
                <a16:creationId xmlns:a16="http://schemas.microsoft.com/office/drawing/2014/main" id="{431887B8-3DA2-49BC-A31D-E1FD8DCAF8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196">
            <a:extLst>
              <a:ext uri="{FF2B5EF4-FFF2-40B4-BE49-F238E27FC236}">
                <a16:creationId xmlns:a16="http://schemas.microsoft.com/office/drawing/2014/main" id="{CDB0132A-8A6C-43EA-B207-FF408BD90C66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197">
            <a:extLst>
              <a:ext uri="{FF2B5EF4-FFF2-40B4-BE49-F238E27FC236}">
                <a16:creationId xmlns:a16="http://schemas.microsoft.com/office/drawing/2014/main" id="{457BBF59-D797-478A-A20E-B755EC716DA8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198">
            <a:extLst>
              <a:ext uri="{FF2B5EF4-FFF2-40B4-BE49-F238E27FC236}">
                <a16:creationId xmlns:a16="http://schemas.microsoft.com/office/drawing/2014/main" id="{643C1B09-7695-49FA-9462-A9FD19F8ECF3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199">
            <a:extLst>
              <a:ext uri="{FF2B5EF4-FFF2-40B4-BE49-F238E27FC236}">
                <a16:creationId xmlns:a16="http://schemas.microsoft.com/office/drawing/2014/main" id="{C4B4F665-69CF-4491-83D8-C19C13C7B697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200">
            <a:extLst>
              <a:ext uri="{FF2B5EF4-FFF2-40B4-BE49-F238E27FC236}">
                <a16:creationId xmlns:a16="http://schemas.microsoft.com/office/drawing/2014/main" id="{A74D4033-F374-4AE4-87F0-D0413B1B9DCF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201">
            <a:extLst>
              <a:ext uri="{FF2B5EF4-FFF2-40B4-BE49-F238E27FC236}">
                <a16:creationId xmlns:a16="http://schemas.microsoft.com/office/drawing/2014/main" id="{BFCD88C4-10CF-4187-9E4F-C93C1FEA714E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202">
            <a:extLst>
              <a:ext uri="{FF2B5EF4-FFF2-40B4-BE49-F238E27FC236}">
                <a16:creationId xmlns:a16="http://schemas.microsoft.com/office/drawing/2014/main" id="{3D1EFB44-741C-4DED-A6E8-C7CA1207578A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203">
            <a:extLst>
              <a:ext uri="{FF2B5EF4-FFF2-40B4-BE49-F238E27FC236}">
                <a16:creationId xmlns:a16="http://schemas.microsoft.com/office/drawing/2014/main" id="{954BAAF3-1C5B-4118-9E51-4B643F629D63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204">
            <a:extLst>
              <a:ext uri="{FF2B5EF4-FFF2-40B4-BE49-F238E27FC236}">
                <a16:creationId xmlns:a16="http://schemas.microsoft.com/office/drawing/2014/main" id="{CA279A39-DA02-480B-8882-0B15A4BF4017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Linear regression: how much might the charges be?</a:t>
            </a:r>
          </a:p>
        </p:txBody>
      </p:sp>
      <p:sp>
        <p:nvSpPr>
          <p:cNvPr id="12" name="text-205">
            <a:extLst>
              <a:ext uri="{FF2B5EF4-FFF2-40B4-BE49-F238E27FC236}">
                <a16:creationId xmlns:a16="http://schemas.microsoft.com/office/drawing/2014/main" id="{01C9911C-E111-4A86-86FC-4684DC2A9186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3 · Predict a number, using age, BMI and smoking status</a:t>
            </a:r>
          </a:p>
        </p:txBody>
      </p:sp>
      <p:sp>
        <p:nvSpPr>
          <p:cNvPr id="13" name="text-206">
            <a:extLst>
              <a:ext uri="{FF2B5EF4-FFF2-40B4-BE49-F238E27FC236}">
                <a16:creationId xmlns:a16="http://schemas.microsoft.com/office/drawing/2014/main" id="{C1A5655A-9571-4B71-A1CB-08960CA2AF01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207">
            <a:extLst>
              <a:ext uri="{FF2B5EF4-FFF2-40B4-BE49-F238E27FC236}">
                <a16:creationId xmlns:a16="http://schemas.microsoft.com/office/drawing/2014/main" id="{D64BA009-74D8-479A-A109-07ECCBD9A8F1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9 / 24</a:t>
            </a:r>
          </a:p>
        </p:txBody>
      </p:sp>
      <p:sp>
        <p:nvSpPr>
          <p:cNvPr id="15" name="block-208">
            <a:extLst>
              <a:ext uri="{FF2B5EF4-FFF2-40B4-BE49-F238E27FC236}">
                <a16:creationId xmlns:a16="http://schemas.microsoft.com/office/drawing/2014/main" id="{2FE0B88C-053F-4E03-A96E-781B4920DC39}"/>
              </a:ext>
            </a:extLst>
          </p:cNvPr>
          <p:cNvSpPr>
            <a:spLocks noGrp="1"/>
          </p:cNvSpPr>
          <p:nvPr/>
        </p:nvSpPr>
        <p:spPr>
          <a:xfrm>
            <a:off x="660400" y="2324100"/>
            <a:ext cx="14935200" cy="1854200"/>
          </a:xfrm>
          <a:prstGeom prst="roundRect">
            <a:avLst>
              <a:gd name="adj" fmla="val 5479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209">
            <a:extLst>
              <a:ext uri="{FF2B5EF4-FFF2-40B4-BE49-F238E27FC236}">
                <a16:creationId xmlns:a16="http://schemas.microsoft.com/office/drawing/2014/main" id="{E3FCD628-EBDD-43FA-ABAC-4738147C2D78}"/>
              </a:ext>
            </a:extLst>
          </p:cNvPr>
          <p:cNvSpPr>
            <a:spLocks noGrp="1"/>
          </p:cNvSpPr>
          <p:nvPr/>
        </p:nvSpPr>
        <p:spPr>
          <a:xfrm>
            <a:off x="939800" y="2590800"/>
            <a:ext cx="14351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Predicted charges = −10,770.89 + 251.88 × age</a:t>
            </a:r>
          </a:p>
        </p:txBody>
      </p:sp>
      <p:sp>
        <p:nvSpPr>
          <p:cNvPr id="17" name="text-210">
            <a:extLst>
              <a:ext uri="{FF2B5EF4-FFF2-40B4-BE49-F238E27FC236}">
                <a16:creationId xmlns:a16="http://schemas.microsoft.com/office/drawing/2014/main" id="{BABAA7F6-ED55-40E9-824F-6D82C2CB7E43}"/>
              </a:ext>
            </a:extLst>
          </p:cNvPr>
          <p:cNvSpPr>
            <a:spLocks noGrp="1"/>
          </p:cNvSpPr>
          <p:nvPr/>
        </p:nvSpPr>
        <p:spPr>
          <a:xfrm>
            <a:off x="939800" y="3390900"/>
            <a:ext cx="14351000" cy="52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+ 304.80 × BMI + 23,074.26 × smoker</a:t>
            </a:r>
          </a:p>
        </p:txBody>
      </p:sp>
      <p:sp>
        <p:nvSpPr>
          <p:cNvPr id="18" name="text-211">
            <a:extLst>
              <a:ext uri="{FF2B5EF4-FFF2-40B4-BE49-F238E27FC236}">
                <a16:creationId xmlns:a16="http://schemas.microsoft.com/office/drawing/2014/main" id="{6071F1B2-71D0-430D-B2C7-947FF4EFE752}"/>
              </a:ext>
            </a:extLst>
          </p:cNvPr>
          <p:cNvSpPr>
            <a:spLocks noGrp="1"/>
          </p:cNvSpPr>
          <p:nvPr/>
        </p:nvSpPr>
        <p:spPr>
          <a:xfrm>
            <a:off x="787400" y="4457700"/>
            <a:ext cx="14605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Smoker is 1 for yes and 0 for no. The model learns these numbers from the training data.</a:t>
            </a:r>
          </a:p>
        </p:txBody>
      </p:sp>
      <p:sp>
        <p:nvSpPr>
          <p:cNvPr id="19" name="text-212">
            <a:extLst>
              <a:ext uri="{FF2B5EF4-FFF2-40B4-BE49-F238E27FC236}">
                <a16:creationId xmlns:a16="http://schemas.microsoft.com/office/drawing/2014/main" id="{16542732-313E-45D4-B49A-BA6FEF907B0A}"/>
              </a:ext>
            </a:extLst>
          </p:cNvPr>
          <p:cNvSpPr>
            <a:spLocks noGrp="1"/>
          </p:cNvSpPr>
          <p:nvPr/>
        </p:nvSpPr>
        <p:spPr>
          <a:xfrm>
            <a:off x="812800" y="5664200"/>
            <a:ext cx="7251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HOW TO READ A COEFFICIENT</a:t>
            </a:r>
          </a:p>
        </p:txBody>
      </p:sp>
      <p:sp>
        <p:nvSpPr>
          <p:cNvPr id="20" name="text-213">
            <a:extLst>
              <a:ext uri="{FF2B5EF4-FFF2-40B4-BE49-F238E27FC236}">
                <a16:creationId xmlns:a16="http://schemas.microsoft.com/office/drawing/2014/main" id="{D1A424A8-DD37-4867-9D7A-E676A967607D}"/>
              </a:ext>
            </a:extLst>
          </p:cNvPr>
          <p:cNvSpPr>
            <a:spLocks noGrp="1"/>
          </p:cNvSpPr>
          <p:nvPr/>
        </p:nvSpPr>
        <p:spPr>
          <a:xfrm>
            <a:off x="812800" y="6159500"/>
            <a:ext cx="72517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For the same BMI and smoking status,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one extra year adds about $252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to the model’s prediction.</a:t>
            </a:r>
          </a:p>
        </p:txBody>
      </p:sp>
      <p:sp>
        <p:nvSpPr>
          <p:cNvPr id="21" name="text-214">
            <a:extLst>
              <a:ext uri="{FF2B5EF4-FFF2-40B4-BE49-F238E27FC236}">
                <a16:creationId xmlns:a16="http://schemas.microsoft.com/office/drawing/2014/main" id="{C7C0C88D-2293-416A-AC36-1D977FA17D5C}"/>
              </a:ext>
            </a:extLst>
          </p:cNvPr>
          <p:cNvSpPr>
            <a:spLocks noGrp="1"/>
          </p:cNvSpPr>
          <p:nvPr/>
        </p:nvSpPr>
        <p:spPr>
          <a:xfrm>
            <a:off x="8763000" y="5664200"/>
            <a:ext cx="6604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HOW WE CHECKED IT</a:t>
            </a:r>
          </a:p>
        </p:txBody>
      </p:sp>
      <p:sp>
        <p:nvSpPr>
          <p:cNvPr id="22" name="text-215">
            <a:extLst>
              <a:ext uri="{FF2B5EF4-FFF2-40B4-BE49-F238E27FC236}">
                <a16:creationId xmlns:a16="http://schemas.microsoft.com/office/drawing/2014/main" id="{654C29B3-6B02-4AA7-ABD8-81B00C992D5E}"/>
              </a:ext>
            </a:extLst>
          </p:cNvPr>
          <p:cNvSpPr>
            <a:spLocks noGrp="1"/>
          </p:cNvSpPr>
          <p:nvPr/>
        </p:nvSpPr>
        <p:spPr>
          <a:xfrm>
            <a:off x="8763000" y="6159500"/>
            <a:ext cx="66040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Train on 1,069 records.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Predict charges for 268 separate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test records.</a:t>
            </a:r>
          </a:p>
        </p:txBody>
      </p:sp>
      <p:sp>
        <p:nvSpPr>
          <p:cNvPr id="23" name="block-216">
            <a:extLst>
              <a:ext uri="{FF2B5EF4-FFF2-40B4-BE49-F238E27FC236}">
                <a16:creationId xmlns:a16="http://schemas.microsoft.com/office/drawing/2014/main" id="{BC76B301-714D-4787-AABF-98878BF9D7A6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lock-217">
            <a:extLst>
              <a:ext uri="{FF2B5EF4-FFF2-40B4-BE49-F238E27FC236}">
                <a16:creationId xmlns:a16="http://schemas.microsoft.com/office/drawing/2014/main" id="{947C7C4B-AAFE-4114-BA9F-1ACDA2B29211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-218">
            <a:extLst>
              <a:ext uri="{FF2B5EF4-FFF2-40B4-BE49-F238E27FC236}">
                <a16:creationId xmlns:a16="http://schemas.microsoft.com/office/drawing/2014/main" id="{0A353D4B-1986-4E6C-B120-06A9660DDABD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STATISTICAL CHECK</a:t>
            </a:r>
          </a:p>
        </p:txBody>
      </p:sp>
      <p:sp>
        <p:nvSpPr>
          <p:cNvPr id="26" name="text-219">
            <a:extLst>
              <a:ext uri="{FF2B5EF4-FFF2-40B4-BE49-F238E27FC236}">
                <a16:creationId xmlns:a16="http://schemas.microsoft.com/office/drawing/2014/main" id="{D1E555AE-6534-4A51-8DE5-650A60F31D81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All three inputs were linked to charges in this model (p &lt; 0.05). This does not prove cause and effect.</a:t>
            </a:r>
          </a:p>
        </p:txBody>
      </p:sp>
    </p:spTree>
    <p:extLst>
      <p:ext uri="{BB962C8B-B14F-4D97-AF65-F5344CB8AC3E}">
        <p14:creationId xmlns:p14="http://schemas.microsoft.com/office/powerpoint/2010/main" val="205678749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lock-220">
            <a:extLst>
              <a:ext uri="{FF2B5EF4-FFF2-40B4-BE49-F238E27FC236}">
                <a16:creationId xmlns:a16="http://schemas.microsoft.com/office/drawing/2014/main" id="{FE0F7AB2-C2F0-4048-9CAB-53CC210D66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221">
            <a:extLst>
              <a:ext uri="{FF2B5EF4-FFF2-40B4-BE49-F238E27FC236}">
                <a16:creationId xmlns:a16="http://schemas.microsoft.com/office/drawing/2014/main" id="{995C114C-EEDC-4D46-81FD-99002D8FC2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222">
            <a:extLst>
              <a:ext uri="{FF2B5EF4-FFF2-40B4-BE49-F238E27FC236}">
                <a16:creationId xmlns:a16="http://schemas.microsoft.com/office/drawing/2014/main" id="{637876E5-0ECA-442F-80AD-01E9AC684C27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223">
            <a:extLst>
              <a:ext uri="{FF2B5EF4-FFF2-40B4-BE49-F238E27FC236}">
                <a16:creationId xmlns:a16="http://schemas.microsoft.com/office/drawing/2014/main" id="{F556558C-D27A-4886-9F0F-AF14BE0EECFC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224">
            <a:extLst>
              <a:ext uri="{FF2B5EF4-FFF2-40B4-BE49-F238E27FC236}">
                <a16:creationId xmlns:a16="http://schemas.microsoft.com/office/drawing/2014/main" id="{0415BE2E-E16F-456E-869B-B32F859FD184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225">
            <a:extLst>
              <a:ext uri="{FF2B5EF4-FFF2-40B4-BE49-F238E27FC236}">
                <a16:creationId xmlns:a16="http://schemas.microsoft.com/office/drawing/2014/main" id="{99EBF1C1-4F3A-49DE-B2F2-B609B5C0A0E4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226">
            <a:extLst>
              <a:ext uri="{FF2B5EF4-FFF2-40B4-BE49-F238E27FC236}">
                <a16:creationId xmlns:a16="http://schemas.microsoft.com/office/drawing/2014/main" id="{527797EA-C7C4-406C-BEFE-2B6AFBC15C73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227">
            <a:extLst>
              <a:ext uri="{FF2B5EF4-FFF2-40B4-BE49-F238E27FC236}">
                <a16:creationId xmlns:a16="http://schemas.microsoft.com/office/drawing/2014/main" id="{2C523082-525F-41DC-BBB9-12AA0475FD15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228">
            <a:extLst>
              <a:ext uri="{FF2B5EF4-FFF2-40B4-BE49-F238E27FC236}">
                <a16:creationId xmlns:a16="http://schemas.microsoft.com/office/drawing/2014/main" id="{2BCF8F4C-57DE-4CAA-AD64-4260D794DDE9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229">
            <a:extLst>
              <a:ext uri="{FF2B5EF4-FFF2-40B4-BE49-F238E27FC236}">
                <a16:creationId xmlns:a16="http://schemas.microsoft.com/office/drawing/2014/main" id="{6A6FD9B8-6620-4502-A072-647242604623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230">
            <a:extLst>
              <a:ext uri="{FF2B5EF4-FFF2-40B4-BE49-F238E27FC236}">
                <a16:creationId xmlns:a16="http://schemas.microsoft.com/office/drawing/2014/main" id="{9D25D6CA-4569-45AC-AA03-BEEB1F2567C8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The charge predictions follow the pattern—but miss some bills</a:t>
            </a:r>
          </a:p>
        </p:txBody>
      </p:sp>
      <p:sp>
        <p:nvSpPr>
          <p:cNvPr id="12" name="text-231">
            <a:extLst>
              <a:ext uri="{FF2B5EF4-FFF2-40B4-BE49-F238E27FC236}">
                <a16:creationId xmlns:a16="http://schemas.microsoft.com/office/drawing/2014/main" id="{93368FE2-9B03-400E-8673-2C244715FB13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One dot = one test record · Points on the diagonal would be perfect predictions</a:t>
            </a:r>
          </a:p>
        </p:txBody>
      </p:sp>
      <p:sp>
        <p:nvSpPr>
          <p:cNvPr id="13" name="text-232">
            <a:extLst>
              <a:ext uri="{FF2B5EF4-FFF2-40B4-BE49-F238E27FC236}">
                <a16:creationId xmlns:a16="http://schemas.microsoft.com/office/drawing/2014/main" id="{9FA37368-2796-4EAC-AB6B-DE2BED6AABA6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233">
            <a:extLst>
              <a:ext uri="{FF2B5EF4-FFF2-40B4-BE49-F238E27FC236}">
                <a16:creationId xmlns:a16="http://schemas.microsoft.com/office/drawing/2014/main" id="{E0A48506-6E87-4203-94A1-275AB40340BA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10 / 24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B0E7F184-B959-4864-8698-C3F1DAFEADDD}"/>
              </a:ext>
            </a:extLst>
          </p:cNvPr>
          <p:cNvGraphicFramePr/>
          <p:nvPr/>
        </p:nvGraphicFramePr>
        <p:xfrm>
          <a:off x="698500" y="2413000"/>
          <a:ext cx="9588500" cy="496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-234">
            <a:extLst>
              <a:ext uri="{FF2B5EF4-FFF2-40B4-BE49-F238E27FC236}">
                <a16:creationId xmlns:a16="http://schemas.microsoft.com/office/drawing/2014/main" id="{C51A8B89-0F7E-45DD-8F5B-B70FA75151E8}"/>
              </a:ext>
            </a:extLst>
          </p:cNvPr>
          <p:cNvSpPr>
            <a:spLocks noGrp="1"/>
          </p:cNvSpPr>
          <p:nvPr/>
        </p:nvSpPr>
        <p:spPr>
          <a:xfrm>
            <a:off x="11010900" y="2247900"/>
            <a:ext cx="431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$4,192</a:t>
            </a:r>
          </a:p>
        </p:txBody>
      </p:sp>
      <p:sp>
        <p:nvSpPr>
          <p:cNvPr id="17" name="text-235">
            <a:extLst>
              <a:ext uri="{FF2B5EF4-FFF2-40B4-BE49-F238E27FC236}">
                <a16:creationId xmlns:a16="http://schemas.microsoft.com/office/drawing/2014/main" id="{7FB6D863-DAD9-4732-A2F4-313A65F2F79C}"/>
              </a:ext>
            </a:extLst>
          </p:cNvPr>
          <p:cNvSpPr>
            <a:spLocks noGrp="1"/>
          </p:cNvSpPr>
          <p:nvPr/>
        </p:nvSpPr>
        <p:spPr>
          <a:xfrm>
            <a:off x="11010900" y="3086100"/>
            <a:ext cx="43180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average absolute error</a:t>
            </a:r>
          </a:p>
        </p:txBody>
      </p:sp>
      <p:sp>
        <p:nvSpPr>
          <p:cNvPr id="18" name="text-236">
            <a:extLst>
              <a:ext uri="{FF2B5EF4-FFF2-40B4-BE49-F238E27FC236}">
                <a16:creationId xmlns:a16="http://schemas.microsoft.com/office/drawing/2014/main" id="{FBF8C6C2-5BBF-486A-B03F-0B4AF71EB1ED}"/>
              </a:ext>
            </a:extLst>
          </p:cNvPr>
          <p:cNvSpPr>
            <a:spLocks noGrp="1"/>
          </p:cNvSpPr>
          <p:nvPr/>
        </p:nvSpPr>
        <p:spPr>
          <a:xfrm>
            <a:off x="11010900" y="4152900"/>
            <a:ext cx="429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WHAT THAT MEANS</a:t>
            </a:r>
          </a:p>
        </p:txBody>
      </p:sp>
      <p:sp>
        <p:nvSpPr>
          <p:cNvPr id="19" name="text-237">
            <a:extLst>
              <a:ext uri="{FF2B5EF4-FFF2-40B4-BE49-F238E27FC236}">
                <a16:creationId xmlns:a16="http://schemas.microsoft.com/office/drawing/2014/main" id="{E86F1189-349F-4BB6-A7BF-FAE80F8086A9}"/>
              </a:ext>
            </a:extLst>
          </p:cNvPr>
          <p:cNvSpPr>
            <a:spLocks noGrp="1"/>
          </p:cNvSpPr>
          <p:nvPr/>
        </p:nvSpPr>
        <p:spPr>
          <a:xfrm>
            <a:off x="11010900" y="4648200"/>
            <a:ext cx="42926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On average, predictions differed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from actual charges by about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$4,192, ignoring direction.</a:t>
            </a:r>
          </a:p>
        </p:txBody>
      </p:sp>
      <p:sp>
        <p:nvSpPr>
          <p:cNvPr id="20" name="text-238">
            <a:extLst>
              <a:ext uri="{FF2B5EF4-FFF2-40B4-BE49-F238E27FC236}">
                <a16:creationId xmlns:a16="http://schemas.microsoft.com/office/drawing/2014/main" id="{90418A48-90CA-46A2-9AEB-5A9B46A1D15B}"/>
              </a:ext>
            </a:extLst>
          </p:cNvPr>
          <p:cNvSpPr>
            <a:spLocks noGrp="1"/>
          </p:cNvSpPr>
          <p:nvPr/>
        </p:nvSpPr>
        <p:spPr>
          <a:xfrm>
            <a:off x="11010900" y="6477000"/>
            <a:ext cx="4330700" cy="124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R² = 0.805</a:t>
            </a:r>
          </a:p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About 80.5% of variation in test</a:t>
            </a:r>
          </a:p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charges was explained.</a:t>
            </a:r>
          </a:p>
        </p:txBody>
      </p:sp>
      <p:sp>
        <p:nvSpPr>
          <p:cNvPr id="21" name="block-239">
            <a:extLst>
              <a:ext uri="{FF2B5EF4-FFF2-40B4-BE49-F238E27FC236}">
                <a16:creationId xmlns:a16="http://schemas.microsoft.com/office/drawing/2014/main" id="{47A5A08C-38CE-42FB-A7A2-8EF3D64340D5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lock-240">
            <a:extLst>
              <a:ext uri="{FF2B5EF4-FFF2-40B4-BE49-F238E27FC236}">
                <a16:creationId xmlns:a16="http://schemas.microsoft.com/office/drawing/2014/main" id="{326F93F0-C677-4C6D-99F9-A28E294A75BE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-241">
            <a:extLst>
              <a:ext uri="{FF2B5EF4-FFF2-40B4-BE49-F238E27FC236}">
                <a16:creationId xmlns:a16="http://schemas.microsoft.com/office/drawing/2014/main" id="{8DB05F76-18A6-4BD6-AF9A-4CBD74CD81FE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24" name="text-242">
            <a:extLst>
              <a:ext uri="{FF2B5EF4-FFF2-40B4-BE49-F238E27FC236}">
                <a16:creationId xmlns:a16="http://schemas.microsoft.com/office/drawing/2014/main" id="{368EA288-DE57-48AB-AD7B-CCF9B66597FB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Two predictions were negative. The basic straight-line model does not capture every pattern.</a:t>
            </a:r>
          </a:p>
        </p:txBody>
      </p:sp>
    </p:spTree>
    <p:extLst>
      <p:ext uri="{BB962C8B-B14F-4D97-AF65-F5344CB8AC3E}">
        <p14:creationId xmlns:p14="http://schemas.microsoft.com/office/powerpoint/2010/main" val="797959466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DCCCDC-E522-49AB-8DA6-0B41C36B5AA2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10210800" y="3238500"/>
            <a:ext cx="1181100" cy="0"/>
          </a:xfrm>
          <a:prstGeom prst="straightConnector1">
            <a:avLst/>
          </a:prstGeom>
          <a:ln w="25400">
            <a:solidFill>
              <a:srgbClr val="596975"/>
            </a:solidFill>
            <a:tailEnd type="triangle" w="med" len="med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EF9709-E939-4F4A-B790-96F487782BC7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889500" y="3238500"/>
            <a:ext cx="1193800" cy="0"/>
          </a:xfrm>
          <a:prstGeom prst="straightConnector1">
            <a:avLst/>
          </a:prstGeom>
          <a:ln w="25400">
            <a:solidFill>
              <a:srgbClr val="596975"/>
            </a:solidFill>
            <a:tailEnd type="triangle" w="med" len="med"/>
          </a:ln>
        </p:spPr>
      </p:cxnSp>
      <p:sp>
        <p:nvSpPr>
          <p:cNvPr id="32" name="block-243">
            <a:extLst>
              <a:ext uri="{FF2B5EF4-FFF2-40B4-BE49-F238E27FC236}">
                <a16:creationId xmlns:a16="http://schemas.microsoft.com/office/drawing/2014/main" id="{CEAFC612-697E-4660-87D5-6B29ABEC6B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244">
            <a:extLst>
              <a:ext uri="{FF2B5EF4-FFF2-40B4-BE49-F238E27FC236}">
                <a16:creationId xmlns:a16="http://schemas.microsoft.com/office/drawing/2014/main" id="{992DBC36-3D4C-45D4-8CE2-B4350CFF0E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245">
            <a:extLst>
              <a:ext uri="{FF2B5EF4-FFF2-40B4-BE49-F238E27FC236}">
                <a16:creationId xmlns:a16="http://schemas.microsoft.com/office/drawing/2014/main" id="{78160295-BC29-4153-B0C5-CC0815A5DEDD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246">
            <a:extLst>
              <a:ext uri="{FF2B5EF4-FFF2-40B4-BE49-F238E27FC236}">
                <a16:creationId xmlns:a16="http://schemas.microsoft.com/office/drawing/2014/main" id="{A40C8E8E-352C-4789-9A89-C8C011B50691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247">
            <a:extLst>
              <a:ext uri="{FF2B5EF4-FFF2-40B4-BE49-F238E27FC236}">
                <a16:creationId xmlns:a16="http://schemas.microsoft.com/office/drawing/2014/main" id="{A4BE8B06-94E4-4EB3-A88C-7079DE6CA704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248">
            <a:extLst>
              <a:ext uri="{FF2B5EF4-FFF2-40B4-BE49-F238E27FC236}">
                <a16:creationId xmlns:a16="http://schemas.microsoft.com/office/drawing/2014/main" id="{7FB5DCEB-8D9B-4B22-926D-9C1240A4B167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249">
            <a:extLst>
              <a:ext uri="{FF2B5EF4-FFF2-40B4-BE49-F238E27FC236}">
                <a16:creationId xmlns:a16="http://schemas.microsoft.com/office/drawing/2014/main" id="{8379CD22-560A-4612-B677-EB12E2925E40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250">
            <a:extLst>
              <a:ext uri="{FF2B5EF4-FFF2-40B4-BE49-F238E27FC236}">
                <a16:creationId xmlns:a16="http://schemas.microsoft.com/office/drawing/2014/main" id="{3568857C-84D0-420E-8D84-58ACA9279C54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251">
            <a:extLst>
              <a:ext uri="{FF2B5EF4-FFF2-40B4-BE49-F238E27FC236}">
                <a16:creationId xmlns:a16="http://schemas.microsoft.com/office/drawing/2014/main" id="{57C3A3A2-105D-4C88-9484-1AE8E7978F51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252">
            <a:extLst>
              <a:ext uri="{FF2B5EF4-FFF2-40B4-BE49-F238E27FC236}">
                <a16:creationId xmlns:a16="http://schemas.microsoft.com/office/drawing/2014/main" id="{7E4B58FA-794C-4B2E-9C90-753F682B5103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253">
            <a:extLst>
              <a:ext uri="{FF2B5EF4-FFF2-40B4-BE49-F238E27FC236}">
                <a16:creationId xmlns:a16="http://schemas.microsoft.com/office/drawing/2014/main" id="{ADF889E8-47E7-47F0-A370-A1DFBF13FDFC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Logistic regression: smoker or non-smoker?</a:t>
            </a:r>
          </a:p>
        </p:txBody>
      </p:sp>
      <p:sp>
        <p:nvSpPr>
          <p:cNvPr id="12" name="text-254">
            <a:extLst>
              <a:ext uri="{FF2B5EF4-FFF2-40B4-BE49-F238E27FC236}">
                <a16:creationId xmlns:a16="http://schemas.microsoft.com/office/drawing/2014/main" id="{683300D4-D3C3-41D3-8BAE-DC6F2D26A6B5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3 · Predict a yes/no outcome, rather than a dollar amount</a:t>
            </a:r>
          </a:p>
        </p:txBody>
      </p:sp>
      <p:sp>
        <p:nvSpPr>
          <p:cNvPr id="13" name="text-255">
            <a:extLst>
              <a:ext uri="{FF2B5EF4-FFF2-40B4-BE49-F238E27FC236}">
                <a16:creationId xmlns:a16="http://schemas.microsoft.com/office/drawing/2014/main" id="{AF0601F5-E397-4376-8658-D1FF1B0236B0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256">
            <a:extLst>
              <a:ext uri="{FF2B5EF4-FFF2-40B4-BE49-F238E27FC236}">
                <a16:creationId xmlns:a16="http://schemas.microsoft.com/office/drawing/2014/main" id="{7BFB4DA2-A1FE-41D2-81EC-602D7E89B1FD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11 / 24</a:t>
            </a:r>
          </a:p>
        </p:txBody>
      </p:sp>
      <p:sp>
        <p:nvSpPr>
          <p:cNvPr id="15" name="block-257">
            <a:extLst>
              <a:ext uri="{FF2B5EF4-FFF2-40B4-BE49-F238E27FC236}">
                <a16:creationId xmlns:a16="http://schemas.microsoft.com/office/drawing/2014/main" id="{AAE58A9D-967A-46D1-90C1-35C4BDFA00FA}"/>
              </a:ext>
            </a:extLst>
          </p:cNvPr>
          <p:cNvSpPr>
            <a:spLocks noGrp="1"/>
          </p:cNvSpPr>
          <p:nvPr/>
        </p:nvSpPr>
        <p:spPr>
          <a:xfrm>
            <a:off x="774700" y="2590800"/>
            <a:ext cx="4114800" cy="1295400"/>
          </a:xfrm>
          <a:prstGeom prst="roundRect">
            <a:avLst>
              <a:gd name="adj" fmla="val 784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258">
            <a:extLst>
              <a:ext uri="{FF2B5EF4-FFF2-40B4-BE49-F238E27FC236}">
                <a16:creationId xmlns:a16="http://schemas.microsoft.com/office/drawing/2014/main" id="{DCDD1ED5-2464-4CCA-BB25-24180E89BC4E}"/>
              </a:ext>
            </a:extLst>
          </p:cNvPr>
          <p:cNvSpPr>
            <a:spLocks noGrp="1"/>
          </p:cNvSpPr>
          <p:nvPr/>
        </p:nvSpPr>
        <p:spPr>
          <a:xfrm>
            <a:off x="927100" y="2667000"/>
            <a:ext cx="3810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Known charges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 and BMI</a:t>
            </a:r>
          </a:p>
        </p:txBody>
      </p:sp>
      <p:sp>
        <p:nvSpPr>
          <p:cNvPr id="17" name="block-259">
            <a:extLst>
              <a:ext uri="{FF2B5EF4-FFF2-40B4-BE49-F238E27FC236}">
                <a16:creationId xmlns:a16="http://schemas.microsoft.com/office/drawing/2014/main" id="{1AB80C36-3F80-4D6E-B06B-64A57DDD9C9A}"/>
              </a:ext>
            </a:extLst>
          </p:cNvPr>
          <p:cNvSpPr>
            <a:spLocks noGrp="1"/>
          </p:cNvSpPr>
          <p:nvPr/>
        </p:nvSpPr>
        <p:spPr>
          <a:xfrm>
            <a:off x="6083300" y="2590800"/>
            <a:ext cx="4127500" cy="1295400"/>
          </a:xfrm>
          <a:prstGeom prst="roundRect">
            <a:avLst>
              <a:gd name="adj" fmla="val 784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260">
            <a:extLst>
              <a:ext uri="{FF2B5EF4-FFF2-40B4-BE49-F238E27FC236}">
                <a16:creationId xmlns:a16="http://schemas.microsoft.com/office/drawing/2014/main" id="{56231701-514E-4276-B9EF-850A95E66928}"/>
              </a:ext>
            </a:extLst>
          </p:cNvPr>
          <p:cNvSpPr>
            <a:spLocks noGrp="1"/>
          </p:cNvSpPr>
          <p:nvPr/>
        </p:nvSpPr>
        <p:spPr>
          <a:xfrm>
            <a:off x="6235700" y="2667000"/>
            <a:ext cx="38227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Estimated chance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person is a smoker</a:t>
            </a:r>
          </a:p>
        </p:txBody>
      </p:sp>
      <p:sp>
        <p:nvSpPr>
          <p:cNvPr id="19" name="block-261">
            <a:extLst>
              <a:ext uri="{FF2B5EF4-FFF2-40B4-BE49-F238E27FC236}">
                <a16:creationId xmlns:a16="http://schemas.microsoft.com/office/drawing/2014/main" id="{78C2DDF0-BC45-4650-A142-111BBE904004}"/>
              </a:ext>
            </a:extLst>
          </p:cNvPr>
          <p:cNvSpPr>
            <a:spLocks noGrp="1"/>
          </p:cNvSpPr>
          <p:nvPr/>
        </p:nvSpPr>
        <p:spPr>
          <a:xfrm>
            <a:off x="11391900" y="2590800"/>
            <a:ext cx="4102100" cy="1295400"/>
          </a:xfrm>
          <a:prstGeom prst="roundRect">
            <a:avLst>
              <a:gd name="adj" fmla="val 784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262">
            <a:extLst>
              <a:ext uri="{FF2B5EF4-FFF2-40B4-BE49-F238E27FC236}">
                <a16:creationId xmlns:a16="http://schemas.microsoft.com/office/drawing/2014/main" id="{1EB4FD3D-09C0-4694-98A0-5BF4A7AFDD24}"/>
              </a:ext>
            </a:extLst>
          </p:cNvPr>
          <p:cNvSpPr>
            <a:spLocks noGrp="1"/>
          </p:cNvSpPr>
          <p:nvPr/>
        </p:nvSpPr>
        <p:spPr>
          <a:xfrm>
            <a:off x="11544300" y="2667000"/>
            <a:ext cx="37973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the estimate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50%</a:t>
            </a:r>
          </a:p>
        </p:txBody>
      </p:sp>
      <p:sp>
        <p:nvSpPr>
          <p:cNvPr id="23" name="text-263">
            <a:extLst>
              <a:ext uri="{FF2B5EF4-FFF2-40B4-BE49-F238E27FC236}">
                <a16:creationId xmlns:a16="http://schemas.microsoft.com/office/drawing/2014/main" id="{3D16A8DB-A187-40C1-B100-6E29F6DFDA3E}"/>
              </a:ext>
            </a:extLst>
          </p:cNvPr>
          <p:cNvSpPr>
            <a:spLocks noGrp="1"/>
          </p:cNvSpPr>
          <p:nvPr/>
        </p:nvSpPr>
        <p:spPr>
          <a:xfrm>
            <a:off x="1016000" y="4902200"/>
            <a:ext cx="6413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50% OR ABOVE</a:t>
            </a:r>
          </a:p>
        </p:txBody>
      </p:sp>
      <p:sp>
        <p:nvSpPr>
          <p:cNvPr id="24" name="text-264">
            <a:extLst>
              <a:ext uri="{FF2B5EF4-FFF2-40B4-BE49-F238E27FC236}">
                <a16:creationId xmlns:a16="http://schemas.microsoft.com/office/drawing/2014/main" id="{A4B9A47E-1FC9-47C3-A1FF-3726B0C443BE}"/>
              </a:ext>
            </a:extLst>
          </p:cNvPr>
          <p:cNvSpPr>
            <a:spLocks noGrp="1"/>
          </p:cNvSpPr>
          <p:nvPr/>
        </p:nvSpPr>
        <p:spPr>
          <a:xfrm>
            <a:off x="1016000" y="5397500"/>
            <a:ext cx="64135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Predict “smoker”.</a:t>
            </a:r>
          </a:p>
        </p:txBody>
      </p:sp>
      <p:sp>
        <p:nvSpPr>
          <p:cNvPr id="25" name="text-265">
            <a:extLst>
              <a:ext uri="{FF2B5EF4-FFF2-40B4-BE49-F238E27FC236}">
                <a16:creationId xmlns:a16="http://schemas.microsoft.com/office/drawing/2014/main" id="{6E75BB13-9D15-4D80-9B69-6E56CEF8457C}"/>
              </a:ext>
            </a:extLst>
          </p:cNvPr>
          <p:cNvSpPr>
            <a:spLocks noGrp="1"/>
          </p:cNvSpPr>
          <p:nvPr/>
        </p:nvSpPr>
        <p:spPr>
          <a:xfrm>
            <a:off x="8940800" y="4902200"/>
            <a:ext cx="6413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BELOW 50%</a:t>
            </a:r>
          </a:p>
        </p:txBody>
      </p:sp>
      <p:sp>
        <p:nvSpPr>
          <p:cNvPr id="26" name="text-266">
            <a:extLst>
              <a:ext uri="{FF2B5EF4-FFF2-40B4-BE49-F238E27FC236}">
                <a16:creationId xmlns:a16="http://schemas.microsoft.com/office/drawing/2014/main" id="{2AE9979F-225C-42BE-B50F-DA34121C003B}"/>
              </a:ext>
            </a:extLst>
          </p:cNvPr>
          <p:cNvSpPr>
            <a:spLocks noGrp="1"/>
          </p:cNvSpPr>
          <p:nvPr/>
        </p:nvSpPr>
        <p:spPr>
          <a:xfrm>
            <a:off x="8940800" y="5397500"/>
            <a:ext cx="64135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Predict “non-smoker”.</a:t>
            </a:r>
          </a:p>
        </p:txBody>
      </p:sp>
      <p:sp>
        <p:nvSpPr>
          <p:cNvPr id="27" name="text-267">
            <a:extLst>
              <a:ext uri="{FF2B5EF4-FFF2-40B4-BE49-F238E27FC236}">
                <a16:creationId xmlns:a16="http://schemas.microsoft.com/office/drawing/2014/main" id="{33046768-6DE5-444D-ABD6-5251458C22AB}"/>
              </a:ext>
            </a:extLst>
          </p:cNvPr>
          <p:cNvSpPr>
            <a:spLocks noGrp="1"/>
          </p:cNvSpPr>
          <p:nvPr/>
        </p:nvSpPr>
        <p:spPr>
          <a:xfrm>
            <a:off x="1016000" y="6489700"/>
            <a:ext cx="14211300" cy="109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Example only: a 70% estimate gives a “smoker” prediction.</a:t>
            </a:r>
          </a:p>
          <a:p>
            <a: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It is still a model estimate, not proof of the person’s status.</a:t>
            </a:r>
          </a:p>
        </p:txBody>
      </p:sp>
      <p:sp>
        <p:nvSpPr>
          <p:cNvPr id="28" name="block-268">
            <a:extLst>
              <a:ext uri="{FF2B5EF4-FFF2-40B4-BE49-F238E27FC236}">
                <a16:creationId xmlns:a16="http://schemas.microsoft.com/office/drawing/2014/main" id="{37E9226A-5092-4438-87D6-0D06571CE0BC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block-269">
            <a:extLst>
              <a:ext uri="{FF2B5EF4-FFF2-40B4-BE49-F238E27FC236}">
                <a16:creationId xmlns:a16="http://schemas.microsoft.com/office/drawing/2014/main" id="{FBA059B7-6726-4C77-BF1D-B634A6F6DA5A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270">
            <a:extLst>
              <a:ext uri="{FF2B5EF4-FFF2-40B4-BE49-F238E27FC236}">
                <a16:creationId xmlns:a16="http://schemas.microsoft.com/office/drawing/2014/main" id="{40BDD817-E826-434A-92FE-0B83FDBAD811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IMPORTANT</a:t>
            </a:r>
          </a:p>
        </p:txBody>
      </p:sp>
      <p:sp>
        <p:nvSpPr>
          <p:cNvPr id="31" name="text-271">
            <a:extLst>
              <a:ext uri="{FF2B5EF4-FFF2-40B4-BE49-F238E27FC236}">
                <a16:creationId xmlns:a16="http://schemas.microsoft.com/office/drawing/2014/main" id="{E0C36371-4B0E-4CBF-9CCA-AE6F0F55A973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We use actual recorded charges—not charges predicted by the linear model.</a:t>
            </a:r>
          </a:p>
        </p:txBody>
      </p:sp>
    </p:spTree>
    <p:extLst>
      <p:ext uri="{BB962C8B-B14F-4D97-AF65-F5344CB8AC3E}">
        <p14:creationId xmlns:p14="http://schemas.microsoft.com/office/powerpoint/2010/main" val="92657484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lock-272">
            <a:extLst>
              <a:ext uri="{FF2B5EF4-FFF2-40B4-BE49-F238E27FC236}">
                <a16:creationId xmlns:a16="http://schemas.microsoft.com/office/drawing/2014/main" id="{94CF1F25-100E-416A-9372-FA620CDF28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273">
            <a:extLst>
              <a:ext uri="{FF2B5EF4-FFF2-40B4-BE49-F238E27FC236}">
                <a16:creationId xmlns:a16="http://schemas.microsoft.com/office/drawing/2014/main" id="{E1987ACC-1DE5-4F91-829E-439E89927D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274">
            <a:extLst>
              <a:ext uri="{FF2B5EF4-FFF2-40B4-BE49-F238E27FC236}">
                <a16:creationId xmlns:a16="http://schemas.microsoft.com/office/drawing/2014/main" id="{CD390691-0B34-49F1-B92C-36F90F7D3A4D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275">
            <a:extLst>
              <a:ext uri="{FF2B5EF4-FFF2-40B4-BE49-F238E27FC236}">
                <a16:creationId xmlns:a16="http://schemas.microsoft.com/office/drawing/2014/main" id="{A526A3A5-63FE-4493-978B-14F89222211C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276">
            <a:extLst>
              <a:ext uri="{FF2B5EF4-FFF2-40B4-BE49-F238E27FC236}">
                <a16:creationId xmlns:a16="http://schemas.microsoft.com/office/drawing/2014/main" id="{C99F29F5-0E5E-470B-B6A1-26A2187BA481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277">
            <a:extLst>
              <a:ext uri="{FF2B5EF4-FFF2-40B4-BE49-F238E27FC236}">
                <a16:creationId xmlns:a16="http://schemas.microsoft.com/office/drawing/2014/main" id="{0080F1C1-6F74-4BAE-9FA7-F195FA1EFADB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278">
            <a:extLst>
              <a:ext uri="{FF2B5EF4-FFF2-40B4-BE49-F238E27FC236}">
                <a16:creationId xmlns:a16="http://schemas.microsoft.com/office/drawing/2014/main" id="{E4B737F9-3FA5-44C1-A534-C6DB0553169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279">
            <a:extLst>
              <a:ext uri="{FF2B5EF4-FFF2-40B4-BE49-F238E27FC236}">
                <a16:creationId xmlns:a16="http://schemas.microsoft.com/office/drawing/2014/main" id="{3EF53F31-02D4-489B-84C6-D6F39613F817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280">
            <a:extLst>
              <a:ext uri="{FF2B5EF4-FFF2-40B4-BE49-F238E27FC236}">
                <a16:creationId xmlns:a16="http://schemas.microsoft.com/office/drawing/2014/main" id="{7255E5A9-FF9E-40D4-AB98-CCDD5E4B3FDE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281">
            <a:extLst>
              <a:ext uri="{FF2B5EF4-FFF2-40B4-BE49-F238E27FC236}">
                <a16:creationId xmlns:a16="http://schemas.microsoft.com/office/drawing/2014/main" id="{3B59B4C2-87CD-4525-9FC3-DBC26D553FAF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282">
            <a:extLst>
              <a:ext uri="{FF2B5EF4-FFF2-40B4-BE49-F238E27FC236}">
                <a16:creationId xmlns:a16="http://schemas.microsoft.com/office/drawing/2014/main" id="{B926985B-29C0-4D9D-9DB2-106990F3A566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Logistic regression got 261 of 268 test records right</a:t>
            </a:r>
          </a:p>
        </p:txBody>
      </p:sp>
      <p:sp>
        <p:nvSpPr>
          <p:cNvPr id="12" name="text-283">
            <a:extLst>
              <a:ext uri="{FF2B5EF4-FFF2-40B4-BE49-F238E27FC236}">
                <a16:creationId xmlns:a16="http://schemas.microsoft.com/office/drawing/2014/main" id="{650FFD86-6F3A-4D4A-8152-817745F2768D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3 · The model had not trained on these test records</a:t>
            </a:r>
          </a:p>
        </p:txBody>
      </p:sp>
      <p:sp>
        <p:nvSpPr>
          <p:cNvPr id="13" name="text-284">
            <a:extLst>
              <a:ext uri="{FF2B5EF4-FFF2-40B4-BE49-F238E27FC236}">
                <a16:creationId xmlns:a16="http://schemas.microsoft.com/office/drawing/2014/main" id="{03075849-4586-4FC1-81EC-883AB1E4BD1C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285">
            <a:extLst>
              <a:ext uri="{FF2B5EF4-FFF2-40B4-BE49-F238E27FC236}">
                <a16:creationId xmlns:a16="http://schemas.microsoft.com/office/drawing/2014/main" id="{C499A44F-DA4B-4FB7-8138-919D35FFDDA8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12 / 24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60745A3-C391-4B7A-9226-08BBF4BBE11F}"/>
              </a:ext>
            </a:extLst>
          </p:cNvPr>
          <p:cNvGraphicFramePr/>
          <p:nvPr/>
        </p:nvGraphicFramePr>
        <p:xfrm>
          <a:off x="673100" y="2616200"/>
          <a:ext cx="14922500" cy="2870200"/>
        </p:xfrm>
        <a:graphic>
          <a:graphicData uri="http://schemas.openxmlformats.org/drawingml/2006/table">
            <a:tbl>
              <a:tblPr/>
              <a:tblGrid>
                <a:gridCol w="488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6733">
                <a:tc>
                  <a:txBody>
                    <a:bodyPr/>
                    <a:lstStyle/>
                    <a:p>
                      <a:pPr algn="l"/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status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non-smoker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smoker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733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Non-smoker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209 correct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4 incorrect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733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Smoker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3 incorrect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52 correct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-286">
            <a:extLst>
              <a:ext uri="{FF2B5EF4-FFF2-40B4-BE49-F238E27FC236}">
                <a16:creationId xmlns:a16="http://schemas.microsoft.com/office/drawing/2014/main" id="{950B8B6A-B86E-4961-8FA2-B156EE5655D9}"/>
              </a:ext>
            </a:extLst>
          </p:cNvPr>
          <p:cNvSpPr>
            <a:spLocks noGrp="1"/>
          </p:cNvSpPr>
          <p:nvPr/>
        </p:nvSpPr>
        <p:spPr>
          <a:xfrm>
            <a:off x="838200" y="5981700"/>
            <a:ext cx="4318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97.4%</a:t>
            </a:r>
          </a:p>
        </p:txBody>
      </p:sp>
      <p:sp>
        <p:nvSpPr>
          <p:cNvPr id="17" name="text-287">
            <a:extLst>
              <a:ext uri="{FF2B5EF4-FFF2-40B4-BE49-F238E27FC236}">
                <a16:creationId xmlns:a16="http://schemas.microsoft.com/office/drawing/2014/main" id="{7FCCD199-3119-4792-9B55-E68D5A5AE221}"/>
              </a:ext>
            </a:extLst>
          </p:cNvPr>
          <p:cNvSpPr>
            <a:spLocks noGrp="1"/>
          </p:cNvSpPr>
          <p:nvPr/>
        </p:nvSpPr>
        <p:spPr>
          <a:xfrm>
            <a:off x="838200" y="6819900"/>
            <a:ext cx="43180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overall test accuracy</a:t>
            </a:r>
          </a:p>
        </p:txBody>
      </p:sp>
      <p:sp>
        <p:nvSpPr>
          <p:cNvPr id="18" name="text-288">
            <a:extLst>
              <a:ext uri="{FF2B5EF4-FFF2-40B4-BE49-F238E27FC236}">
                <a16:creationId xmlns:a16="http://schemas.microsoft.com/office/drawing/2014/main" id="{27143610-C12A-414E-9CCC-707227E893F6}"/>
              </a:ext>
            </a:extLst>
          </p:cNvPr>
          <p:cNvSpPr>
            <a:spLocks noGrp="1"/>
          </p:cNvSpPr>
          <p:nvPr/>
        </p:nvSpPr>
        <p:spPr>
          <a:xfrm>
            <a:off x="6146800" y="6057900"/>
            <a:ext cx="8978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WHAT IT MISSED</a:t>
            </a:r>
          </a:p>
        </p:txBody>
      </p:sp>
      <p:sp>
        <p:nvSpPr>
          <p:cNvPr id="19" name="text-289">
            <a:extLst>
              <a:ext uri="{FF2B5EF4-FFF2-40B4-BE49-F238E27FC236}">
                <a16:creationId xmlns:a16="http://schemas.microsoft.com/office/drawing/2014/main" id="{1B9C2D29-69FF-4740-8B86-131D98B45359}"/>
              </a:ext>
            </a:extLst>
          </p:cNvPr>
          <p:cNvSpPr>
            <a:spLocks noGrp="1"/>
          </p:cNvSpPr>
          <p:nvPr/>
        </p:nvSpPr>
        <p:spPr>
          <a:xfrm>
            <a:off x="6146800" y="6705600"/>
            <a:ext cx="89789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3 smokers were labelled non-smokers.</a:t>
            </a:r>
          </a:p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4 non-smokers were labelled smokers.</a:t>
            </a:r>
          </a:p>
        </p:txBody>
      </p:sp>
      <p:sp>
        <p:nvSpPr>
          <p:cNvPr id="20" name="block-290">
            <a:extLst>
              <a:ext uri="{FF2B5EF4-FFF2-40B4-BE49-F238E27FC236}">
                <a16:creationId xmlns:a16="http://schemas.microsoft.com/office/drawing/2014/main" id="{8A403F96-5896-4BA7-8F18-170DAE72FE47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block-291">
            <a:extLst>
              <a:ext uri="{FF2B5EF4-FFF2-40B4-BE49-F238E27FC236}">
                <a16:creationId xmlns:a16="http://schemas.microsoft.com/office/drawing/2014/main" id="{D259B35C-D1B0-4D92-A8C0-60D95C061F3F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292">
            <a:extLst>
              <a:ext uri="{FF2B5EF4-FFF2-40B4-BE49-F238E27FC236}">
                <a16:creationId xmlns:a16="http://schemas.microsoft.com/office/drawing/2014/main" id="{DC7FE57D-7134-4085-925A-C00CBA549D35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23" name="text-293">
            <a:extLst>
              <a:ext uri="{FF2B5EF4-FFF2-40B4-BE49-F238E27FC236}">
                <a16:creationId xmlns:a16="http://schemas.microsoft.com/office/drawing/2014/main" id="{F4C53472-8F85-41C1-BA5E-092A2D057BD0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Always guessing “non-smoker” would score 79.5%. The model did better on this test set.</a:t>
            </a:r>
          </a:p>
        </p:txBody>
      </p:sp>
    </p:spTree>
    <p:extLst>
      <p:ext uri="{BB962C8B-B14F-4D97-AF65-F5344CB8AC3E}">
        <p14:creationId xmlns:p14="http://schemas.microsoft.com/office/powerpoint/2010/main" val="1197197018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9EF9BA-35F5-4B28-A537-FB49F1783467}"/>
              </a:ext>
            </a:extLst>
          </p:cNvPr>
          <p:cNvCxnSpPr>
            <a:stCxn id="19" idx="2"/>
            <a:endCxn id="31" idx="0"/>
          </p:cNvCxnSpPr>
          <p:nvPr/>
        </p:nvCxnSpPr>
        <p:spPr>
          <a:xfrm>
            <a:off x="12204700" y="5067300"/>
            <a:ext cx="1746250" cy="1193800"/>
          </a:xfrm>
          <a:prstGeom prst="straightConnector1">
            <a:avLst/>
          </a:prstGeom>
          <a:ln w="22860">
            <a:solidFill>
              <a:srgbClr val="596975"/>
            </a:solidFill>
            <a:tailEnd type="triangle" w="sm" len="sm"/>
          </a:ln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19780EA-87A9-4B66-B7A4-763DFAFAD4DA}"/>
              </a:ext>
            </a:extLst>
          </p:cNvPr>
          <p:cNvCxnSpPr>
            <a:stCxn id="19" idx="2"/>
            <a:endCxn id="29" idx="0"/>
          </p:cNvCxnSpPr>
          <p:nvPr/>
        </p:nvCxnSpPr>
        <p:spPr>
          <a:xfrm flipH="1">
            <a:off x="10433050" y="5067300"/>
            <a:ext cx="1771650" cy="1193800"/>
          </a:xfrm>
          <a:prstGeom prst="straightConnector1">
            <a:avLst/>
          </a:prstGeom>
          <a:ln w="22860">
            <a:solidFill>
              <a:srgbClr val="596975"/>
            </a:solidFill>
            <a:tailEnd type="triangle" w="sm" len="sm"/>
          </a:ln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42FDAA-C571-472A-B46D-78DC16ADE7E6}"/>
              </a:ext>
            </a:extLst>
          </p:cNvPr>
          <p:cNvCxnSpPr>
            <a:stCxn id="17" idx="2"/>
            <a:endCxn id="27" idx="0"/>
          </p:cNvCxnSpPr>
          <p:nvPr/>
        </p:nvCxnSpPr>
        <p:spPr>
          <a:xfrm>
            <a:off x="4051300" y="5067300"/>
            <a:ext cx="1758950" cy="1193800"/>
          </a:xfrm>
          <a:prstGeom prst="straightConnector1">
            <a:avLst/>
          </a:prstGeom>
          <a:ln w="22860">
            <a:solidFill>
              <a:srgbClr val="596975"/>
            </a:solidFill>
            <a:tailEnd type="triangle" w="sm" len="sm"/>
          </a:ln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A8E35D-F2B0-48E9-B0ED-E58D6DE6FC80}"/>
              </a:ext>
            </a:extLst>
          </p:cNvPr>
          <p:cNvCxnSpPr>
            <a:stCxn id="17" idx="2"/>
            <a:endCxn id="25" idx="0"/>
          </p:cNvCxnSpPr>
          <p:nvPr/>
        </p:nvCxnSpPr>
        <p:spPr>
          <a:xfrm flipH="1">
            <a:off x="2279650" y="5067300"/>
            <a:ext cx="1771650" cy="1193800"/>
          </a:xfrm>
          <a:prstGeom prst="straightConnector1">
            <a:avLst/>
          </a:prstGeom>
          <a:ln w="22860">
            <a:solidFill>
              <a:srgbClr val="596975"/>
            </a:solidFill>
            <a:tailEnd type="triangle" w="sm" len="sm"/>
          </a:ln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A9CF48E-CEFA-478A-A7D1-AE3C228F08A7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>
            <a:off x="8128000" y="3111500"/>
            <a:ext cx="4076700" cy="1092200"/>
          </a:xfrm>
          <a:prstGeom prst="straightConnector1">
            <a:avLst/>
          </a:prstGeom>
          <a:ln w="22860">
            <a:solidFill>
              <a:srgbClr val="596975"/>
            </a:solidFill>
            <a:tailEnd type="triangle" w="sm" len="sm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9F7E6D-E032-41A2-A180-97CEAE183A18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4051300" y="3111500"/>
            <a:ext cx="4076700" cy="1092200"/>
          </a:xfrm>
          <a:prstGeom prst="straightConnector1">
            <a:avLst/>
          </a:prstGeom>
          <a:ln w="22860">
            <a:solidFill>
              <a:srgbClr val="596975"/>
            </a:solidFill>
            <a:tailEnd type="triangle" w="sm" len="sm"/>
          </a:ln>
        </p:spPr>
      </p:cxnSp>
      <p:sp>
        <p:nvSpPr>
          <p:cNvPr id="45" name="block-294">
            <a:extLst>
              <a:ext uri="{FF2B5EF4-FFF2-40B4-BE49-F238E27FC236}">
                <a16:creationId xmlns:a16="http://schemas.microsoft.com/office/drawing/2014/main" id="{9A987149-A8D1-4DA5-8413-F7D51DBA17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295">
            <a:extLst>
              <a:ext uri="{FF2B5EF4-FFF2-40B4-BE49-F238E27FC236}">
                <a16:creationId xmlns:a16="http://schemas.microsoft.com/office/drawing/2014/main" id="{9727B9CE-6960-49FB-AAFE-B16AE2D748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296">
            <a:extLst>
              <a:ext uri="{FF2B5EF4-FFF2-40B4-BE49-F238E27FC236}">
                <a16:creationId xmlns:a16="http://schemas.microsoft.com/office/drawing/2014/main" id="{EF7F0BB6-6F97-4729-B69F-9A4519E3D75D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297">
            <a:extLst>
              <a:ext uri="{FF2B5EF4-FFF2-40B4-BE49-F238E27FC236}">
                <a16:creationId xmlns:a16="http://schemas.microsoft.com/office/drawing/2014/main" id="{536C7E62-3672-412B-AF6E-9DB80ADB3475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298">
            <a:extLst>
              <a:ext uri="{FF2B5EF4-FFF2-40B4-BE49-F238E27FC236}">
                <a16:creationId xmlns:a16="http://schemas.microsoft.com/office/drawing/2014/main" id="{66D491A1-E5CC-492F-B428-811CB54DB5DE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299">
            <a:extLst>
              <a:ext uri="{FF2B5EF4-FFF2-40B4-BE49-F238E27FC236}">
                <a16:creationId xmlns:a16="http://schemas.microsoft.com/office/drawing/2014/main" id="{86C1B591-1E40-47A2-A4B4-0E307447204A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300">
            <a:extLst>
              <a:ext uri="{FF2B5EF4-FFF2-40B4-BE49-F238E27FC236}">
                <a16:creationId xmlns:a16="http://schemas.microsoft.com/office/drawing/2014/main" id="{04E3C9CF-55A8-462F-9000-86A3BCBB33E2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301">
            <a:extLst>
              <a:ext uri="{FF2B5EF4-FFF2-40B4-BE49-F238E27FC236}">
                <a16:creationId xmlns:a16="http://schemas.microsoft.com/office/drawing/2014/main" id="{5DC8AF0D-580F-4827-B963-A8BB692CF1FF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302">
            <a:extLst>
              <a:ext uri="{FF2B5EF4-FFF2-40B4-BE49-F238E27FC236}">
                <a16:creationId xmlns:a16="http://schemas.microsoft.com/office/drawing/2014/main" id="{924A118E-0768-40DC-81DE-DBFEDE7DDDBE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303">
            <a:extLst>
              <a:ext uri="{FF2B5EF4-FFF2-40B4-BE49-F238E27FC236}">
                <a16:creationId xmlns:a16="http://schemas.microsoft.com/office/drawing/2014/main" id="{03DABC8D-28A7-4406-95CC-733B5F28A858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304">
            <a:extLst>
              <a:ext uri="{FF2B5EF4-FFF2-40B4-BE49-F238E27FC236}">
                <a16:creationId xmlns:a16="http://schemas.microsoft.com/office/drawing/2014/main" id="{4548D58D-F51B-4A5F-89AF-85372A8BBF43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A decision tree predicts smoking by asking yes/no questions</a:t>
            </a:r>
          </a:p>
        </p:txBody>
      </p:sp>
      <p:sp>
        <p:nvSpPr>
          <p:cNvPr id="12" name="text-305">
            <a:extLst>
              <a:ext uri="{FF2B5EF4-FFF2-40B4-BE49-F238E27FC236}">
                <a16:creationId xmlns:a16="http://schemas.microsoft.com/office/drawing/2014/main" id="{C9E6A596-1F3E-41B0-A34B-F8D95862F80C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4 · These are the first questions in our actual fitted tree</a:t>
            </a:r>
          </a:p>
        </p:txBody>
      </p:sp>
      <p:sp>
        <p:nvSpPr>
          <p:cNvPr id="13" name="text-306">
            <a:extLst>
              <a:ext uri="{FF2B5EF4-FFF2-40B4-BE49-F238E27FC236}">
                <a16:creationId xmlns:a16="http://schemas.microsoft.com/office/drawing/2014/main" id="{8F9EA40B-0B24-4BF9-BDD1-A8D96CDD44DB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307">
            <a:extLst>
              <a:ext uri="{FF2B5EF4-FFF2-40B4-BE49-F238E27FC236}">
                <a16:creationId xmlns:a16="http://schemas.microsoft.com/office/drawing/2014/main" id="{C57ACC6D-AAC6-4569-A569-7EB7FCE70683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13 / 24</a:t>
            </a:r>
          </a:p>
        </p:txBody>
      </p:sp>
      <p:sp>
        <p:nvSpPr>
          <p:cNvPr id="15" name="block-308">
            <a:extLst>
              <a:ext uri="{FF2B5EF4-FFF2-40B4-BE49-F238E27FC236}">
                <a16:creationId xmlns:a16="http://schemas.microsoft.com/office/drawing/2014/main" id="{3D8331E6-4FB5-4A1D-BD75-37D5F4A33BF4}"/>
              </a:ext>
            </a:extLst>
          </p:cNvPr>
          <p:cNvSpPr>
            <a:spLocks noGrp="1"/>
          </p:cNvSpPr>
          <p:nvPr/>
        </p:nvSpPr>
        <p:spPr>
          <a:xfrm>
            <a:off x="5778500" y="2286000"/>
            <a:ext cx="4699000" cy="825500"/>
          </a:xfrm>
          <a:prstGeom prst="roundRect">
            <a:avLst>
              <a:gd name="adj" fmla="val 12308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309">
            <a:extLst>
              <a:ext uri="{FF2B5EF4-FFF2-40B4-BE49-F238E27FC236}">
                <a16:creationId xmlns:a16="http://schemas.microsoft.com/office/drawing/2014/main" id="{764ADF45-9850-4B65-AA7B-E2DE9C0D0B23}"/>
              </a:ext>
            </a:extLst>
          </p:cNvPr>
          <p:cNvSpPr>
            <a:spLocks noGrp="1"/>
          </p:cNvSpPr>
          <p:nvPr/>
        </p:nvSpPr>
        <p:spPr>
          <a:xfrm>
            <a:off x="5930900" y="2362200"/>
            <a:ext cx="4394200" cy="67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 charges ≤ $15,374?</a:t>
            </a:r>
          </a:p>
        </p:txBody>
      </p:sp>
      <p:sp>
        <p:nvSpPr>
          <p:cNvPr id="17" name="block-310">
            <a:extLst>
              <a:ext uri="{FF2B5EF4-FFF2-40B4-BE49-F238E27FC236}">
                <a16:creationId xmlns:a16="http://schemas.microsoft.com/office/drawing/2014/main" id="{978796E5-72FA-48AF-B01A-4C21C17FDBCD}"/>
              </a:ext>
            </a:extLst>
          </p:cNvPr>
          <p:cNvSpPr>
            <a:spLocks noGrp="1"/>
          </p:cNvSpPr>
          <p:nvPr/>
        </p:nvSpPr>
        <p:spPr>
          <a:xfrm>
            <a:off x="1625600" y="4203700"/>
            <a:ext cx="4851400" cy="863600"/>
          </a:xfrm>
          <a:prstGeom prst="roundRect">
            <a:avLst>
              <a:gd name="adj" fmla="val 11765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311">
            <a:extLst>
              <a:ext uri="{FF2B5EF4-FFF2-40B4-BE49-F238E27FC236}">
                <a16:creationId xmlns:a16="http://schemas.microsoft.com/office/drawing/2014/main" id="{88E21DD0-D27E-4D5B-846C-C9B579BAE928}"/>
              </a:ext>
            </a:extLst>
          </p:cNvPr>
          <p:cNvSpPr>
            <a:spLocks noGrp="1"/>
          </p:cNvSpPr>
          <p:nvPr/>
        </p:nvSpPr>
        <p:spPr>
          <a:xfrm>
            <a:off x="1778000" y="4279900"/>
            <a:ext cx="45466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 charges ≤ $14,525?</a:t>
            </a:r>
          </a:p>
        </p:txBody>
      </p:sp>
      <p:sp>
        <p:nvSpPr>
          <p:cNvPr id="19" name="block-312">
            <a:extLst>
              <a:ext uri="{FF2B5EF4-FFF2-40B4-BE49-F238E27FC236}">
                <a16:creationId xmlns:a16="http://schemas.microsoft.com/office/drawing/2014/main" id="{E094F6B4-368B-4B3E-924F-B0A508849141}"/>
              </a:ext>
            </a:extLst>
          </p:cNvPr>
          <p:cNvSpPr>
            <a:spLocks noGrp="1"/>
          </p:cNvSpPr>
          <p:nvPr/>
        </p:nvSpPr>
        <p:spPr>
          <a:xfrm>
            <a:off x="9779000" y="4203700"/>
            <a:ext cx="4851400" cy="863600"/>
          </a:xfrm>
          <a:prstGeom prst="roundRect">
            <a:avLst>
              <a:gd name="adj" fmla="val 11765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313">
            <a:extLst>
              <a:ext uri="{FF2B5EF4-FFF2-40B4-BE49-F238E27FC236}">
                <a16:creationId xmlns:a16="http://schemas.microsoft.com/office/drawing/2014/main" id="{3897E970-7555-47F1-B47E-691C863C71F3}"/>
              </a:ext>
            </a:extLst>
          </p:cNvPr>
          <p:cNvSpPr>
            <a:spLocks noGrp="1"/>
          </p:cNvSpPr>
          <p:nvPr/>
        </p:nvSpPr>
        <p:spPr>
          <a:xfrm>
            <a:off x="9931400" y="4279900"/>
            <a:ext cx="45466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 charges ≤ $33,602?</a:t>
            </a:r>
          </a:p>
        </p:txBody>
      </p:sp>
      <p:sp>
        <p:nvSpPr>
          <p:cNvPr id="22" name="text-314">
            <a:extLst>
              <a:ext uri="{FF2B5EF4-FFF2-40B4-BE49-F238E27FC236}">
                <a16:creationId xmlns:a16="http://schemas.microsoft.com/office/drawing/2014/main" id="{8F1AF728-B35F-4409-87DA-CD5C237477A9}"/>
              </a:ext>
            </a:extLst>
          </p:cNvPr>
          <p:cNvSpPr>
            <a:spLocks noGrp="1"/>
          </p:cNvSpPr>
          <p:nvPr/>
        </p:nvSpPr>
        <p:spPr>
          <a:xfrm>
            <a:off x="4114800" y="3441700"/>
            <a:ext cx="76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4" name="text-315">
            <a:extLst>
              <a:ext uri="{FF2B5EF4-FFF2-40B4-BE49-F238E27FC236}">
                <a16:creationId xmlns:a16="http://schemas.microsoft.com/office/drawing/2014/main" id="{F0D6461B-9162-402E-9CE4-C2B844751419}"/>
              </a:ext>
            </a:extLst>
          </p:cNvPr>
          <p:cNvSpPr>
            <a:spLocks noGrp="1"/>
          </p:cNvSpPr>
          <p:nvPr/>
        </p:nvSpPr>
        <p:spPr>
          <a:xfrm>
            <a:off x="11379200" y="3441700"/>
            <a:ext cx="76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5" name="block-316">
            <a:extLst>
              <a:ext uri="{FF2B5EF4-FFF2-40B4-BE49-F238E27FC236}">
                <a16:creationId xmlns:a16="http://schemas.microsoft.com/office/drawing/2014/main" id="{6823D2B5-60B4-46CD-BE80-AC283CC4A7BF}"/>
              </a:ext>
            </a:extLst>
          </p:cNvPr>
          <p:cNvSpPr>
            <a:spLocks noGrp="1"/>
          </p:cNvSpPr>
          <p:nvPr/>
        </p:nvSpPr>
        <p:spPr>
          <a:xfrm>
            <a:off x="787400" y="6261100"/>
            <a:ext cx="2984500" cy="850900"/>
          </a:xfrm>
          <a:prstGeom prst="roundRect">
            <a:avLst>
              <a:gd name="adj" fmla="val 11940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317">
            <a:extLst>
              <a:ext uri="{FF2B5EF4-FFF2-40B4-BE49-F238E27FC236}">
                <a16:creationId xmlns:a16="http://schemas.microsoft.com/office/drawing/2014/main" id="{42EBF2ED-D11F-43FB-8F14-CA9EB7F12F68}"/>
              </a:ext>
            </a:extLst>
          </p:cNvPr>
          <p:cNvSpPr>
            <a:spLocks noGrp="1"/>
          </p:cNvSpPr>
          <p:nvPr/>
        </p:nvSpPr>
        <p:spPr>
          <a:xfrm>
            <a:off x="939800" y="6337300"/>
            <a:ext cx="26797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BMI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7" name="block-318">
            <a:extLst>
              <a:ext uri="{FF2B5EF4-FFF2-40B4-BE49-F238E27FC236}">
                <a16:creationId xmlns:a16="http://schemas.microsoft.com/office/drawing/2014/main" id="{C798DC0D-03DE-47DA-A4D2-D0D0AAACB36B}"/>
              </a:ext>
            </a:extLst>
          </p:cNvPr>
          <p:cNvSpPr>
            <a:spLocks noGrp="1"/>
          </p:cNvSpPr>
          <p:nvPr/>
        </p:nvSpPr>
        <p:spPr>
          <a:xfrm>
            <a:off x="4318000" y="6261100"/>
            <a:ext cx="2984500" cy="850900"/>
          </a:xfrm>
          <a:prstGeom prst="roundRect">
            <a:avLst>
              <a:gd name="adj" fmla="val 11940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-319">
            <a:extLst>
              <a:ext uri="{FF2B5EF4-FFF2-40B4-BE49-F238E27FC236}">
                <a16:creationId xmlns:a16="http://schemas.microsoft.com/office/drawing/2014/main" id="{91A1A2CC-8955-47D2-9B55-10D3B700ABAC}"/>
              </a:ext>
            </a:extLst>
          </p:cNvPr>
          <p:cNvSpPr>
            <a:spLocks noGrp="1"/>
          </p:cNvSpPr>
          <p:nvPr/>
        </p:nvSpPr>
        <p:spPr>
          <a:xfrm>
            <a:off x="4470400" y="6337300"/>
            <a:ext cx="26797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age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9" name="block-320">
            <a:extLst>
              <a:ext uri="{FF2B5EF4-FFF2-40B4-BE49-F238E27FC236}">
                <a16:creationId xmlns:a16="http://schemas.microsoft.com/office/drawing/2014/main" id="{47CCA360-C022-4219-B99C-D1C4562059D4}"/>
              </a:ext>
            </a:extLst>
          </p:cNvPr>
          <p:cNvSpPr>
            <a:spLocks noGrp="1"/>
          </p:cNvSpPr>
          <p:nvPr/>
        </p:nvSpPr>
        <p:spPr>
          <a:xfrm>
            <a:off x="8940800" y="6261100"/>
            <a:ext cx="2984500" cy="850900"/>
          </a:xfrm>
          <a:prstGeom prst="roundRect">
            <a:avLst>
              <a:gd name="adj" fmla="val 11940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321">
            <a:extLst>
              <a:ext uri="{FF2B5EF4-FFF2-40B4-BE49-F238E27FC236}">
                <a16:creationId xmlns:a16="http://schemas.microsoft.com/office/drawing/2014/main" id="{B1A17AD2-81E1-4E93-95F3-CEFB97ADB18C}"/>
              </a:ext>
            </a:extLst>
          </p:cNvPr>
          <p:cNvSpPr>
            <a:spLocks noGrp="1"/>
          </p:cNvSpPr>
          <p:nvPr/>
        </p:nvSpPr>
        <p:spPr>
          <a:xfrm>
            <a:off x="9093200" y="6337300"/>
            <a:ext cx="26797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BMI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1" name="block-322">
            <a:extLst>
              <a:ext uri="{FF2B5EF4-FFF2-40B4-BE49-F238E27FC236}">
                <a16:creationId xmlns:a16="http://schemas.microsoft.com/office/drawing/2014/main" id="{B723AFA6-60DE-4089-BC33-7692E173310B}"/>
              </a:ext>
            </a:extLst>
          </p:cNvPr>
          <p:cNvSpPr>
            <a:spLocks noGrp="1"/>
          </p:cNvSpPr>
          <p:nvPr/>
        </p:nvSpPr>
        <p:spPr>
          <a:xfrm>
            <a:off x="12458700" y="6261100"/>
            <a:ext cx="2984500" cy="850900"/>
          </a:xfrm>
          <a:prstGeom prst="roundRect">
            <a:avLst>
              <a:gd name="adj" fmla="val 11940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-323">
            <a:extLst>
              <a:ext uri="{FF2B5EF4-FFF2-40B4-BE49-F238E27FC236}">
                <a16:creationId xmlns:a16="http://schemas.microsoft.com/office/drawing/2014/main" id="{38D9E240-EB09-4FC5-B39E-24C7FDD0DEB5}"/>
              </a:ext>
            </a:extLst>
          </p:cNvPr>
          <p:cNvSpPr>
            <a:spLocks noGrp="1"/>
          </p:cNvSpPr>
          <p:nvPr/>
        </p:nvSpPr>
        <p:spPr>
          <a:xfrm>
            <a:off x="12611100" y="6337300"/>
            <a:ext cx="2679700" cy="69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BMI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4" name="text-324">
            <a:extLst>
              <a:ext uri="{FF2B5EF4-FFF2-40B4-BE49-F238E27FC236}">
                <a16:creationId xmlns:a16="http://schemas.microsoft.com/office/drawing/2014/main" id="{DCBF5608-BE47-4AB1-B3BD-9B3188CC5669}"/>
              </a:ext>
            </a:extLst>
          </p:cNvPr>
          <p:cNvSpPr>
            <a:spLocks noGrp="1"/>
          </p:cNvSpPr>
          <p:nvPr/>
        </p:nvSpPr>
        <p:spPr>
          <a:xfrm>
            <a:off x="2133600" y="5473700"/>
            <a:ext cx="76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6" name="text-325">
            <a:extLst>
              <a:ext uri="{FF2B5EF4-FFF2-40B4-BE49-F238E27FC236}">
                <a16:creationId xmlns:a16="http://schemas.microsoft.com/office/drawing/2014/main" id="{614A46A2-ACB0-40EF-B34D-0E11EEFA69B3}"/>
              </a:ext>
            </a:extLst>
          </p:cNvPr>
          <p:cNvSpPr>
            <a:spLocks noGrp="1"/>
          </p:cNvSpPr>
          <p:nvPr/>
        </p:nvSpPr>
        <p:spPr>
          <a:xfrm>
            <a:off x="5346700" y="5473700"/>
            <a:ext cx="76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8" name="text-326">
            <a:extLst>
              <a:ext uri="{FF2B5EF4-FFF2-40B4-BE49-F238E27FC236}">
                <a16:creationId xmlns:a16="http://schemas.microsoft.com/office/drawing/2014/main" id="{C0CAFC79-1CE7-440B-B296-537943EE16B7}"/>
              </a:ext>
            </a:extLst>
          </p:cNvPr>
          <p:cNvSpPr>
            <a:spLocks noGrp="1"/>
          </p:cNvSpPr>
          <p:nvPr/>
        </p:nvSpPr>
        <p:spPr>
          <a:xfrm>
            <a:off x="10414000" y="5473700"/>
            <a:ext cx="76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0" name="text-327">
            <a:extLst>
              <a:ext uri="{FF2B5EF4-FFF2-40B4-BE49-F238E27FC236}">
                <a16:creationId xmlns:a16="http://schemas.microsoft.com/office/drawing/2014/main" id="{D222CE16-AB17-4E52-B057-D6FE7E89E9D1}"/>
              </a:ext>
            </a:extLst>
          </p:cNvPr>
          <p:cNvSpPr>
            <a:spLocks noGrp="1"/>
          </p:cNvSpPr>
          <p:nvPr/>
        </p:nvSpPr>
        <p:spPr>
          <a:xfrm>
            <a:off x="13754100" y="5473700"/>
            <a:ext cx="76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41" name="block-328">
            <a:extLst>
              <a:ext uri="{FF2B5EF4-FFF2-40B4-BE49-F238E27FC236}">
                <a16:creationId xmlns:a16="http://schemas.microsoft.com/office/drawing/2014/main" id="{E8E319A7-FEAD-4F6F-AF7E-6257ABA963EE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block-329">
            <a:extLst>
              <a:ext uri="{FF2B5EF4-FFF2-40B4-BE49-F238E27FC236}">
                <a16:creationId xmlns:a16="http://schemas.microsoft.com/office/drawing/2014/main" id="{A8363DA4-94F6-4D77-B809-BC78CDB66799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-330">
            <a:extLst>
              <a:ext uri="{FF2B5EF4-FFF2-40B4-BE49-F238E27FC236}">
                <a16:creationId xmlns:a16="http://schemas.microsoft.com/office/drawing/2014/main" id="{E21BF356-8A24-442C-9FB4-9C183A1A368E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HOW TO READ</a:t>
            </a:r>
          </a:p>
        </p:txBody>
      </p:sp>
      <p:sp>
        <p:nvSpPr>
          <p:cNvPr id="44" name="text-331">
            <a:extLst>
              <a:ext uri="{FF2B5EF4-FFF2-40B4-BE49-F238E27FC236}">
                <a16:creationId xmlns:a16="http://schemas.microsoft.com/office/drawing/2014/main" id="{74A90BE8-DABC-4218-AA36-E7DC70445D5D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Follow the answer at each split. More checks lead to a final “smoker” or “non-smoker” leaf.</a:t>
            </a:r>
          </a:p>
        </p:txBody>
      </p:sp>
    </p:spTree>
    <p:extLst>
      <p:ext uri="{BB962C8B-B14F-4D97-AF65-F5344CB8AC3E}">
        <p14:creationId xmlns:p14="http://schemas.microsoft.com/office/powerpoint/2010/main" val="32742416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lock-332">
            <a:extLst>
              <a:ext uri="{FF2B5EF4-FFF2-40B4-BE49-F238E27FC236}">
                <a16:creationId xmlns:a16="http://schemas.microsoft.com/office/drawing/2014/main" id="{55F4D980-29DB-4F5C-9658-2F09854E27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333">
            <a:extLst>
              <a:ext uri="{FF2B5EF4-FFF2-40B4-BE49-F238E27FC236}">
                <a16:creationId xmlns:a16="http://schemas.microsoft.com/office/drawing/2014/main" id="{F2A350E5-C7D0-4576-AA66-A9C27E79E3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334">
            <a:extLst>
              <a:ext uri="{FF2B5EF4-FFF2-40B4-BE49-F238E27FC236}">
                <a16:creationId xmlns:a16="http://schemas.microsoft.com/office/drawing/2014/main" id="{61D8D17F-8C28-48C7-A7FB-9238EB8DA17D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335">
            <a:extLst>
              <a:ext uri="{FF2B5EF4-FFF2-40B4-BE49-F238E27FC236}">
                <a16:creationId xmlns:a16="http://schemas.microsoft.com/office/drawing/2014/main" id="{96E21D3C-87EC-4E05-9240-7CC723C23930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336">
            <a:extLst>
              <a:ext uri="{FF2B5EF4-FFF2-40B4-BE49-F238E27FC236}">
                <a16:creationId xmlns:a16="http://schemas.microsoft.com/office/drawing/2014/main" id="{BE509F2E-0F2D-4CB1-9936-40E9B5A83DB2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337">
            <a:extLst>
              <a:ext uri="{FF2B5EF4-FFF2-40B4-BE49-F238E27FC236}">
                <a16:creationId xmlns:a16="http://schemas.microsoft.com/office/drawing/2014/main" id="{8A69EB27-C2C4-4F3F-A325-46B4A28CD3D2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338">
            <a:extLst>
              <a:ext uri="{FF2B5EF4-FFF2-40B4-BE49-F238E27FC236}">
                <a16:creationId xmlns:a16="http://schemas.microsoft.com/office/drawing/2014/main" id="{75427368-96CC-4700-9F04-77559ACF8438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339">
            <a:extLst>
              <a:ext uri="{FF2B5EF4-FFF2-40B4-BE49-F238E27FC236}">
                <a16:creationId xmlns:a16="http://schemas.microsoft.com/office/drawing/2014/main" id="{E19A4A42-A186-4226-A373-00EA9A109BE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340">
            <a:extLst>
              <a:ext uri="{FF2B5EF4-FFF2-40B4-BE49-F238E27FC236}">
                <a16:creationId xmlns:a16="http://schemas.microsoft.com/office/drawing/2014/main" id="{CBF7F03F-2B3B-445B-8811-D068180A0924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341">
            <a:extLst>
              <a:ext uri="{FF2B5EF4-FFF2-40B4-BE49-F238E27FC236}">
                <a16:creationId xmlns:a16="http://schemas.microsoft.com/office/drawing/2014/main" id="{2FF41F43-9A1E-4896-9CAF-F5C3E4278790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342">
            <a:extLst>
              <a:ext uri="{FF2B5EF4-FFF2-40B4-BE49-F238E27FC236}">
                <a16:creationId xmlns:a16="http://schemas.microsoft.com/office/drawing/2014/main" id="{563077C6-B9AB-4C35-A0A1-7DC9EB8EFD4A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Two complete routes through the tree</a:t>
            </a:r>
          </a:p>
        </p:txBody>
      </p:sp>
      <p:sp>
        <p:nvSpPr>
          <p:cNvPr id="12" name="text-343">
            <a:extLst>
              <a:ext uri="{FF2B5EF4-FFF2-40B4-BE49-F238E27FC236}">
                <a16:creationId xmlns:a16="http://schemas.microsoft.com/office/drawing/2014/main" id="{7BD3CEF7-A1C7-4FAE-9031-6D32C6542E08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4 · Illustrative inputs following real rules from our final model</a:t>
            </a:r>
          </a:p>
        </p:txBody>
      </p:sp>
      <p:sp>
        <p:nvSpPr>
          <p:cNvPr id="13" name="text-344">
            <a:extLst>
              <a:ext uri="{FF2B5EF4-FFF2-40B4-BE49-F238E27FC236}">
                <a16:creationId xmlns:a16="http://schemas.microsoft.com/office/drawing/2014/main" id="{A6086D1D-0F58-4066-9D7B-E24F692EC536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345">
            <a:extLst>
              <a:ext uri="{FF2B5EF4-FFF2-40B4-BE49-F238E27FC236}">
                <a16:creationId xmlns:a16="http://schemas.microsoft.com/office/drawing/2014/main" id="{B87CD438-1ECC-41F9-903D-A31C235A7055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14 / 24</a:t>
            </a:r>
          </a:p>
        </p:txBody>
      </p:sp>
      <p:sp>
        <p:nvSpPr>
          <p:cNvPr id="15" name="block-346">
            <a:extLst>
              <a:ext uri="{FF2B5EF4-FFF2-40B4-BE49-F238E27FC236}">
                <a16:creationId xmlns:a16="http://schemas.microsoft.com/office/drawing/2014/main" id="{87646CF8-154F-4DFD-A915-B4204470F959}"/>
              </a:ext>
            </a:extLst>
          </p:cNvPr>
          <p:cNvSpPr>
            <a:spLocks noGrp="1"/>
          </p:cNvSpPr>
          <p:nvPr/>
        </p:nvSpPr>
        <p:spPr>
          <a:xfrm>
            <a:off x="673100" y="2247900"/>
            <a:ext cx="7251700" cy="5359400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347">
            <a:extLst>
              <a:ext uri="{FF2B5EF4-FFF2-40B4-BE49-F238E27FC236}">
                <a16:creationId xmlns:a16="http://schemas.microsoft.com/office/drawing/2014/main" id="{EE50F4EB-3018-4E21-91C4-CED0153A4ABA}"/>
              </a:ext>
            </a:extLst>
          </p:cNvPr>
          <p:cNvSpPr>
            <a:spLocks noGrp="1"/>
          </p:cNvSpPr>
          <p:nvPr/>
        </p:nvSpPr>
        <p:spPr>
          <a:xfrm>
            <a:off x="927100" y="2425700"/>
            <a:ext cx="6731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EXAMPLE A</a:t>
            </a:r>
          </a:p>
        </p:txBody>
      </p:sp>
      <p:sp>
        <p:nvSpPr>
          <p:cNvPr id="17" name="text-348">
            <a:extLst>
              <a:ext uri="{FF2B5EF4-FFF2-40B4-BE49-F238E27FC236}">
                <a16:creationId xmlns:a16="http://schemas.microsoft.com/office/drawing/2014/main" id="{E81F54FC-2B90-4A4A-8A7E-AF8C9381F2A5}"/>
              </a:ext>
            </a:extLst>
          </p:cNvPr>
          <p:cNvSpPr>
            <a:spLocks noGrp="1"/>
          </p:cNvSpPr>
          <p:nvPr/>
        </p:nvSpPr>
        <p:spPr>
          <a:xfrm>
            <a:off x="927100" y="2959100"/>
            <a:ext cx="6718300" cy="660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Charges $10,000 · BMI 25</a:t>
            </a:r>
          </a:p>
        </p:txBody>
      </p:sp>
      <p:sp>
        <p:nvSpPr>
          <p:cNvPr id="18" name="text-349">
            <a:extLst>
              <a:ext uri="{FF2B5EF4-FFF2-40B4-BE49-F238E27FC236}">
                <a16:creationId xmlns:a16="http://schemas.microsoft.com/office/drawing/2014/main" id="{8B61B581-1106-4AFA-B3C9-5758DFB0A536}"/>
              </a:ext>
            </a:extLst>
          </p:cNvPr>
          <p:cNvSpPr>
            <a:spLocks noGrp="1"/>
          </p:cNvSpPr>
          <p:nvPr/>
        </p:nvSpPr>
        <p:spPr>
          <a:xfrm>
            <a:off x="1028700" y="3822700"/>
            <a:ext cx="6477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Charges ≤ $15,374?  Yes</a:t>
            </a:r>
          </a:p>
        </p:txBody>
      </p:sp>
      <p:sp>
        <p:nvSpPr>
          <p:cNvPr id="19" name="text-350">
            <a:extLst>
              <a:ext uri="{FF2B5EF4-FFF2-40B4-BE49-F238E27FC236}">
                <a16:creationId xmlns:a16="http://schemas.microsoft.com/office/drawing/2014/main" id="{9CEAF38F-C63E-497D-B02B-6CE4A21B0385}"/>
              </a:ext>
            </a:extLst>
          </p:cNvPr>
          <p:cNvSpPr>
            <a:spLocks noGrp="1"/>
          </p:cNvSpPr>
          <p:nvPr/>
        </p:nvSpPr>
        <p:spPr>
          <a:xfrm>
            <a:off x="1028700" y="4445000"/>
            <a:ext cx="6477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Charges ≤ $14,525?  Yes</a:t>
            </a:r>
          </a:p>
        </p:txBody>
      </p:sp>
      <p:sp>
        <p:nvSpPr>
          <p:cNvPr id="20" name="text-351">
            <a:extLst>
              <a:ext uri="{FF2B5EF4-FFF2-40B4-BE49-F238E27FC236}">
                <a16:creationId xmlns:a16="http://schemas.microsoft.com/office/drawing/2014/main" id="{F2DCDF13-31E8-4187-9C05-AEFB20347EC8}"/>
              </a:ext>
            </a:extLst>
          </p:cNvPr>
          <p:cNvSpPr>
            <a:spLocks noGrp="1"/>
          </p:cNvSpPr>
          <p:nvPr/>
        </p:nvSpPr>
        <p:spPr>
          <a:xfrm>
            <a:off x="1028700" y="5067300"/>
            <a:ext cx="6477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BMI ≤ 21.73?  No</a:t>
            </a:r>
          </a:p>
        </p:txBody>
      </p:sp>
      <p:sp>
        <p:nvSpPr>
          <p:cNvPr id="21" name="block-352">
            <a:extLst>
              <a:ext uri="{FF2B5EF4-FFF2-40B4-BE49-F238E27FC236}">
                <a16:creationId xmlns:a16="http://schemas.microsoft.com/office/drawing/2014/main" id="{941E105F-9531-4674-928D-635914313952}"/>
              </a:ext>
            </a:extLst>
          </p:cNvPr>
          <p:cNvSpPr>
            <a:spLocks noGrp="1"/>
          </p:cNvSpPr>
          <p:nvPr/>
        </p:nvSpPr>
        <p:spPr>
          <a:xfrm>
            <a:off x="927100" y="6794500"/>
            <a:ext cx="6743700" cy="571500"/>
          </a:xfrm>
          <a:prstGeom prst="roundRect">
            <a:avLst>
              <a:gd name="adj" fmla="val 1333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353">
            <a:extLst>
              <a:ext uri="{FF2B5EF4-FFF2-40B4-BE49-F238E27FC236}">
                <a16:creationId xmlns:a16="http://schemas.microsoft.com/office/drawing/2014/main" id="{5D7D25F4-77CC-4421-9090-584FC7156427}"/>
              </a:ext>
            </a:extLst>
          </p:cNvPr>
          <p:cNvSpPr>
            <a:spLocks noGrp="1"/>
          </p:cNvSpPr>
          <p:nvPr/>
        </p:nvSpPr>
        <p:spPr>
          <a:xfrm>
            <a:off x="1054100" y="6858000"/>
            <a:ext cx="64897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 non-smoker</a:t>
            </a:r>
          </a:p>
        </p:txBody>
      </p:sp>
      <p:sp>
        <p:nvSpPr>
          <p:cNvPr id="23" name="block-354">
            <a:extLst>
              <a:ext uri="{FF2B5EF4-FFF2-40B4-BE49-F238E27FC236}">
                <a16:creationId xmlns:a16="http://schemas.microsoft.com/office/drawing/2014/main" id="{03C0B4D3-B8FB-461C-A674-8CE238BBF68C}"/>
              </a:ext>
            </a:extLst>
          </p:cNvPr>
          <p:cNvSpPr>
            <a:spLocks noGrp="1"/>
          </p:cNvSpPr>
          <p:nvPr/>
        </p:nvSpPr>
        <p:spPr>
          <a:xfrm>
            <a:off x="8343900" y="2247900"/>
            <a:ext cx="7251700" cy="5359400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355">
            <a:extLst>
              <a:ext uri="{FF2B5EF4-FFF2-40B4-BE49-F238E27FC236}">
                <a16:creationId xmlns:a16="http://schemas.microsoft.com/office/drawing/2014/main" id="{0DF3FEED-BDF1-405E-86AB-346B7E0AB066}"/>
              </a:ext>
            </a:extLst>
          </p:cNvPr>
          <p:cNvSpPr>
            <a:spLocks noGrp="1"/>
          </p:cNvSpPr>
          <p:nvPr/>
        </p:nvSpPr>
        <p:spPr>
          <a:xfrm>
            <a:off x="8597900" y="2425700"/>
            <a:ext cx="673100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EXAMPLE B</a:t>
            </a:r>
          </a:p>
        </p:txBody>
      </p:sp>
      <p:sp>
        <p:nvSpPr>
          <p:cNvPr id="25" name="text-356">
            <a:extLst>
              <a:ext uri="{FF2B5EF4-FFF2-40B4-BE49-F238E27FC236}">
                <a16:creationId xmlns:a16="http://schemas.microsoft.com/office/drawing/2014/main" id="{52901BC6-B00D-444D-9C63-395181C9D7C2}"/>
              </a:ext>
            </a:extLst>
          </p:cNvPr>
          <p:cNvSpPr>
            <a:spLocks noGrp="1"/>
          </p:cNvSpPr>
          <p:nvPr/>
        </p:nvSpPr>
        <p:spPr>
          <a:xfrm>
            <a:off x="8597900" y="2959100"/>
            <a:ext cx="6718300" cy="660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Charges $40,000 · BMI 35 · Age 40</a:t>
            </a:r>
          </a:p>
        </p:txBody>
      </p:sp>
      <p:sp>
        <p:nvSpPr>
          <p:cNvPr id="26" name="text-357">
            <a:extLst>
              <a:ext uri="{FF2B5EF4-FFF2-40B4-BE49-F238E27FC236}">
                <a16:creationId xmlns:a16="http://schemas.microsoft.com/office/drawing/2014/main" id="{F448C038-5CB2-4A2E-8EE1-3C4D227F9509}"/>
              </a:ext>
            </a:extLst>
          </p:cNvPr>
          <p:cNvSpPr>
            <a:spLocks noGrp="1"/>
          </p:cNvSpPr>
          <p:nvPr/>
        </p:nvSpPr>
        <p:spPr>
          <a:xfrm>
            <a:off x="8699500" y="3822700"/>
            <a:ext cx="6477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Charges ≤ $15,374?  No</a:t>
            </a:r>
          </a:p>
        </p:txBody>
      </p:sp>
      <p:sp>
        <p:nvSpPr>
          <p:cNvPr id="27" name="text-358">
            <a:extLst>
              <a:ext uri="{FF2B5EF4-FFF2-40B4-BE49-F238E27FC236}">
                <a16:creationId xmlns:a16="http://schemas.microsoft.com/office/drawing/2014/main" id="{6A04D045-6921-4A17-84E0-EF3A937A2E3D}"/>
              </a:ext>
            </a:extLst>
          </p:cNvPr>
          <p:cNvSpPr>
            <a:spLocks noGrp="1"/>
          </p:cNvSpPr>
          <p:nvPr/>
        </p:nvSpPr>
        <p:spPr>
          <a:xfrm>
            <a:off x="8699500" y="4445000"/>
            <a:ext cx="6477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Charges ≤ $33,602?  No</a:t>
            </a:r>
          </a:p>
        </p:txBody>
      </p:sp>
      <p:sp>
        <p:nvSpPr>
          <p:cNvPr id="28" name="text-359">
            <a:extLst>
              <a:ext uri="{FF2B5EF4-FFF2-40B4-BE49-F238E27FC236}">
                <a16:creationId xmlns:a16="http://schemas.microsoft.com/office/drawing/2014/main" id="{E4E8D15E-EAA7-45F2-A9E6-1C84B5AB607F}"/>
              </a:ext>
            </a:extLst>
          </p:cNvPr>
          <p:cNvSpPr>
            <a:spLocks noGrp="1"/>
          </p:cNvSpPr>
          <p:nvPr/>
        </p:nvSpPr>
        <p:spPr>
          <a:xfrm>
            <a:off x="8699500" y="5067300"/>
            <a:ext cx="6477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BMI ≤ 27.65?  No</a:t>
            </a:r>
          </a:p>
        </p:txBody>
      </p:sp>
      <p:sp>
        <p:nvSpPr>
          <p:cNvPr id="29" name="text-360">
            <a:extLst>
              <a:ext uri="{FF2B5EF4-FFF2-40B4-BE49-F238E27FC236}">
                <a16:creationId xmlns:a16="http://schemas.microsoft.com/office/drawing/2014/main" id="{65C7F091-6E1D-4267-99BB-D6A1A9C5675D}"/>
              </a:ext>
            </a:extLst>
          </p:cNvPr>
          <p:cNvSpPr>
            <a:spLocks noGrp="1"/>
          </p:cNvSpPr>
          <p:nvPr/>
        </p:nvSpPr>
        <p:spPr>
          <a:xfrm>
            <a:off x="8699500" y="5689600"/>
            <a:ext cx="64770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Age ≤ 58.5?  Yes</a:t>
            </a:r>
          </a:p>
        </p:txBody>
      </p:sp>
      <p:sp>
        <p:nvSpPr>
          <p:cNvPr id="30" name="block-361">
            <a:extLst>
              <a:ext uri="{FF2B5EF4-FFF2-40B4-BE49-F238E27FC236}">
                <a16:creationId xmlns:a16="http://schemas.microsoft.com/office/drawing/2014/main" id="{70A5C7EC-8FD2-43B7-813C-F7295E2B7C36}"/>
              </a:ext>
            </a:extLst>
          </p:cNvPr>
          <p:cNvSpPr>
            <a:spLocks noGrp="1"/>
          </p:cNvSpPr>
          <p:nvPr/>
        </p:nvSpPr>
        <p:spPr>
          <a:xfrm>
            <a:off x="8597900" y="6794500"/>
            <a:ext cx="6743700" cy="571500"/>
          </a:xfrm>
          <a:prstGeom prst="roundRect">
            <a:avLst>
              <a:gd name="adj" fmla="val 1333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-362">
            <a:extLst>
              <a:ext uri="{FF2B5EF4-FFF2-40B4-BE49-F238E27FC236}">
                <a16:creationId xmlns:a16="http://schemas.microsoft.com/office/drawing/2014/main" id="{9A977556-858B-4544-953B-14FBFF0398CE}"/>
              </a:ext>
            </a:extLst>
          </p:cNvPr>
          <p:cNvSpPr>
            <a:spLocks noGrp="1"/>
          </p:cNvSpPr>
          <p:nvPr/>
        </p:nvSpPr>
        <p:spPr>
          <a:xfrm>
            <a:off x="8724900" y="6858000"/>
            <a:ext cx="64897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 smoker</a:t>
            </a:r>
          </a:p>
        </p:txBody>
      </p:sp>
      <p:sp>
        <p:nvSpPr>
          <p:cNvPr id="32" name="block-363">
            <a:extLst>
              <a:ext uri="{FF2B5EF4-FFF2-40B4-BE49-F238E27FC236}">
                <a16:creationId xmlns:a16="http://schemas.microsoft.com/office/drawing/2014/main" id="{7E9A4778-D5D1-429E-9613-D9E63062AE3B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block-364">
            <a:extLst>
              <a:ext uri="{FF2B5EF4-FFF2-40B4-BE49-F238E27FC236}">
                <a16:creationId xmlns:a16="http://schemas.microsoft.com/office/drawing/2014/main" id="{8903AB54-9CA3-4229-A87C-9839582EDDE6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-365">
            <a:extLst>
              <a:ext uri="{FF2B5EF4-FFF2-40B4-BE49-F238E27FC236}">
                <a16:creationId xmlns:a16="http://schemas.microsoft.com/office/drawing/2014/main" id="{15A402BF-8E54-472E-83D5-94F4CAA8B650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A RULE IS…</a:t>
            </a:r>
          </a:p>
        </p:txBody>
      </p:sp>
      <p:sp>
        <p:nvSpPr>
          <p:cNvPr id="35" name="text-366">
            <a:extLst>
              <a:ext uri="{FF2B5EF4-FFF2-40B4-BE49-F238E27FC236}">
                <a16:creationId xmlns:a16="http://schemas.microsoft.com/office/drawing/2014/main" id="{529C24B5-E95D-489F-99E2-00F29E032970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list of conditions along one complete path. Our 16 rules gave the same predictions as the tree.</a:t>
            </a:r>
          </a:p>
        </p:txBody>
      </p:sp>
    </p:spTree>
    <p:extLst>
      <p:ext uri="{BB962C8B-B14F-4D97-AF65-F5344CB8AC3E}">
        <p14:creationId xmlns:p14="http://schemas.microsoft.com/office/powerpoint/2010/main" val="1336646198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lock-367">
            <a:extLst>
              <a:ext uri="{FF2B5EF4-FFF2-40B4-BE49-F238E27FC236}">
                <a16:creationId xmlns:a16="http://schemas.microsoft.com/office/drawing/2014/main" id="{8B0BDC57-1383-4D9B-8C39-00CE9B41D6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368">
            <a:extLst>
              <a:ext uri="{FF2B5EF4-FFF2-40B4-BE49-F238E27FC236}">
                <a16:creationId xmlns:a16="http://schemas.microsoft.com/office/drawing/2014/main" id="{DF80DCDA-6DF0-4CB5-B0EF-970B5A1A63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369">
            <a:extLst>
              <a:ext uri="{FF2B5EF4-FFF2-40B4-BE49-F238E27FC236}">
                <a16:creationId xmlns:a16="http://schemas.microsoft.com/office/drawing/2014/main" id="{AED04251-F229-48C5-A78C-C5C3DA1441F2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370">
            <a:extLst>
              <a:ext uri="{FF2B5EF4-FFF2-40B4-BE49-F238E27FC236}">
                <a16:creationId xmlns:a16="http://schemas.microsoft.com/office/drawing/2014/main" id="{CFF640D5-246E-4735-B547-810FF0A34209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371">
            <a:extLst>
              <a:ext uri="{FF2B5EF4-FFF2-40B4-BE49-F238E27FC236}">
                <a16:creationId xmlns:a16="http://schemas.microsoft.com/office/drawing/2014/main" id="{60E27BA5-A1E0-4321-8329-226374A44399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372">
            <a:extLst>
              <a:ext uri="{FF2B5EF4-FFF2-40B4-BE49-F238E27FC236}">
                <a16:creationId xmlns:a16="http://schemas.microsoft.com/office/drawing/2014/main" id="{6405B2ED-FA29-4294-96C1-DC73E154027B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373">
            <a:extLst>
              <a:ext uri="{FF2B5EF4-FFF2-40B4-BE49-F238E27FC236}">
                <a16:creationId xmlns:a16="http://schemas.microsoft.com/office/drawing/2014/main" id="{99B22163-F86B-405F-87A1-70C6A98712AF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374">
            <a:extLst>
              <a:ext uri="{FF2B5EF4-FFF2-40B4-BE49-F238E27FC236}">
                <a16:creationId xmlns:a16="http://schemas.microsoft.com/office/drawing/2014/main" id="{37C6AC06-1C6E-4A96-ACF5-97E8BE780550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375">
            <a:extLst>
              <a:ext uri="{FF2B5EF4-FFF2-40B4-BE49-F238E27FC236}">
                <a16:creationId xmlns:a16="http://schemas.microsoft.com/office/drawing/2014/main" id="{06D11245-DE84-4273-868A-B36AD60A1175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376">
            <a:extLst>
              <a:ext uri="{FF2B5EF4-FFF2-40B4-BE49-F238E27FC236}">
                <a16:creationId xmlns:a16="http://schemas.microsoft.com/office/drawing/2014/main" id="{19F1841E-1BD3-49F4-8528-D523FC65F6EE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377">
            <a:extLst>
              <a:ext uri="{FF2B5EF4-FFF2-40B4-BE49-F238E27FC236}">
                <a16:creationId xmlns:a16="http://schemas.microsoft.com/office/drawing/2014/main" id="{D0C030C1-9B62-4E04-AEE8-6947F5332C0D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How many questions should the tree be allowed to ask?</a:t>
            </a:r>
          </a:p>
        </p:txBody>
      </p:sp>
      <p:sp>
        <p:nvSpPr>
          <p:cNvPr id="12" name="text-378">
            <a:extLst>
              <a:ext uri="{FF2B5EF4-FFF2-40B4-BE49-F238E27FC236}">
                <a16:creationId xmlns:a16="http://schemas.microsoft.com/office/drawing/2014/main" id="{07D2045D-AAAA-4C7F-B1CE-6A0093A07F5B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4 · Depth = the maximum number of splits along one route</a:t>
            </a:r>
          </a:p>
        </p:txBody>
      </p:sp>
      <p:sp>
        <p:nvSpPr>
          <p:cNvPr id="13" name="text-379">
            <a:extLst>
              <a:ext uri="{FF2B5EF4-FFF2-40B4-BE49-F238E27FC236}">
                <a16:creationId xmlns:a16="http://schemas.microsoft.com/office/drawing/2014/main" id="{AE3D203A-7B59-46F2-AD3B-9EC569254400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380">
            <a:extLst>
              <a:ext uri="{FF2B5EF4-FFF2-40B4-BE49-F238E27FC236}">
                <a16:creationId xmlns:a16="http://schemas.microsoft.com/office/drawing/2014/main" id="{C5ABDC44-F4BB-416D-AFDA-B72522D216C4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15 / 24</a:t>
            </a:r>
          </a:p>
        </p:txBody>
      </p:sp>
      <p:sp>
        <p:nvSpPr>
          <p:cNvPr id="15" name="text-381">
            <a:extLst>
              <a:ext uri="{FF2B5EF4-FFF2-40B4-BE49-F238E27FC236}">
                <a16:creationId xmlns:a16="http://schemas.microsoft.com/office/drawing/2014/main" id="{85652000-C634-4B72-BB39-03BA09BEA5EC}"/>
              </a:ext>
            </a:extLst>
          </p:cNvPr>
          <p:cNvSpPr>
            <a:spLocks noGrp="1"/>
          </p:cNvSpPr>
          <p:nvPr/>
        </p:nvSpPr>
        <p:spPr>
          <a:xfrm>
            <a:off x="800100" y="2260600"/>
            <a:ext cx="14541500" cy="1054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We compared an unrestricted tree with shallower trees.</a:t>
            </a:r>
          </a:p>
          <a:p>
            <a: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We chose settings using validation records, keeping test records aside.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0E5F7AA-580B-4AF0-859B-38CB93E01611}"/>
              </a:ext>
            </a:extLst>
          </p:cNvPr>
          <p:cNvGraphicFramePr/>
          <p:nvPr/>
        </p:nvGraphicFramePr>
        <p:xfrm>
          <a:off x="660400" y="3683000"/>
          <a:ext cx="14935200" cy="3124200"/>
        </p:xfrm>
        <a:graphic>
          <a:graphicData uri="http://schemas.openxmlformats.org/drawingml/2006/table">
            <a:tbl>
              <a:tblPr/>
              <a:tblGrid>
                <a:gridCol w="673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Depth setting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Training F1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F1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Unrestricted: reached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0.919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Maximum depth 5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0.945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0.930 ← best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Maximum depth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0.824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0.864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-382">
            <a:extLst>
              <a:ext uri="{FF2B5EF4-FFF2-40B4-BE49-F238E27FC236}">
                <a16:creationId xmlns:a16="http://schemas.microsoft.com/office/drawing/2014/main" id="{6A43408F-6C07-4564-8046-C16B5FC4A4CC}"/>
              </a:ext>
            </a:extLst>
          </p:cNvPr>
          <p:cNvSpPr>
            <a:spLocks noGrp="1"/>
          </p:cNvSpPr>
          <p:nvPr/>
        </p:nvSpPr>
        <p:spPr>
          <a:xfrm>
            <a:off x="812800" y="6972300"/>
            <a:ext cx="14465300" cy="812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F1 combines how many smokers we found and how often our smoker predictions were right.</a:t>
            </a:r>
          </a:p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It runs from 0 to 1; higher is better. It is not the percentage correct.</a:t>
            </a:r>
          </a:p>
        </p:txBody>
      </p:sp>
      <p:sp>
        <p:nvSpPr>
          <p:cNvPr id="18" name="block-383">
            <a:extLst>
              <a:ext uri="{FF2B5EF4-FFF2-40B4-BE49-F238E27FC236}">
                <a16:creationId xmlns:a16="http://schemas.microsoft.com/office/drawing/2014/main" id="{6B623824-A175-402B-AEB4-1FF58F2ED7E4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lock-384">
            <a:extLst>
              <a:ext uri="{FF2B5EF4-FFF2-40B4-BE49-F238E27FC236}">
                <a16:creationId xmlns:a16="http://schemas.microsoft.com/office/drawing/2014/main" id="{FABC35B4-FC55-42CC-B08B-85742D5BE0C6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385">
            <a:extLst>
              <a:ext uri="{FF2B5EF4-FFF2-40B4-BE49-F238E27FC236}">
                <a16:creationId xmlns:a16="http://schemas.microsoft.com/office/drawing/2014/main" id="{1596C8E8-FACC-4B11-92DC-80D38BC5BFF8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WHAT WE FOUND</a:t>
            </a:r>
          </a:p>
        </p:txBody>
      </p:sp>
      <p:sp>
        <p:nvSpPr>
          <p:cNvPr id="21" name="text-386">
            <a:extLst>
              <a:ext uri="{FF2B5EF4-FFF2-40B4-BE49-F238E27FC236}">
                <a16:creationId xmlns:a16="http://schemas.microsoft.com/office/drawing/2014/main" id="{DF979977-F084-41B4-860C-082D0AE949EE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deepest tree fitted training data perfectly, but depth 5 worked better on validation data.</a:t>
            </a:r>
          </a:p>
        </p:txBody>
      </p:sp>
    </p:spTree>
    <p:extLst>
      <p:ext uri="{BB962C8B-B14F-4D97-AF65-F5344CB8AC3E}">
        <p14:creationId xmlns:p14="http://schemas.microsoft.com/office/powerpoint/2010/main" val="212049312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lock-387">
            <a:extLst>
              <a:ext uri="{FF2B5EF4-FFF2-40B4-BE49-F238E27FC236}">
                <a16:creationId xmlns:a16="http://schemas.microsoft.com/office/drawing/2014/main" id="{FDC4D699-810A-4A16-B28C-7F6DFA41A9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388">
            <a:extLst>
              <a:ext uri="{FF2B5EF4-FFF2-40B4-BE49-F238E27FC236}">
                <a16:creationId xmlns:a16="http://schemas.microsoft.com/office/drawing/2014/main" id="{C0FBC922-29E9-42A6-B132-40608426F5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389">
            <a:extLst>
              <a:ext uri="{FF2B5EF4-FFF2-40B4-BE49-F238E27FC236}">
                <a16:creationId xmlns:a16="http://schemas.microsoft.com/office/drawing/2014/main" id="{7664379F-7308-4A91-A05B-6A97DA3664F6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390">
            <a:extLst>
              <a:ext uri="{FF2B5EF4-FFF2-40B4-BE49-F238E27FC236}">
                <a16:creationId xmlns:a16="http://schemas.microsoft.com/office/drawing/2014/main" id="{BAECCE83-5F74-4D14-844E-7B3E77A71770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391">
            <a:extLst>
              <a:ext uri="{FF2B5EF4-FFF2-40B4-BE49-F238E27FC236}">
                <a16:creationId xmlns:a16="http://schemas.microsoft.com/office/drawing/2014/main" id="{9442AC6A-D604-429D-96FE-BFD907CE7D9B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392">
            <a:extLst>
              <a:ext uri="{FF2B5EF4-FFF2-40B4-BE49-F238E27FC236}">
                <a16:creationId xmlns:a16="http://schemas.microsoft.com/office/drawing/2014/main" id="{41EE043A-D926-43AC-8514-F3FA4371A6AC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393">
            <a:extLst>
              <a:ext uri="{FF2B5EF4-FFF2-40B4-BE49-F238E27FC236}">
                <a16:creationId xmlns:a16="http://schemas.microsoft.com/office/drawing/2014/main" id="{FCE78E6F-5CA9-49A6-ADE2-173815FB61EE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394">
            <a:extLst>
              <a:ext uri="{FF2B5EF4-FFF2-40B4-BE49-F238E27FC236}">
                <a16:creationId xmlns:a16="http://schemas.microsoft.com/office/drawing/2014/main" id="{AB7544A0-6D63-4CC4-A11A-E5D854878454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395">
            <a:extLst>
              <a:ext uri="{FF2B5EF4-FFF2-40B4-BE49-F238E27FC236}">
                <a16:creationId xmlns:a16="http://schemas.microsoft.com/office/drawing/2014/main" id="{2D82097D-0F84-4FAE-95D7-DB4FD12F73DC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396">
            <a:extLst>
              <a:ext uri="{FF2B5EF4-FFF2-40B4-BE49-F238E27FC236}">
                <a16:creationId xmlns:a16="http://schemas.microsoft.com/office/drawing/2014/main" id="{C307A4C4-3DFD-4C02-92A1-6E22EB12CB25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397">
            <a:extLst>
              <a:ext uri="{FF2B5EF4-FFF2-40B4-BE49-F238E27FC236}">
                <a16:creationId xmlns:a16="http://schemas.microsoft.com/office/drawing/2014/main" id="{D2C1320C-C791-4F5D-A85A-02AE6A7E71EF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Should a final decision rely on only one training record?</a:t>
            </a:r>
          </a:p>
        </p:txBody>
      </p:sp>
      <p:sp>
        <p:nvSpPr>
          <p:cNvPr id="12" name="text-398">
            <a:extLst>
              <a:ext uri="{FF2B5EF4-FFF2-40B4-BE49-F238E27FC236}">
                <a16:creationId xmlns:a16="http://schemas.microsoft.com/office/drawing/2014/main" id="{50376EF2-4404-4ECC-BC9A-977D1B85EEEC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4 · A leaf is the endpoint that gives the prediction</a:t>
            </a:r>
          </a:p>
        </p:txBody>
      </p:sp>
      <p:sp>
        <p:nvSpPr>
          <p:cNvPr id="13" name="text-399">
            <a:extLst>
              <a:ext uri="{FF2B5EF4-FFF2-40B4-BE49-F238E27FC236}">
                <a16:creationId xmlns:a16="http://schemas.microsoft.com/office/drawing/2014/main" id="{A80C5B37-440E-4AB4-8F4D-CD4B059EA74A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400">
            <a:extLst>
              <a:ext uri="{FF2B5EF4-FFF2-40B4-BE49-F238E27FC236}">
                <a16:creationId xmlns:a16="http://schemas.microsoft.com/office/drawing/2014/main" id="{98364286-AED0-489D-889A-97285D9937F8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16 / 24</a:t>
            </a:r>
          </a:p>
        </p:txBody>
      </p:sp>
      <p:sp>
        <p:nvSpPr>
          <p:cNvPr id="15" name="text-401">
            <a:extLst>
              <a:ext uri="{FF2B5EF4-FFF2-40B4-BE49-F238E27FC236}">
                <a16:creationId xmlns:a16="http://schemas.microsoft.com/office/drawing/2014/main" id="{0BDB1064-7B7B-46CC-9B7A-D1CBB0E12865}"/>
              </a:ext>
            </a:extLst>
          </p:cNvPr>
          <p:cNvSpPr>
            <a:spLocks noGrp="1"/>
          </p:cNvSpPr>
          <p:nvPr/>
        </p:nvSpPr>
        <p:spPr>
          <a:xfrm>
            <a:off x="812800" y="2235200"/>
            <a:ext cx="14605000" cy="109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We also changed the minimum number of training records allowed in a leaf.</a:t>
            </a:r>
          </a:p>
          <a:p>
            <a: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 larger minimum prevents the tree from making very small groups.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A068F78-AF4E-4FB0-A8C1-630F191E1773}"/>
              </a:ext>
            </a:extLst>
          </p:cNvPr>
          <p:cNvGraphicFramePr/>
          <p:nvPr/>
        </p:nvGraphicFramePr>
        <p:xfrm>
          <a:off x="660400" y="3708400"/>
          <a:ext cx="14935200" cy="3187700"/>
        </p:xfrm>
        <a:graphic>
          <a:graphicData uri="http://schemas.openxmlformats.org/drawingml/2006/table">
            <a:tbl>
              <a:tblPr/>
              <a:tblGrid>
                <a:gridCol w="623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Minimum records per leaf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F1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changed?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0.919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Unrestricted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0.911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No improvement on this split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l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0.929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Best leaf-size experiment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-402">
            <a:extLst>
              <a:ext uri="{FF2B5EF4-FFF2-40B4-BE49-F238E27FC236}">
                <a16:creationId xmlns:a16="http://schemas.microsoft.com/office/drawing/2014/main" id="{54618CDB-0E70-491B-949A-E0C58081FFBC}"/>
              </a:ext>
            </a:extLst>
          </p:cNvPr>
          <p:cNvSpPr>
            <a:spLocks noGrp="1"/>
          </p:cNvSpPr>
          <p:nvPr/>
        </p:nvSpPr>
        <p:spPr>
          <a:xfrm>
            <a:off x="812800" y="7023100"/>
            <a:ext cx="14503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For these three experiments, depth was unrestricted.</a:t>
            </a:r>
          </a:p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We did not combine depth 5 and leaf size 10 without testing that combination.</a:t>
            </a:r>
          </a:p>
        </p:txBody>
      </p:sp>
      <p:sp>
        <p:nvSpPr>
          <p:cNvPr id="18" name="block-403">
            <a:extLst>
              <a:ext uri="{FF2B5EF4-FFF2-40B4-BE49-F238E27FC236}">
                <a16:creationId xmlns:a16="http://schemas.microsoft.com/office/drawing/2014/main" id="{A0DC94BF-B381-4AAF-9EA4-E13CA5D90737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lock-404">
            <a:extLst>
              <a:ext uri="{FF2B5EF4-FFF2-40B4-BE49-F238E27FC236}">
                <a16:creationId xmlns:a16="http://schemas.microsoft.com/office/drawing/2014/main" id="{3C26F569-CA88-4FC7-A325-E5A0DE1710E3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405">
            <a:extLst>
              <a:ext uri="{FF2B5EF4-FFF2-40B4-BE49-F238E27FC236}">
                <a16:creationId xmlns:a16="http://schemas.microsoft.com/office/drawing/2014/main" id="{37862C40-633E-435E-88EC-5A5D65812131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FINAL CHOICE</a:t>
            </a:r>
          </a:p>
        </p:txBody>
      </p:sp>
      <p:sp>
        <p:nvSpPr>
          <p:cNvPr id="21" name="text-406">
            <a:extLst>
              <a:ext uri="{FF2B5EF4-FFF2-40B4-BE49-F238E27FC236}">
                <a16:creationId xmlns:a16="http://schemas.microsoft.com/office/drawing/2014/main" id="{A19376CD-1184-4BF3-A5BB-D6CF8570097B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Depth 5 with minimum leaf size 1: F1 = 0.930, only slightly ahead of leaf size 10 at 0.929.</a:t>
            </a:r>
          </a:p>
        </p:txBody>
      </p:sp>
    </p:spTree>
    <p:extLst>
      <p:ext uri="{BB962C8B-B14F-4D97-AF65-F5344CB8AC3E}">
        <p14:creationId xmlns:p14="http://schemas.microsoft.com/office/powerpoint/2010/main" val="33083460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lock-407">
            <a:extLst>
              <a:ext uri="{FF2B5EF4-FFF2-40B4-BE49-F238E27FC236}">
                <a16:creationId xmlns:a16="http://schemas.microsoft.com/office/drawing/2014/main" id="{BED9B617-413C-44BC-B6F3-08614DE638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408">
            <a:extLst>
              <a:ext uri="{FF2B5EF4-FFF2-40B4-BE49-F238E27FC236}">
                <a16:creationId xmlns:a16="http://schemas.microsoft.com/office/drawing/2014/main" id="{DACF7A60-FEAB-43AA-953E-DED244F5ED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409">
            <a:extLst>
              <a:ext uri="{FF2B5EF4-FFF2-40B4-BE49-F238E27FC236}">
                <a16:creationId xmlns:a16="http://schemas.microsoft.com/office/drawing/2014/main" id="{7DE9ECD5-7BEF-41BA-BE2C-51B446CE4E6E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410">
            <a:extLst>
              <a:ext uri="{FF2B5EF4-FFF2-40B4-BE49-F238E27FC236}">
                <a16:creationId xmlns:a16="http://schemas.microsoft.com/office/drawing/2014/main" id="{7C0B04E1-8B3E-4255-9FDB-6208952E44F8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411">
            <a:extLst>
              <a:ext uri="{FF2B5EF4-FFF2-40B4-BE49-F238E27FC236}">
                <a16:creationId xmlns:a16="http://schemas.microsoft.com/office/drawing/2014/main" id="{F33B2390-2332-472A-A7DA-F27772112675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412">
            <a:extLst>
              <a:ext uri="{FF2B5EF4-FFF2-40B4-BE49-F238E27FC236}">
                <a16:creationId xmlns:a16="http://schemas.microsoft.com/office/drawing/2014/main" id="{819ECF3F-5DBF-4F23-9C18-8C365D80F239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413">
            <a:extLst>
              <a:ext uri="{FF2B5EF4-FFF2-40B4-BE49-F238E27FC236}">
                <a16:creationId xmlns:a16="http://schemas.microsoft.com/office/drawing/2014/main" id="{16ED7B5B-DFA3-47E4-9935-9770694DF45C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414">
            <a:extLst>
              <a:ext uri="{FF2B5EF4-FFF2-40B4-BE49-F238E27FC236}">
                <a16:creationId xmlns:a16="http://schemas.microsoft.com/office/drawing/2014/main" id="{116BF917-9222-4325-BD45-F3072CA96E43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415">
            <a:extLst>
              <a:ext uri="{FF2B5EF4-FFF2-40B4-BE49-F238E27FC236}">
                <a16:creationId xmlns:a16="http://schemas.microsoft.com/office/drawing/2014/main" id="{23C4BF19-73F5-43C2-819F-1C774987B543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416">
            <a:extLst>
              <a:ext uri="{FF2B5EF4-FFF2-40B4-BE49-F238E27FC236}">
                <a16:creationId xmlns:a16="http://schemas.microsoft.com/office/drawing/2014/main" id="{BD432996-FF86-4AE6-BBF0-2CA481E35454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417">
            <a:extLst>
              <a:ext uri="{FF2B5EF4-FFF2-40B4-BE49-F238E27FC236}">
                <a16:creationId xmlns:a16="http://schemas.microsoft.com/office/drawing/2014/main" id="{4A8B88D4-C754-49EA-A8BB-2299CFDD7974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The final tree also got 261 of 268 test records right</a:t>
            </a:r>
          </a:p>
        </p:txBody>
      </p:sp>
      <p:sp>
        <p:nvSpPr>
          <p:cNvPr id="12" name="text-418">
            <a:extLst>
              <a:ext uri="{FF2B5EF4-FFF2-40B4-BE49-F238E27FC236}">
                <a16:creationId xmlns:a16="http://schemas.microsoft.com/office/drawing/2014/main" id="{5637E355-52E8-43AF-8CFB-52B21E8D2CEE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4 · After choosing settings, we refitted using training + validation data</a:t>
            </a:r>
          </a:p>
        </p:txBody>
      </p:sp>
      <p:sp>
        <p:nvSpPr>
          <p:cNvPr id="13" name="text-419">
            <a:extLst>
              <a:ext uri="{FF2B5EF4-FFF2-40B4-BE49-F238E27FC236}">
                <a16:creationId xmlns:a16="http://schemas.microsoft.com/office/drawing/2014/main" id="{B8462E07-C289-459C-B8C9-D4CBAA3E89F1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420">
            <a:extLst>
              <a:ext uri="{FF2B5EF4-FFF2-40B4-BE49-F238E27FC236}">
                <a16:creationId xmlns:a16="http://schemas.microsoft.com/office/drawing/2014/main" id="{55EBD0EF-8776-4B92-816B-D3377D2DB4CF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17 / 24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54B86BF-3813-40FD-940F-91C6C4C8123A}"/>
              </a:ext>
            </a:extLst>
          </p:cNvPr>
          <p:cNvGraphicFramePr/>
          <p:nvPr/>
        </p:nvGraphicFramePr>
        <p:xfrm>
          <a:off x="660400" y="2578100"/>
          <a:ext cx="14935200" cy="2857500"/>
        </p:xfrm>
        <a:graphic>
          <a:graphicData uri="http://schemas.openxmlformats.org/drawingml/2006/table">
            <a:tbl>
              <a:tblPr/>
              <a:tblGrid>
                <a:gridCol w="48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status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non-smoker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smoker</a:t>
                      </a:r>
                    </a:p>
                  </a:txBody>
                  <a:tcPr anchor="ctr">
                    <a:solidFill>
                      <a:srgbClr val="156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Non-smoker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210 correct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3 incorrect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Smoker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4 incorrect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500" b="0">
                          <a:solidFill>
                            <a:srgbClr val="1C2833"/>
                          </a:solidFill>
                          <a:latin typeface="Arial"/>
                          <a:ea typeface="Arial"/>
                          <a:cs typeface="Arial"/>
                        </a:rPr>
                        <a:t>51 correct</a:t>
                      </a:r>
                    </a:p>
                  </a:txBody>
                  <a:tcPr anchor="ctr">
                    <a:solidFill>
                      <a:srgbClr val="E8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-421">
            <a:extLst>
              <a:ext uri="{FF2B5EF4-FFF2-40B4-BE49-F238E27FC236}">
                <a16:creationId xmlns:a16="http://schemas.microsoft.com/office/drawing/2014/main" id="{B136C541-58B6-410F-9F52-6C3CA6117536}"/>
              </a:ext>
            </a:extLst>
          </p:cNvPr>
          <p:cNvSpPr>
            <a:spLocks noGrp="1"/>
          </p:cNvSpPr>
          <p:nvPr/>
        </p:nvSpPr>
        <p:spPr>
          <a:xfrm>
            <a:off x="812800" y="5994400"/>
            <a:ext cx="355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text-422">
            <a:extLst>
              <a:ext uri="{FF2B5EF4-FFF2-40B4-BE49-F238E27FC236}">
                <a16:creationId xmlns:a16="http://schemas.microsoft.com/office/drawing/2014/main" id="{3D8FFF2B-35CA-4363-A463-E0BF18847A64}"/>
              </a:ext>
            </a:extLst>
          </p:cNvPr>
          <p:cNvSpPr>
            <a:spLocks noGrp="1"/>
          </p:cNvSpPr>
          <p:nvPr/>
        </p:nvSpPr>
        <p:spPr>
          <a:xfrm>
            <a:off x="812800" y="6832600"/>
            <a:ext cx="35560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maximum depth</a:t>
            </a:r>
          </a:p>
        </p:txBody>
      </p:sp>
      <p:sp>
        <p:nvSpPr>
          <p:cNvPr id="18" name="text-423">
            <a:extLst>
              <a:ext uri="{FF2B5EF4-FFF2-40B4-BE49-F238E27FC236}">
                <a16:creationId xmlns:a16="http://schemas.microsoft.com/office/drawing/2014/main" id="{51BF0FEC-FFA9-4C67-9499-A4352EA67427}"/>
              </a:ext>
            </a:extLst>
          </p:cNvPr>
          <p:cNvSpPr>
            <a:spLocks noGrp="1"/>
          </p:cNvSpPr>
          <p:nvPr/>
        </p:nvSpPr>
        <p:spPr>
          <a:xfrm>
            <a:off x="5816600" y="5994400"/>
            <a:ext cx="41656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9" name="text-424">
            <a:extLst>
              <a:ext uri="{FF2B5EF4-FFF2-40B4-BE49-F238E27FC236}">
                <a16:creationId xmlns:a16="http://schemas.microsoft.com/office/drawing/2014/main" id="{26178D1F-AFFB-4EAC-8113-C716C4716111}"/>
              </a:ext>
            </a:extLst>
          </p:cNvPr>
          <p:cNvSpPr>
            <a:spLocks noGrp="1"/>
          </p:cNvSpPr>
          <p:nvPr/>
        </p:nvSpPr>
        <p:spPr>
          <a:xfrm>
            <a:off x="5816600" y="6832600"/>
            <a:ext cx="41656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final leaves / rules</a:t>
            </a:r>
          </a:p>
        </p:txBody>
      </p:sp>
      <p:sp>
        <p:nvSpPr>
          <p:cNvPr id="20" name="text-425">
            <a:extLst>
              <a:ext uri="{FF2B5EF4-FFF2-40B4-BE49-F238E27FC236}">
                <a16:creationId xmlns:a16="http://schemas.microsoft.com/office/drawing/2014/main" id="{516CB430-2CBE-4D30-BFBA-422CDB29A74C}"/>
              </a:ext>
            </a:extLst>
          </p:cNvPr>
          <p:cNvSpPr>
            <a:spLocks noGrp="1"/>
          </p:cNvSpPr>
          <p:nvPr/>
        </p:nvSpPr>
        <p:spPr>
          <a:xfrm>
            <a:off x="11404600" y="5994400"/>
            <a:ext cx="38862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45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97.4%</a:t>
            </a:r>
          </a:p>
        </p:txBody>
      </p:sp>
      <p:sp>
        <p:nvSpPr>
          <p:cNvPr id="21" name="text-426">
            <a:extLst>
              <a:ext uri="{FF2B5EF4-FFF2-40B4-BE49-F238E27FC236}">
                <a16:creationId xmlns:a16="http://schemas.microsoft.com/office/drawing/2014/main" id="{4F20822C-645C-4F8E-8EC6-636BDE643C39}"/>
              </a:ext>
            </a:extLst>
          </p:cNvPr>
          <p:cNvSpPr>
            <a:spLocks noGrp="1"/>
          </p:cNvSpPr>
          <p:nvPr/>
        </p:nvSpPr>
        <p:spPr>
          <a:xfrm>
            <a:off x="11404600" y="6832600"/>
            <a:ext cx="38862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test accuracy</a:t>
            </a:r>
          </a:p>
        </p:txBody>
      </p:sp>
      <p:sp>
        <p:nvSpPr>
          <p:cNvPr id="22" name="block-427">
            <a:extLst>
              <a:ext uri="{FF2B5EF4-FFF2-40B4-BE49-F238E27FC236}">
                <a16:creationId xmlns:a16="http://schemas.microsoft.com/office/drawing/2014/main" id="{94760500-3898-45BC-B99D-EFCBDDFC524B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block-428">
            <a:extLst>
              <a:ext uri="{FF2B5EF4-FFF2-40B4-BE49-F238E27FC236}">
                <a16:creationId xmlns:a16="http://schemas.microsoft.com/office/drawing/2014/main" id="{FEFEE09F-1F74-4BA4-B77D-B0D74B14F00B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429">
            <a:extLst>
              <a:ext uri="{FF2B5EF4-FFF2-40B4-BE49-F238E27FC236}">
                <a16:creationId xmlns:a16="http://schemas.microsoft.com/office/drawing/2014/main" id="{A218849B-7351-469A-B0E9-77DC6C76541E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COMPARED WITH LOGISTIC</a:t>
            </a:r>
          </a:p>
        </p:txBody>
      </p:sp>
      <p:sp>
        <p:nvSpPr>
          <p:cNvPr id="25" name="text-430">
            <a:extLst>
              <a:ext uri="{FF2B5EF4-FFF2-40B4-BE49-F238E27FC236}">
                <a16:creationId xmlns:a16="http://schemas.microsoft.com/office/drawing/2014/main" id="{52FB397C-454C-4BF4-9D48-7BEE8DFB0102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Same number correct, different mistakes. Neither model is guaranteed to perform this well elsewhere.</a:t>
            </a:r>
          </a:p>
        </p:txBody>
      </p:sp>
    </p:spTree>
    <p:extLst>
      <p:ext uri="{BB962C8B-B14F-4D97-AF65-F5344CB8AC3E}">
        <p14:creationId xmlns:p14="http://schemas.microsoft.com/office/powerpoint/2010/main" val="1028426393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lock-431">
            <a:extLst>
              <a:ext uri="{FF2B5EF4-FFF2-40B4-BE49-F238E27FC236}">
                <a16:creationId xmlns:a16="http://schemas.microsoft.com/office/drawing/2014/main" id="{1323DED8-0591-4D32-B7EA-3C599BB541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432">
            <a:extLst>
              <a:ext uri="{FF2B5EF4-FFF2-40B4-BE49-F238E27FC236}">
                <a16:creationId xmlns:a16="http://schemas.microsoft.com/office/drawing/2014/main" id="{BB7E5E5A-ADE7-4EC0-BBD1-291AAB608E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433">
            <a:extLst>
              <a:ext uri="{FF2B5EF4-FFF2-40B4-BE49-F238E27FC236}">
                <a16:creationId xmlns:a16="http://schemas.microsoft.com/office/drawing/2014/main" id="{47B62266-641A-4BB1-86AD-181AE8EE4801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434">
            <a:extLst>
              <a:ext uri="{FF2B5EF4-FFF2-40B4-BE49-F238E27FC236}">
                <a16:creationId xmlns:a16="http://schemas.microsoft.com/office/drawing/2014/main" id="{1157C432-8A03-479C-9EF5-97761EB6017B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435">
            <a:extLst>
              <a:ext uri="{FF2B5EF4-FFF2-40B4-BE49-F238E27FC236}">
                <a16:creationId xmlns:a16="http://schemas.microsoft.com/office/drawing/2014/main" id="{85B2B7D1-05E2-4718-82C0-FEB588F223AE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436">
            <a:extLst>
              <a:ext uri="{FF2B5EF4-FFF2-40B4-BE49-F238E27FC236}">
                <a16:creationId xmlns:a16="http://schemas.microsoft.com/office/drawing/2014/main" id="{B788DC29-D029-491A-9F6F-C9BFDB167128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437">
            <a:extLst>
              <a:ext uri="{FF2B5EF4-FFF2-40B4-BE49-F238E27FC236}">
                <a16:creationId xmlns:a16="http://schemas.microsoft.com/office/drawing/2014/main" id="{8168EE2A-CB1B-4C76-8C78-393AF657596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438">
            <a:extLst>
              <a:ext uri="{FF2B5EF4-FFF2-40B4-BE49-F238E27FC236}">
                <a16:creationId xmlns:a16="http://schemas.microsoft.com/office/drawing/2014/main" id="{91465F9E-B7D0-4A74-9C71-6BAB8435D33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439">
            <a:extLst>
              <a:ext uri="{FF2B5EF4-FFF2-40B4-BE49-F238E27FC236}">
                <a16:creationId xmlns:a16="http://schemas.microsoft.com/office/drawing/2014/main" id="{2F11952D-B445-4CD7-BFC5-0E04F9E833CA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440">
            <a:extLst>
              <a:ext uri="{FF2B5EF4-FFF2-40B4-BE49-F238E27FC236}">
                <a16:creationId xmlns:a16="http://schemas.microsoft.com/office/drawing/2014/main" id="{5CF4B303-D238-4891-B849-AFD075EEEA80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441">
            <a:extLst>
              <a:ext uri="{FF2B5EF4-FFF2-40B4-BE49-F238E27FC236}">
                <a16:creationId xmlns:a16="http://schemas.microsoft.com/office/drawing/2014/main" id="{F6BC840A-C7AC-4622-B3B5-AE744FD3D919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Clustering asks a different question</a:t>
            </a:r>
          </a:p>
        </p:txBody>
      </p:sp>
      <p:sp>
        <p:nvSpPr>
          <p:cNvPr id="12" name="text-442">
            <a:extLst>
              <a:ext uri="{FF2B5EF4-FFF2-40B4-BE49-F238E27FC236}">
                <a16:creationId xmlns:a16="http://schemas.microsoft.com/office/drawing/2014/main" id="{99E1C537-3C11-4490-9A82-26DE1EF4A16C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5 · Can we find groups of similar insurance records?</a:t>
            </a:r>
          </a:p>
        </p:txBody>
      </p:sp>
      <p:sp>
        <p:nvSpPr>
          <p:cNvPr id="13" name="text-443">
            <a:extLst>
              <a:ext uri="{FF2B5EF4-FFF2-40B4-BE49-F238E27FC236}">
                <a16:creationId xmlns:a16="http://schemas.microsoft.com/office/drawing/2014/main" id="{6C8F099B-7BB0-4D9C-A357-BF438513B587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444">
            <a:extLst>
              <a:ext uri="{FF2B5EF4-FFF2-40B4-BE49-F238E27FC236}">
                <a16:creationId xmlns:a16="http://schemas.microsoft.com/office/drawing/2014/main" id="{E9343AEC-EB74-46D3-A409-6CC720312148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18 / 24</a:t>
            </a:r>
          </a:p>
        </p:txBody>
      </p:sp>
      <p:sp>
        <p:nvSpPr>
          <p:cNvPr id="15" name="text-445">
            <a:extLst>
              <a:ext uri="{FF2B5EF4-FFF2-40B4-BE49-F238E27FC236}">
                <a16:creationId xmlns:a16="http://schemas.microsoft.com/office/drawing/2014/main" id="{BC930051-B724-43BD-AF5B-648C810AB355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4859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OUR QUESTION</a:t>
            </a:r>
          </a:p>
        </p:txBody>
      </p:sp>
      <p:sp>
        <p:nvSpPr>
          <p:cNvPr id="16" name="text-446">
            <a:extLst>
              <a:ext uri="{FF2B5EF4-FFF2-40B4-BE49-F238E27FC236}">
                <a16:creationId xmlns:a16="http://schemas.microsoft.com/office/drawing/2014/main" id="{97D0C69E-4021-4CCF-A22B-866B2C9377DE}"/>
              </a:ext>
            </a:extLst>
          </p:cNvPr>
          <p:cNvSpPr>
            <a:spLocks noGrp="1"/>
          </p:cNvSpPr>
          <p:nvPr/>
        </p:nvSpPr>
        <p:spPr>
          <a:xfrm>
            <a:off x="685800" y="2755900"/>
            <a:ext cx="14859000" cy="965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Which records are similar in age, BMI and medical charges?</a:t>
            </a:r>
          </a:p>
        </p:txBody>
      </p:sp>
      <p:sp>
        <p:nvSpPr>
          <p:cNvPr id="17" name="text-447">
            <a:extLst>
              <a:ext uri="{FF2B5EF4-FFF2-40B4-BE49-F238E27FC236}">
                <a16:creationId xmlns:a16="http://schemas.microsoft.com/office/drawing/2014/main" id="{B545A089-6604-4456-B100-1A9E58C94762}"/>
              </a:ext>
            </a:extLst>
          </p:cNvPr>
          <p:cNvSpPr>
            <a:spLocks noGrp="1"/>
          </p:cNvSpPr>
          <p:nvPr/>
        </p:nvSpPr>
        <p:spPr>
          <a:xfrm>
            <a:off x="850900" y="4343400"/>
            <a:ext cx="7023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WHAT WE GIVE K-MEANS</a:t>
            </a:r>
          </a:p>
        </p:txBody>
      </p:sp>
      <p:sp>
        <p:nvSpPr>
          <p:cNvPr id="18" name="text-448">
            <a:extLst>
              <a:ext uri="{FF2B5EF4-FFF2-40B4-BE49-F238E27FC236}">
                <a16:creationId xmlns:a16="http://schemas.microsoft.com/office/drawing/2014/main" id="{0593C186-A0D2-484B-AED1-1F4FA1B29ADF}"/>
              </a:ext>
            </a:extLst>
          </p:cNvPr>
          <p:cNvSpPr>
            <a:spLocks noGrp="1"/>
          </p:cNvSpPr>
          <p:nvPr/>
        </p:nvSpPr>
        <p:spPr>
          <a:xfrm>
            <a:off x="850900" y="4838700"/>
            <a:ext cx="70231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Age, BMI and charges—scaled so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large dollar values do not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dominate the comparison.</a:t>
            </a:r>
          </a:p>
        </p:txBody>
      </p:sp>
      <p:sp>
        <p:nvSpPr>
          <p:cNvPr id="19" name="text-449">
            <a:extLst>
              <a:ext uri="{FF2B5EF4-FFF2-40B4-BE49-F238E27FC236}">
                <a16:creationId xmlns:a16="http://schemas.microsoft.com/office/drawing/2014/main" id="{AC458AF0-CD7A-4F4B-8171-A994D4384DCF}"/>
              </a:ext>
            </a:extLst>
          </p:cNvPr>
          <p:cNvSpPr>
            <a:spLocks noGrp="1"/>
          </p:cNvSpPr>
          <p:nvPr/>
        </p:nvSpPr>
        <p:spPr>
          <a:xfrm>
            <a:off x="8699500" y="4343400"/>
            <a:ext cx="6616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WHAT IT GIVES BACK</a:t>
            </a:r>
          </a:p>
        </p:txBody>
      </p:sp>
      <p:sp>
        <p:nvSpPr>
          <p:cNvPr id="20" name="text-450">
            <a:extLst>
              <a:ext uri="{FF2B5EF4-FFF2-40B4-BE49-F238E27FC236}">
                <a16:creationId xmlns:a16="http://schemas.microsoft.com/office/drawing/2014/main" id="{85EAC487-34E3-4EFB-BDA9-38C2C0ECB331}"/>
              </a:ext>
            </a:extLst>
          </p:cNvPr>
          <p:cNvSpPr>
            <a:spLocks noGrp="1"/>
          </p:cNvSpPr>
          <p:nvPr/>
        </p:nvSpPr>
        <p:spPr>
          <a:xfrm>
            <a:off x="8699500" y="4838700"/>
            <a:ext cx="66167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 group number for every record.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There is no “correct” group label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and no smoking target to predict.</a:t>
            </a:r>
          </a:p>
        </p:txBody>
      </p:sp>
      <p:sp>
        <p:nvSpPr>
          <p:cNvPr id="21" name="text-451">
            <a:extLst>
              <a:ext uri="{FF2B5EF4-FFF2-40B4-BE49-F238E27FC236}">
                <a16:creationId xmlns:a16="http://schemas.microsoft.com/office/drawing/2014/main" id="{2F4B3FC7-2026-46CF-B6BB-89B1791E762B}"/>
              </a:ext>
            </a:extLst>
          </p:cNvPr>
          <p:cNvSpPr>
            <a:spLocks noGrp="1"/>
          </p:cNvSpPr>
          <p:nvPr/>
        </p:nvSpPr>
        <p:spPr>
          <a:xfrm>
            <a:off x="850900" y="6832600"/>
            <a:ext cx="14414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6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K-means places group centres, then assigns records to the nearest centre.</a:t>
            </a:r>
          </a:p>
        </p:txBody>
      </p:sp>
      <p:sp>
        <p:nvSpPr>
          <p:cNvPr id="22" name="block-452">
            <a:extLst>
              <a:ext uri="{FF2B5EF4-FFF2-40B4-BE49-F238E27FC236}">
                <a16:creationId xmlns:a16="http://schemas.microsoft.com/office/drawing/2014/main" id="{6CE72BD9-DBED-45E2-8BDF-CB163BE20DB7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block-453">
            <a:extLst>
              <a:ext uri="{FF2B5EF4-FFF2-40B4-BE49-F238E27FC236}">
                <a16:creationId xmlns:a16="http://schemas.microsoft.com/office/drawing/2014/main" id="{AE0F8B44-C7CB-4AB2-BFAC-F0F20CE4B3A3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454">
            <a:extLst>
              <a:ext uri="{FF2B5EF4-FFF2-40B4-BE49-F238E27FC236}">
                <a16:creationId xmlns:a16="http://schemas.microsoft.com/office/drawing/2014/main" id="{D689D56F-7B2F-424B-9FCE-8CD5958A7E75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OUR AIM</a:t>
            </a:r>
          </a:p>
        </p:txBody>
      </p:sp>
      <p:sp>
        <p:nvSpPr>
          <p:cNvPr id="25" name="text-455">
            <a:extLst>
              <a:ext uri="{FF2B5EF4-FFF2-40B4-BE49-F238E27FC236}">
                <a16:creationId xmlns:a16="http://schemas.microsoft.com/office/drawing/2014/main" id="{2E05A23C-5612-4F27-B5D4-0F05B9505080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Describe the people in each group, then see whether those groups are useful and clearly separated.</a:t>
            </a:r>
          </a:p>
        </p:txBody>
      </p:sp>
    </p:spTree>
    <p:extLst>
      <p:ext uri="{BB962C8B-B14F-4D97-AF65-F5344CB8AC3E}">
        <p14:creationId xmlns:p14="http://schemas.microsoft.com/office/powerpoint/2010/main" val="618195760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lock-456">
            <a:extLst>
              <a:ext uri="{FF2B5EF4-FFF2-40B4-BE49-F238E27FC236}">
                <a16:creationId xmlns:a16="http://schemas.microsoft.com/office/drawing/2014/main" id="{A47B14A5-3E2F-4D51-9B76-69608DDB8A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457">
            <a:extLst>
              <a:ext uri="{FF2B5EF4-FFF2-40B4-BE49-F238E27FC236}">
                <a16:creationId xmlns:a16="http://schemas.microsoft.com/office/drawing/2014/main" id="{6CAE0154-D3B0-4BC5-8E45-3CE9ED9750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458">
            <a:extLst>
              <a:ext uri="{FF2B5EF4-FFF2-40B4-BE49-F238E27FC236}">
                <a16:creationId xmlns:a16="http://schemas.microsoft.com/office/drawing/2014/main" id="{6FB46816-65D4-4C4F-9186-DAFB13364C6C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459">
            <a:extLst>
              <a:ext uri="{FF2B5EF4-FFF2-40B4-BE49-F238E27FC236}">
                <a16:creationId xmlns:a16="http://schemas.microsoft.com/office/drawing/2014/main" id="{AE4E1FCB-7B62-4187-A6ED-BC6625F6FF68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460">
            <a:extLst>
              <a:ext uri="{FF2B5EF4-FFF2-40B4-BE49-F238E27FC236}">
                <a16:creationId xmlns:a16="http://schemas.microsoft.com/office/drawing/2014/main" id="{B76A35DD-FE56-4A86-B548-9A2DF1EB9B9C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461">
            <a:extLst>
              <a:ext uri="{FF2B5EF4-FFF2-40B4-BE49-F238E27FC236}">
                <a16:creationId xmlns:a16="http://schemas.microsoft.com/office/drawing/2014/main" id="{A49B5E8B-0470-43F1-B1D5-606088F5A53C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462">
            <a:extLst>
              <a:ext uri="{FF2B5EF4-FFF2-40B4-BE49-F238E27FC236}">
                <a16:creationId xmlns:a16="http://schemas.microsoft.com/office/drawing/2014/main" id="{607BB2FE-477E-4E2A-8989-E792C885E2B2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463">
            <a:extLst>
              <a:ext uri="{FF2B5EF4-FFF2-40B4-BE49-F238E27FC236}">
                <a16:creationId xmlns:a16="http://schemas.microsoft.com/office/drawing/2014/main" id="{A7DAFFC7-505A-46E5-B389-65FE6B1AEED8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464">
            <a:extLst>
              <a:ext uri="{FF2B5EF4-FFF2-40B4-BE49-F238E27FC236}">
                <a16:creationId xmlns:a16="http://schemas.microsoft.com/office/drawing/2014/main" id="{D8203C50-95F6-47B9-9D8D-2814359CAC12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465">
            <a:extLst>
              <a:ext uri="{FF2B5EF4-FFF2-40B4-BE49-F238E27FC236}">
                <a16:creationId xmlns:a16="http://schemas.microsoft.com/office/drawing/2014/main" id="{155ACC78-3E64-44A3-BD6D-E93B8F220C27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466">
            <a:extLst>
              <a:ext uri="{FF2B5EF4-FFF2-40B4-BE49-F238E27FC236}">
                <a16:creationId xmlns:a16="http://schemas.microsoft.com/office/drawing/2014/main" id="{80315F77-2516-4EF3-A55E-E232200DC0FD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We tried 2, 3, 4, 5 and 6 groups</a:t>
            </a:r>
          </a:p>
        </p:txBody>
      </p:sp>
      <p:sp>
        <p:nvSpPr>
          <p:cNvPr id="12" name="text-467">
            <a:extLst>
              <a:ext uri="{FF2B5EF4-FFF2-40B4-BE49-F238E27FC236}">
                <a16:creationId xmlns:a16="http://schemas.microsoft.com/office/drawing/2014/main" id="{00D35CB5-3039-48AE-ADCD-F3FEA666B6C6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5 · Silhouette checks whether records fit their own group better than other groups</a:t>
            </a:r>
          </a:p>
        </p:txBody>
      </p:sp>
      <p:sp>
        <p:nvSpPr>
          <p:cNvPr id="13" name="text-468">
            <a:extLst>
              <a:ext uri="{FF2B5EF4-FFF2-40B4-BE49-F238E27FC236}">
                <a16:creationId xmlns:a16="http://schemas.microsoft.com/office/drawing/2014/main" id="{1B584FB5-2CD0-45E5-95AD-156A02A9E08E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469">
            <a:extLst>
              <a:ext uri="{FF2B5EF4-FFF2-40B4-BE49-F238E27FC236}">
                <a16:creationId xmlns:a16="http://schemas.microsoft.com/office/drawing/2014/main" id="{D4006D3E-6D46-4523-AB03-4F0FA7835F15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19 / 24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F19CC293-7C7A-4CF4-AF53-2DCED3EAD9D1}"/>
              </a:ext>
            </a:extLst>
          </p:cNvPr>
          <p:cNvGraphicFramePr/>
          <p:nvPr/>
        </p:nvGraphicFramePr>
        <p:xfrm>
          <a:off x="698500" y="2730500"/>
          <a:ext cx="93345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-470">
            <a:extLst>
              <a:ext uri="{FF2B5EF4-FFF2-40B4-BE49-F238E27FC236}">
                <a16:creationId xmlns:a16="http://schemas.microsoft.com/office/drawing/2014/main" id="{32EE3C1C-4C9E-4FCC-A77B-56A8B6F1DC52}"/>
              </a:ext>
            </a:extLst>
          </p:cNvPr>
          <p:cNvSpPr>
            <a:spLocks noGrp="1"/>
          </p:cNvSpPr>
          <p:nvPr/>
        </p:nvSpPr>
        <p:spPr>
          <a:xfrm>
            <a:off x="10731500" y="2374900"/>
            <a:ext cx="4572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HOW TO READ THE SCORE</a:t>
            </a:r>
          </a:p>
        </p:txBody>
      </p:sp>
      <p:sp>
        <p:nvSpPr>
          <p:cNvPr id="17" name="text-471">
            <a:extLst>
              <a:ext uri="{FF2B5EF4-FFF2-40B4-BE49-F238E27FC236}">
                <a16:creationId xmlns:a16="http://schemas.microsoft.com/office/drawing/2014/main" id="{E2C4E00C-C52B-4470-A694-AE1E67F2067E}"/>
              </a:ext>
            </a:extLst>
          </p:cNvPr>
          <p:cNvSpPr>
            <a:spLocks noGrp="1"/>
          </p:cNvSpPr>
          <p:nvPr/>
        </p:nvSpPr>
        <p:spPr>
          <a:xfrm>
            <a:off x="10731500" y="2870200"/>
            <a:ext cx="45720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Closer to 1: clearer separation.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Near 0: groups overlap.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Negative: some assignments fit poorly.</a:t>
            </a:r>
          </a:p>
        </p:txBody>
      </p:sp>
      <p:sp>
        <p:nvSpPr>
          <p:cNvPr id="18" name="text-472">
            <a:extLst>
              <a:ext uri="{FF2B5EF4-FFF2-40B4-BE49-F238E27FC236}">
                <a16:creationId xmlns:a16="http://schemas.microsoft.com/office/drawing/2014/main" id="{55BA05CB-BC93-4CB5-907E-A83DCAAE9309}"/>
              </a:ext>
            </a:extLst>
          </p:cNvPr>
          <p:cNvSpPr>
            <a:spLocks noGrp="1"/>
          </p:cNvSpPr>
          <p:nvPr/>
        </p:nvSpPr>
        <p:spPr>
          <a:xfrm>
            <a:off x="10731500" y="5118100"/>
            <a:ext cx="4572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OUR RESULT</a:t>
            </a:r>
          </a:p>
        </p:txBody>
      </p:sp>
      <p:sp>
        <p:nvSpPr>
          <p:cNvPr id="19" name="text-473">
            <a:extLst>
              <a:ext uri="{FF2B5EF4-FFF2-40B4-BE49-F238E27FC236}">
                <a16:creationId xmlns:a16="http://schemas.microsoft.com/office/drawing/2014/main" id="{BA4D968F-5BAF-4366-9A97-0563E05DB921}"/>
              </a:ext>
            </a:extLst>
          </p:cNvPr>
          <p:cNvSpPr>
            <a:spLocks noGrp="1"/>
          </p:cNvSpPr>
          <p:nvPr/>
        </p:nvSpPr>
        <p:spPr>
          <a:xfrm>
            <a:off x="10731500" y="5613400"/>
            <a:ext cx="45720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3 groups scored highest: 0.347.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It was the best tested choice,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but the separation is not strong.</a:t>
            </a:r>
          </a:p>
        </p:txBody>
      </p:sp>
      <p:sp>
        <p:nvSpPr>
          <p:cNvPr id="20" name="block-474">
            <a:extLst>
              <a:ext uri="{FF2B5EF4-FFF2-40B4-BE49-F238E27FC236}">
                <a16:creationId xmlns:a16="http://schemas.microsoft.com/office/drawing/2014/main" id="{7909CDC3-15DD-4ECB-AAA5-0D8CB46ACAD4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block-475">
            <a:extLst>
              <a:ext uri="{FF2B5EF4-FFF2-40B4-BE49-F238E27FC236}">
                <a16:creationId xmlns:a16="http://schemas.microsoft.com/office/drawing/2014/main" id="{902222F6-6649-42A4-8020-A47A17A01CD9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476">
            <a:extLst>
              <a:ext uri="{FF2B5EF4-FFF2-40B4-BE49-F238E27FC236}">
                <a16:creationId xmlns:a16="http://schemas.microsoft.com/office/drawing/2014/main" id="{6E8F1672-C37A-43C0-8FC7-2EE0D1F39C0D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3" name="text-477">
            <a:extLst>
              <a:ext uri="{FF2B5EF4-FFF2-40B4-BE49-F238E27FC236}">
                <a16:creationId xmlns:a16="http://schemas.microsoft.com/office/drawing/2014/main" id="{927FEDE1-953B-4A05-BBAF-613A660A6CFA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Choose 3 groups for interpretation. A silhouette of 0.347 is not “34.7% accuracy”.</a:t>
            </a:r>
          </a:p>
        </p:txBody>
      </p:sp>
    </p:spTree>
    <p:extLst>
      <p:ext uri="{BB962C8B-B14F-4D97-AF65-F5344CB8AC3E}">
        <p14:creationId xmlns:p14="http://schemas.microsoft.com/office/powerpoint/2010/main" val="1127959988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lock-478">
            <a:extLst>
              <a:ext uri="{FF2B5EF4-FFF2-40B4-BE49-F238E27FC236}">
                <a16:creationId xmlns:a16="http://schemas.microsoft.com/office/drawing/2014/main" id="{0800BE4A-B074-44D9-8B83-EDC2824C2D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479">
            <a:extLst>
              <a:ext uri="{FF2B5EF4-FFF2-40B4-BE49-F238E27FC236}">
                <a16:creationId xmlns:a16="http://schemas.microsoft.com/office/drawing/2014/main" id="{F16993B3-0AD2-4B15-9BCE-5AB2CA6DFC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480">
            <a:extLst>
              <a:ext uri="{FF2B5EF4-FFF2-40B4-BE49-F238E27FC236}">
                <a16:creationId xmlns:a16="http://schemas.microsoft.com/office/drawing/2014/main" id="{4EC2B1EB-23EC-4810-8C63-9A87AC74074C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481">
            <a:extLst>
              <a:ext uri="{FF2B5EF4-FFF2-40B4-BE49-F238E27FC236}">
                <a16:creationId xmlns:a16="http://schemas.microsoft.com/office/drawing/2014/main" id="{ECCA0AC0-7010-45A6-B8B8-4E2EE1014722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482">
            <a:extLst>
              <a:ext uri="{FF2B5EF4-FFF2-40B4-BE49-F238E27FC236}">
                <a16:creationId xmlns:a16="http://schemas.microsoft.com/office/drawing/2014/main" id="{CD26F057-EAD3-4AE5-9F3C-663BC297B27C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483">
            <a:extLst>
              <a:ext uri="{FF2B5EF4-FFF2-40B4-BE49-F238E27FC236}">
                <a16:creationId xmlns:a16="http://schemas.microsoft.com/office/drawing/2014/main" id="{46C8D919-196E-41AB-98DD-853D029DCC58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484">
            <a:extLst>
              <a:ext uri="{FF2B5EF4-FFF2-40B4-BE49-F238E27FC236}">
                <a16:creationId xmlns:a16="http://schemas.microsoft.com/office/drawing/2014/main" id="{19D7E6AB-469B-4A2F-A40D-F71A5DB359D6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485">
            <a:extLst>
              <a:ext uri="{FF2B5EF4-FFF2-40B4-BE49-F238E27FC236}">
                <a16:creationId xmlns:a16="http://schemas.microsoft.com/office/drawing/2014/main" id="{F3E7242D-2080-40B2-B114-5874F2386D22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486">
            <a:extLst>
              <a:ext uri="{FF2B5EF4-FFF2-40B4-BE49-F238E27FC236}">
                <a16:creationId xmlns:a16="http://schemas.microsoft.com/office/drawing/2014/main" id="{C439FF9F-7F42-4EE1-8C1F-B09FD9CC7134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487">
            <a:extLst>
              <a:ext uri="{FF2B5EF4-FFF2-40B4-BE49-F238E27FC236}">
                <a16:creationId xmlns:a16="http://schemas.microsoft.com/office/drawing/2014/main" id="{CCDF9396-A05E-4365-BA58-BCB970A69285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488">
            <a:extLst>
              <a:ext uri="{FF2B5EF4-FFF2-40B4-BE49-F238E27FC236}">
                <a16:creationId xmlns:a16="http://schemas.microsoft.com/office/drawing/2014/main" id="{71628757-A1D4-48DB-884C-ECF3B5E3696D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The elbow plot provides a second check</a:t>
            </a:r>
          </a:p>
        </p:txBody>
      </p:sp>
      <p:sp>
        <p:nvSpPr>
          <p:cNvPr id="12" name="text-489">
            <a:extLst>
              <a:ext uri="{FF2B5EF4-FFF2-40B4-BE49-F238E27FC236}">
                <a16:creationId xmlns:a16="http://schemas.microsoft.com/office/drawing/2014/main" id="{E089F301-AFAE-4078-8C74-35A7B9A0AA31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5 · Adding more groups reduces distances; the improvement gradually slows</a:t>
            </a:r>
          </a:p>
        </p:txBody>
      </p:sp>
      <p:sp>
        <p:nvSpPr>
          <p:cNvPr id="13" name="text-490">
            <a:extLst>
              <a:ext uri="{FF2B5EF4-FFF2-40B4-BE49-F238E27FC236}">
                <a16:creationId xmlns:a16="http://schemas.microsoft.com/office/drawing/2014/main" id="{26FF73B2-B9D2-48E3-910B-ACF3CC16F3D9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491">
            <a:extLst>
              <a:ext uri="{FF2B5EF4-FFF2-40B4-BE49-F238E27FC236}">
                <a16:creationId xmlns:a16="http://schemas.microsoft.com/office/drawing/2014/main" id="{F6360834-CDC5-4104-A00B-3009DFADE3BA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20 / 24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92EBCDE8-78B8-4BC0-A2EB-B187EB899EC2}"/>
              </a:ext>
            </a:extLst>
          </p:cNvPr>
          <p:cNvGraphicFramePr/>
          <p:nvPr/>
        </p:nvGraphicFramePr>
        <p:xfrm>
          <a:off x="698500" y="2679700"/>
          <a:ext cx="92456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-492">
            <a:extLst>
              <a:ext uri="{FF2B5EF4-FFF2-40B4-BE49-F238E27FC236}">
                <a16:creationId xmlns:a16="http://schemas.microsoft.com/office/drawing/2014/main" id="{4D6EE73E-37E2-4134-9412-C318BF7294E2}"/>
              </a:ext>
            </a:extLst>
          </p:cNvPr>
          <p:cNvSpPr>
            <a:spLocks noGrp="1"/>
          </p:cNvSpPr>
          <p:nvPr/>
        </p:nvSpPr>
        <p:spPr>
          <a:xfrm>
            <a:off x="10693400" y="2336800"/>
            <a:ext cx="4648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WHAT WE LOOK FOR</a:t>
            </a:r>
          </a:p>
        </p:txBody>
      </p:sp>
      <p:sp>
        <p:nvSpPr>
          <p:cNvPr id="17" name="text-493">
            <a:extLst>
              <a:ext uri="{FF2B5EF4-FFF2-40B4-BE49-F238E27FC236}">
                <a16:creationId xmlns:a16="http://schemas.microsoft.com/office/drawing/2014/main" id="{3A154EA4-7287-44BE-99D9-23E893F00EC4}"/>
              </a:ext>
            </a:extLst>
          </p:cNvPr>
          <p:cNvSpPr>
            <a:spLocks noGrp="1"/>
          </p:cNvSpPr>
          <p:nvPr/>
        </p:nvSpPr>
        <p:spPr>
          <a:xfrm>
            <a:off x="10693400" y="2832100"/>
            <a:ext cx="46482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 bend where adding more groups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starts giving smaller improvements.</a:t>
            </a:r>
          </a:p>
        </p:txBody>
      </p:sp>
      <p:sp>
        <p:nvSpPr>
          <p:cNvPr id="18" name="text-494">
            <a:extLst>
              <a:ext uri="{FF2B5EF4-FFF2-40B4-BE49-F238E27FC236}">
                <a16:creationId xmlns:a16="http://schemas.microsoft.com/office/drawing/2014/main" id="{59E67C87-B2EA-499D-8CD9-C40CF5CD66F9}"/>
              </a:ext>
            </a:extLst>
          </p:cNvPr>
          <p:cNvSpPr>
            <a:spLocks noGrp="1"/>
          </p:cNvSpPr>
          <p:nvPr/>
        </p:nvSpPr>
        <p:spPr>
          <a:xfrm>
            <a:off x="10693400" y="4724400"/>
            <a:ext cx="4648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WHAT WE FOUND</a:t>
            </a:r>
          </a:p>
        </p:txBody>
      </p:sp>
      <p:sp>
        <p:nvSpPr>
          <p:cNvPr id="19" name="text-495">
            <a:extLst>
              <a:ext uri="{FF2B5EF4-FFF2-40B4-BE49-F238E27FC236}">
                <a16:creationId xmlns:a16="http://schemas.microsoft.com/office/drawing/2014/main" id="{036AD8B0-F488-4BF4-8C28-1B76FFDD5A1C}"/>
              </a:ext>
            </a:extLst>
          </p:cNvPr>
          <p:cNvSpPr>
            <a:spLocks noGrp="1"/>
          </p:cNvSpPr>
          <p:nvPr/>
        </p:nvSpPr>
        <p:spPr>
          <a:xfrm>
            <a:off x="10693400" y="5219700"/>
            <a:ext cx="46482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bend is gradual around 3–4.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It does not give one obvious answer.</a:t>
            </a:r>
          </a:p>
          <a:p>
            <a:pPr algn="l">
              <a:defRPr sz="23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Silhouette helped us choose 3.</a:t>
            </a:r>
          </a:p>
        </p:txBody>
      </p:sp>
      <p:sp>
        <p:nvSpPr>
          <p:cNvPr id="20" name="block-496">
            <a:extLst>
              <a:ext uri="{FF2B5EF4-FFF2-40B4-BE49-F238E27FC236}">
                <a16:creationId xmlns:a16="http://schemas.microsoft.com/office/drawing/2014/main" id="{19F38C30-BDD1-4F5F-94B3-92C3319386BE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block-497">
            <a:extLst>
              <a:ext uri="{FF2B5EF4-FFF2-40B4-BE49-F238E27FC236}">
                <a16:creationId xmlns:a16="http://schemas.microsoft.com/office/drawing/2014/main" id="{CA25206A-A6ED-493A-A2F1-CC9B0994FF2D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498">
            <a:extLst>
              <a:ext uri="{FF2B5EF4-FFF2-40B4-BE49-F238E27FC236}">
                <a16:creationId xmlns:a16="http://schemas.microsoft.com/office/drawing/2014/main" id="{C543B14B-E9DB-4C1A-99DE-180DA3529CF3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WHY NOT CHOOSE 6?</a:t>
            </a:r>
          </a:p>
        </p:txBody>
      </p:sp>
      <p:sp>
        <p:nvSpPr>
          <p:cNvPr id="23" name="text-499">
            <a:extLst>
              <a:ext uri="{FF2B5EF4-FFF2-40B4-BE49-F238E27FC236}">
                <a16:creationId xmlns:a16="http://schemas.microsoft.com/office/drawing/2014/main" id="{2F1F883E-D71A-4073-8E28-2FC0ABFC12D2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More groups usually lower the distance. We also want a useful, understandable grouping.</a:t>
            </a:r>
          </a:p>
        </p:txBody>
      </p:sp>
    </p:spTree>
    <p:extLst>
      <p:ext uri="{BB962C8B-B14F-4D97-AF65-F5344CB8AC3E}">
        <p14:creationId xmlns:p14="http://schemas.microsoft.com/office/powerpoint/2010/main" val="763210388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lock-500">
            <a:extLst>
              <a:ext uri="{FF2B5EF4-FFF2-40B4-BE49-F238E27FC236}">
                <a16:creationId xmlns:a16="http://schemas.microsoft.com/office/drawing/2014/main" id="{15B7BF31-8023-4D94-876F-75DA6392EE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01">
            <a:extLst>
              <a:ext uri="{FF2B5EF4-FFF2-40B4-BE49-F238E27FC236}">
                <a16:creationId xmlns:a16="http://schemas.microsoft.com/office/drawing/2014/main" id="{7CC36288-BFF1-44BC-B48A-CD149050BF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502">
            <a:extLst>
              <a:ext uri="{FF2B5EF4-FFF2-40B4-BE49-F238E27FC236}">
                <a16:creationId xmlns:a16="http://schemas.microsoft.com/office/drawing/2014/main" id="{46F76AB5-24C7-4A1F-BCCF-F673B2D53810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503">
            <a:extLst>
              <a:ext uri="{FF2B5EF4-FFF2-40B4-BE49-F238E27FC236}">
                <a16:creationId xmlns:a16="http://schemas.microsoft.com/office/drawing/2014/main" id="{D59C0B86-4855-4BD9-B777-51193AC2D7B2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504">
            <a:extLst>
              <a:ext uri="{FF2B5EF4-FFF2-40B4-BE49-F238E27FC236}">
                <a16:creationId xmlns:a16="http://schemas.microsoft.com/office/drawing/2014/main" id="{F1FA593C-CC0D-46A9-A450-AE534E78EA55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505">
            <a:extLst>
              <a:ext uri="{FF2B5EF4-FFF2-40B4-BE49-F238E27FC236}">
                <a16:creationId xmlns:a16="http://schemas.microsoft.com/office/drawing/2014/main" id="{64015E4A-0102-4C98-9C37-FF46BD1CFBFC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506">
            <a:extLst>
              <a:ext uri="{FF2B5EF4-FFF2-40B4-BE49-F238E27FC236}">
                <a16:creationId xmlns:a16="http://schemas.microsoft.com/office/drawing/2014/main" id="{D173D767-93ED-4F3D-BAD2-3D7BB17B6A69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507">
            <a:extLst>
              <a:ext uri="{FF2B5EF4-FFF2-40B4-BE49-F238E27FC236}">
                <a16:creationId xmlns:a16="http://schemas.microsoft.com/office/drawing/2014/main" id="{C6D8BA7C-88F0-49A2-9474-A8D4A4FB1E56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508">
            <a:extLst>
              <a:ext uri="{FF2B5EF4-FFF2-40B4-BE49-F238E27FC236}">
                <a16:creationId xmlns:a16="http://schemas.microsoft.com/office/drawing/2014/main" id="{0E0306E2-6059-45C6-8CFD-2E03C56710FD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509">
            <a:extLst>
              <a:ext uri="{FF2B5EF4-FFF2-40B4-BE49-F238E27FC236}">
                <a16:creationId xmlns:a16="http://schemas.microsoft.com/office/drawing/2014/main" id="{2ADEFA36-456C-45A4-B7FE-E1AA2C1FD0EC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510">
            <a:extLst>
              <a:ext uri="{FF2B5EF4-FFF2-40B4-BE49-F238E27FC236}">
                <a16:creationId xmlns:a16="http://schemas.microsoft.com/office/drawing/2014/main" id="{4E6D78D0-8992-48ED-B596-EBCFBB02EA96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Here are the three groups we found</a:t>
            </a:r>
          </a:p>
        </p:txBody>
      </p:sp>
      <p:sp>
        <p:nvSpPr>
          <p:cNvPr id="12" name="text-511">
            <a:extLst>
              <a:ext uri="{FF2B5EF4-FFF2-40B4-BE49-F238E27FC236}">
                <a16:creationId xmlns:a16="http://schemas.microsoft.com/office/drawing/2014/main" id="{AE1AECC8-BA51-4897-BE9D-2AE9AE5F8712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5 · One dot = one record · A large diamond marks a group’s average age and charges</a:t>
            </a:r>
          </a:p>
        </p:txBody>
      </p:sp>
      <p:sp>
        <p:nvSpPr>
          <p:cNvPr id="13" name="text-512">
            <a:extLst>
              <a:ext uri="{FF2B5EF4-FFF2-40B4-BE49-F238E27FC236}">
                <a16:creationId xmlns:a16="http://schemas.microsoft.com/office/drawing/2014/main" id="{5CEC72E4-08C0-44F0-8987-1AA22C9AD57E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513">
            <a:extLst>
              <a:ext uri="{FF2B5EF4-FFF2-40B4-BE49-F238E27FC236}">
                <a16:creationId xmlns:a16="http://schemas.microsoft.com/office/drawing/2014/main" id="{5B909C73-BC07-4323-9366-242F9E1DB8CF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21 / 24</a:t>
            </a:r>
          </a:p>
        </p:txBody>
      </p:sp>
      <p:graphicFrame>
        <p:nvGraphicFramePr>
          <p:cNvPr id="15" name="Chart">
            <a:extLst>
              <a:ext uri="{FF2B5EF4-FFF2-40B4-BE49-F238E27FC236}">
                <a16:creationId xmlns:a16="http://schemas.microsoft.com/office/drawing/2014/main" id="{BD5E8D84-ED90-4C6F-9B79-9F8CADC2F093}"/>
              </a:ext>
            </a:extLst>
          </p:cNvPr>
          <p:cNvGraphicFramePr/>
          <p:nvPr/>
        </p:nvGraphicFramePr>
        <p:xfrm>
          <a:off x="698500" y="2387600"/>
          <a:ext cx="9740900" cy="5219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-514">
            <a:extLst>
              <a:ext uri="{FF2B5EF4-FFF2-40B4-BE49-F238E27FC236}">
                <a16:creationId xmlns:a16="http://schemas.microsoft.com/office/drawing/2014/main" id="{F87B375F-1161-4357-89E8-2C048644861C}"/>
              </a:ext>
            </a:extLst>
          </p:cNvPr>
          <p:cNvSpPr>
            <a:spLocks noGrp="1"/>
          </p:cNvSpPr>
          <p:nvPr/>
        </p:nvSpPr>
        <p:spPr>
          <a:xfrm>
            <a:off x="11087100" y="2425700"/>
            <a:ext cx="42164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GROUP 1</a:t>
            </a:r>
          </a:p>
        </p:txBody>
      </p:sp>
      <p:sp>
        <p:nvSpPr>
          <p:cNvPr id="17" name="text-515">
            <a:extLst>
              <a:ext uri="{FF2B5EF4-FFF2-40B4-BE49-F238E27FC236}">
                <a16:creationId xmlns:a16="http://schemas.microsoft.com/office/drawing/2014/main" id="{3D45BD59-3A92-402C-9607-2D742BE4FCB8}"/>
              </a:ext>
            </a:extLst>
          </p:cNvPr>
          <p:cNvSpPr>
            <a:spLocks noGrp="1"/>
          </p:cNvSpPr>
          <p:nvPr/>
        </p:nvSpPr>
        <p:spPr>
          <a:xfrm>
            <a:off x="11087100" y="2908300"/>
            <a:ext cx="4216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Younger records,</a:t>
            </a:r>
          </a:p>
          <a:p>
            <a: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lower average charges</a:t>
            </a:r>
          </a:p>
        </p:txBody>
      </p:sp>
      <p:sp>
        <p:nvSpPr>
          <p:cNvPr id="18" name="text-516">
            <a:extLst>
              <a:ext uri="{FF2B5EF4-FFF2-40B4-BE49-F238E27FC236}">
                <a16:creationId xmlns:a16="http://schemas.microsoft.com/office/drawing/2014/main" id="{78A87A27-235E-4757-8368-252755DFA387}"/>
              </a:ext>
            </a:extLst>
          </p:cNvPr>
          <p:cNvSpPr>
            <a:spLocks noGrp="1"/>
          </p:cNvSpPr>
          <p:nvPr/>
        </p:nvSpPr>
        <p:spPr>
          <a:xfrm>
            <a:off x="11087100" y="4127500"/>
            <a:ext cx="42164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00" b="1">
                <a:solidFill>
                  <a:srgbClr val="C86A2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C86A22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C86A22"/>
                </a:solidFill>
                <a:latin typeface="Arial"/>
                <a:ea typeface="Arial"/>
                <a:cs typeface="Arial"/>
              </a:rPr>
              <a:t>GROUP 2</a:t>
            </a:r>
          </a:p>
        </p:txBody>
      </p:sp>
      <p:sp>
        <p:nvSpPr>
          <p:cNvPr id="19" name="text-517">
            <a:extLst>
              <a:ext uri="{FF2B5EF4-FFF2-40B4-BE49-F238E27FC236}">
                <a16:creationId xmlns:a16="http://schemas.microsoft.com/office/drawing/2014/main" id="{E04DFA99-7E2F-41AD-B3BD-204514CF27B8}"/>
              </a:ext>
            </a:extLst>
          </p:cNvPr>
          <p:cNvSpPr>
            <a:spLocks noGrp="1"/>
          </p:cNvSpPr>
          <p:nvPr/>
        </p:nvSpPr>
        <p:spPr>
          <a:xfrm>
            <a:off x="11087100" y="4610100"/>
            <a:ext cx="4216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Older records,</a:t>
            </a:r>
          </a:p>
          <a:p>
            <a: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intermediate charges</a:t>
            </a:r>
          </a:p>
        </p:txBody>
      </p:sp>
      <p:sp>
        <p:nvSpPr>
          <p:cNvPr id="20" name="text-518">
            <a:extLst>
              <a:ext uri="{FF2B5EF4-FFF2-40B4-BE49-F238E27FC236}">
                <a16:creationId xmlns:a16="http://schemas.microsoft.com/office/drawing/2014/main" id="{1E868761-5F54-46CB-AC2A-B7A3108A239A}"/>
              </a:ext>
            </a:extLst>
          </p:cNvPr>
          <p:cNvSpPr>
            <a:spLocks noGrp="1"/>
          </p:cNvSpPr>
          <p:nvPr/>
        </p:nvSpPr>
        <p:spPr>
          <a:xfrm>
            <a:off x="11087100" y="5829300"/>
            <a:ext cx="42164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GROUP 3</a:t>
            </a:r>
          </a:p>
        </p:txBody>
      </p:sp>
      <p:sp>
        <p:nvSpPr>
          <p:cNvPr id="21" name="text-519">
            <a:extLst>
              <a:ext uri="{FF2B5EF4-FFF2-40B4-BE49-F238E27FC236}">
                <a16:creationId xmlns:a16="http://schemas.microsoft.com/office/drawing/2014/main" id="{A8C15B43-3CE3-471E-8E5C-71B9C7947368}"/>
              </a:ext>
            </a:extLst>
          </p:cNvPr>
          <p:cNvSpPr>
            <a:spLocks noGrp="1"/>
          </p:cNvSpPr>
          <p:nvPr/>
        </p:nvSpPr>
        <p:spPr>
          <a:xfrm>
            <a:off x="11087100" y="6311900"/>
            <a:ext cx="4216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Much higher charges</a:t>
            </a:r>
          </a:p>
          <a:p>
            <a:pPr algn="l">
              <a:defRPr sz="25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on average</a:t>
            </a:r>
          </a:p>
        </p:txBody>
      </p:sp>
      <p:sp>
        <p:nvSpPr>
          <p:cNvPr id="22" name="block-520">
            <a:extLst>
              <a:ext uri="{FF2B5EF4-FFF2-40B4-BE49-F238E27FC236}">
                <a16:creationId xmlns:a16="http://schemas.microsoft.com/office/drawing/2014/main" id="{275B1451-2489-46EC-B0EF-C902170B4BF0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block-521">
            <a:extLst>
              <a:ext uri="{FF2B5EF4-FFF2-40B4-BE49-F238E27FC236}">
                <a16:creationId xmlns:a16="http://schemas.microsoft.com/office/drawing/2014/main" id="{681F7081-6F18-4913-9C0C-04AF7F09BDEA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522">
            <a:extLst>
              <a:ext uri="{FF2B5EF4-FFF2-40B4-BE49-F238E27FC236}">
                <a16:creationId xmlns:a16="http://schemas.microsoft.com/office/drawing/2014/main" id="{DA1238E7-21A1-47AC-9970-61F9D90DEE41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READ WITH CARE</a:t>
            </a:r>
          </a:p>
        </p:txBody>
      </p:sp>
      <p:sp>
        <p:nvSpPr>
          <p:cNvPr id="25" name="text-523">
            <a:extLst>
              <a:ext uri="{FF2B5EF4-FFF2-40B4-BE49-F238E27FC236}">
                <a16:creationId xmlns:a16="http://schemas.microsoft.com/office/drawing/2014/main" id="{44743D61-8FFE-44D2-BFCD-622C055A85CD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This view shows age and charges. BMI was also used to form the groups, and some records overlap.</a:t>
            </a:r>
          </a:p>
        </p:txBody>
      </p:sp>
    </p:spTree>
    <p:extLst>
      <p:ext uri="{BB962C8B-B14F-4D97-AF65-F5344CB8AC3E}">
        <p14:creationId xmlns:p14="http://schemas.microsoft.com/office/powerpoint/2010/main" val="1589983328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lock-524">
            <a:extLst>
              <a:ext uri="{FF2B5EF4-FFF2-40B4-BE49-F238E27FC236}">
                <a16:creationId xmlns:a16="http://schemas.microsoft.com/office/drawing/2014/main" id="{D10CD1BA-231E-45D3-82C7-40E9130AE9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25">
            <a:extLst>
              <a:ext uri="{FF2B5EF4-FFF2-40B4-BE49-F238E27FC236}">
                <a16:creationId xmlns:a16="http://schemas.microsoft.com/office/drawing/2014/main" id="{3FF08215-BA73-4584-9C58-2639E2450C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526">
            <a:extLst>
              <a:ext uri="{FF2B5EF4-FFF2-40B4-BE49-F238E27FC236}">
                <a16:creationId xmlns:a16="http://schemas.microsoft.com/office/drawing/2014/main" id="{B7475D93-2B75-49E5-A9F1-266BD2AD610A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527">
            <a:extLst>
              <a:ext uri="{FF2B5EF4-FFF2-40B4-BE49-F238E27FC236}">
                <a16:creationId xmlns:a16="http://schemas.microsoft.com/office/drawing/2014/main" id="{6554F9B2-328C-4271-89E7-F06067276920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528">
            <a:extLst>
              <a:ext uri="{FF2B5EF4-FFF2-40B4-BE49-F238E27FC236}">
                <a16:creationId xmlns:a16="http://schemas.microsoft.com/office/drawing/2014/main" id="{A70A1E6C-6475-47BE-8003-A0413671F6DD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529">
            <a:extLst>
              <a:ext uri="{FF2B5EF4-FFF2-40B4-BE49-F238E27FC236}">
                <a16:creationId xmlns:a16="http://schemas.microsoft.com/office/drawing/2014/main" id="{A7FF9FEE-2EEB-4EC0-B466-297A76D0D9C8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530">
            <a:extLst>
              <a:ext uri="{FF2B5EF4-FFF2-40B4-BE49-F238E27FC236}">
                <a16:creationId xmlns:a16="http://schemas.microsoft.com/office/drawing/2014/main" id="{34A37ED4-ECE2-4453-A018-7DDB24230AA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531">
            <a:extLst>
              <a:ext uri="{FF2B5EF4-FFF2-40B4-BE49-F238E27FC236}">
                <a16:creationId xmlns:a16="http://schemas.microsoft.com/office/drawing/2014/main" id="{AC44117F-3A10-4BDE-AEAF-6FF7BED5076B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532">
            <a:extLst>
              <a:ext uri="{FF2B5EF4-FFF2-40B4-BE49-F238E27FC236}">
                <a16:creationId xmlns:a16="http://schemas.microsoft.com/office/drawing/2014/main" id="{7ED1963B-FDCC-49C4-A90B-B74A1177DCBB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533">
            <a:extLst>
              <a:ext uri="{FF2B5EF4-FFF2-40B4-BE49-F238E27FC236}">
                <a16:creationId xmlns:a16="http://schemas.microsoft.com/office/drawing/2014/main" id="{99FD4701-0E34-4F86-91EF-AA0B54A9AD49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534">
            <a:extLst>
              <a:ext uri="{FF2B5EF4-FFF2-40B4-BE49-F238E27FC236}">
                <a16:creationId xmlns:a16="http://schemas.microsoft.com/office/drawing/2014/main" id="{F82C9953-7D37-4F4F-82C8-A1A56F232771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What does each group look like?</a:t>
            </a:r>
          </a:p>
        </p:txBody>
      </p:sp>
      <p:sp>
        <p:nvSpPr>
          <p:cNvPr id="12" name="text-535">
            <a:extLst>
              <a:ext uri="{FF2B5EF4-FFF2-40B4-BE49-F238E27FC236}">
                <a16:creationId xmlns:a16="http://schemas.microsoft.com/office/drawing/2014/main" id="{65838859-D366-4F11-ACEE-2E7E5D25EE03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Task 5 · These are averages, not descriptions of every individual</a:t>
            </a:r>
          </a:p>
        </p:txBody>
      </p:sp>
      <p:sp>
        <p:nvSpPr>
          <p:cNvPr id="13" name="text-536">
            <a:extLst>
              <a:ext uri="{FF2B5EF4-FFF2-40B4-BE49-F238E27FC236}">
                <a16:creationId xmlns:a16="http://schemas.microsoft.com/office/drawing/2014/main" id="{5A13CEFF-C021-40EB-89B9-15937510BC84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537">
            <a:extLst>
              <a:ext uri="{FF2B5EF4-FFF2-40B4-BE49-F238E27FC236}">
                <a16:creationId xmlns:a16="http://schemas.microsoft.com/office/drawing/2014/main" id="{ABEEB75A-2049-44D2-8290-1DA11917AB95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22 / 24</a:t>
            </a:r>
          </a:p>
        </p:txBody>
      </p:sp>
      <p:sp>
        <p:nvSpPr>
          <p:cNvPr id="15" name="block-538">
            <a:extLst>
              <a:ext uri="{FF2B5EF4-FFF2-40B4-BE49-F238E27FC236}">
                <a16:creationId xmlns:a16="http://schemas.microsoft.com/office/drawing/2014/main" id="{0B946D26-EB7D-4034-8E4D-13E3E2D265CC}"/>
              </a:ext>
            </a:extLst>
          </p:cNvPr>
          <p:cNvSpPr>
            <a:spLocks noGrp="1"/>
          </p:cNvSpPr>
          <p:nvPr/>
        </p:nvSpPr>
        <p:spPr>
          <a:xfrm>
            <a:off x="673100" y="2349500"/>
            <a:ext cx="4762500" cy="4749800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block-539">
            <a:extLst>
              <a:ext uri="{FF2B5EF4-FFF2-40B4-BE49-F238E27FC236}">
                <a16:creationId xmlns:a16="http://schemas.microsoft.com/office/drawing/2014/main" id="{84047D06-C81B-40A4-B929-85FBF24C6DE3}"/>
              </a:ext>
            </a:extLst>
          </p:cNvPr>
          <p:cNvSpPr>
            <a:spLocks noGrp="1"/>
          </p:cNvSpPr>
          <p:nvPr/>
        </p:nvSpPr>
        <p:spPr>
          <a:xfrm>
            <a:off x="673100" y="2349500"/>
            <a:ext cx="4762500" cy="774700"/>
          </a:xfrm>
          <a:prstGeom prst="roundRect">
            <a:avLst>
              <a:gd name="adj" fmla="val 13115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-540">
            <a:extLst>
              <a:ext uri="{FF2B5EF4-FFF2-40B4-BE49-F238E27FC236}">
                <a16:creationId xmlns:a16="http://schemas.microsoft.com/office/drawing/2014/main" id="{E84B548D-55E0-464E-A578-EE222E7CB79B}"/>
              </a:ext>
            </a:extLst>
          </p:cNvPr>
          <p:cNvSpPr>
            <a:spLocks noGrp="1"/>
          </p:cNvSpPr>
          <p:nvPr/>
        </p:nvSpPr>
        <p:spPr>
          <a:xfrm>
            <a:off x="927100" y="2527300"/>
            <a:ext cx="42545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1</a:t>
            </a:r>
          </a:p>
        </p:txBody>
      </p:sp>
      <p:sp>
        <p:nvSpPr>
          <p:cNvPr id="18" name="text-541">
            <a:extLst>
              <a:ext uri="{FF2B5EF4-FFF2-40B4-BE49-F238E27FC236}">
                <a16:creationId xmlns:a16="http://schemas.microsoft.com/office/drawing/2014/main" id="{9EC14BAB-EED2-467B-9CC2-55C6AB76DC88}"/>
              </a:ext>
            </a:extLst>
          </p:cNvPr>
          <p:cNvSpPr>
            <a:spLocks noGrp="1"/>
          </p:cNvSpPr>
          <p:nvPr/>
        </p:nvSpPr>
        <p:spPr>
          <a:xfrm>
            <a:off x="977900" y="3441700"/>
            <a:ext cx="41656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604 records</a:t>
            </a:r>
          </a:p>
        </p:txBody>
      </p:sp>
      <p:sp>
        <p:nvSpPr>
          <p:cNvPr id="19" name="text-542">
            <a:extLst>
              <a:ext uri="{FF2B5EF4-FFF2-40B4-BE49-F238E27FC236}">
                <a16:creationId xmlns:a16="http://schemas.microsoft.com/office/drawing/2014/main" id="{B83D93E8-5949-4B15-A243-CCAAB82BF4D4}"/>
              </a:ext>
            </a:extLst>
          </p:cNvPr>
          <p:cNvSpPr>
            <a:spLocks noGrp="1"/>
          </p:cNvSpPr>
          <p:nvPr/>
        </p:nvSpPr>
        <p:spPr>
          <a:xfrm>
            <a:off x="977900" y="4267200"/>
            <a:ext cx="4165600" cy="119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Average age   27.3</a:t>
            </a:r>
          </a:p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Average BMI   29.0</a:t>
            </a:r>
          </a:p>
        </p:txBody>
      </p:sp>
      <p:sp>
        <p:nvSpPr>
          <p:cNvPr id="20" name="text-543">
            <a:extLst>
              <a:ext uri="{FF2B5EF4-FFF2-40B4-BE49-F238E27FC236}">
                <a16:creationId xmlns:a16="http://schemas.microsoft.com/office/drawing/2014/main" id="{944D4758-4F8B-473C-8509-13D87602498E}"/>
              </a:ext>
            </a:extLst>
          </p:cNvPr>
          <p:cNvSpPr>
            <a:spLocks noGrp="1"/>
          </p:cNvSpPr>
          <p:nvPr/>
        </p:nvSpPr>
        <p:spPr>
          <a:xfrm>
            <a:off x="977900" y="5765800"/>
            <a:ext cx="4165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8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$6,433</a:t>
            </a:r>
          </a:p>
        </p:txBody>
      </p:sp>
      <p:sp>
        <p:nvSpPr>
          <p:cNvPr id="21" name="text-544">
            <a:extLst>
              <a:ext uri="{FF2B5EF4-FFF2-40B4-BE49-F238E27FC236}">
                <a16:creationId xmlns:a16="http://schemas.microsoft.com/office/drawing/2014/main" id="{9ED56593-AC04-44CB-8018-E0EBF85FBD3E}"/>
              </a:ext>
            </a:extLst>
          </p:cNvPr>
          <p:cNvSpPr>
            <a:spLocks noGrp="1"/>
          </p:cNvSpPr>
          <p:nvPr/>
        </p:nvSpPr>
        <p:spPr>
          <a:xfrm>
            <a:off x="977900" y="6489700"/>
            <a:ext cx="4165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average charges</a:t>
            </a:r>
          </a:p>
        </p:txBody>
      </p:sp>
      <p:sp>
        <p:nvSpPr>
          <p:cNvPr id="22" name="block-545">
            <a:extLst>
              <a:ext uri="{FF2B5EF4-FFF2-40B4-BE49-F238E27FC236}">
                <a16:creationId xmlns:a16="http://schemas.microsoft.com/office/drawing/2014/main" id="{6220EE5A-F87F-4E68-B594-8294C1961B29}"/>
              </a:ext>
            </a:extLst>
          </p:cNvPr>
          <p:cNvSpPr>
            <a:spLocks noGrp="1"/>
          </p:cNvSpPr>
          <p:nvPr/>
        </p:nvSpPr>
        <p:spPr>
          <a:xfrm>
            <a:off x="5753100" y="2349500"/>
            <a:ext cx="4762500" cy="4749800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block-546">
            <a:extLst>
              <a:ext uri="{FF2B5EF4-FFF2-40B4-BE49-F238E27FC236}">
                <a16:creationId xmlns:a16="http://schemas.microsoft.com/office/drawing/2014/main" id="{222B08AF-6502-44A2-8162-2633B25CEDC1}"/>
              </a:ext>
            </a:extLst>
          </p:cNvPr>
          <p:cNvSpPr>
            <a:spLocks noGrp="1"/>
          </p:cNvSpPr>
          <p:nvPr/>
        </p:nvSpPr>
        <p:spPr>
          <a:xfrm>
            <a:off x="5753100" y="2349500"/>
            <a:ext cx="4762500" cy="774700"/>
          </a:xfrm>
          <a:prstGeom prst="roundRect">
            <a:avLst>
              <a:gd name="adj" fmla="val 13115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547">
            <a:extLst>
              <a:ext uri="{FF2B5EF4-FFF2-40B4-BE49-F238E27FC236}">
                <a16:creationId xmlns:a16="http://schemas.microsoft.com/office/drawing/2014/main" id="{FDA7714E-75D1-492A-BBD8-5F30474965B1}"/>
              </a:ext>
            </a:extLst>
          </p:cNvPr>
          <p:cNvSpPr>
            <a:spLocks noGrp="1"/>
          </p:cNvSpPr>
          <p:nvPr/>
        </p:nvSpPr>
        <p:spPr>
          <a:xfrm>
            <a:off x="6007100" y="2527300"/>
            <a:ext cx="42545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2</a:t>
            </a:r>
          </a:p>
        </p:txBody>
      </p:sp>
      <p:sp>
        <p:nvSpPr>
          <p:cNvPr id="25" name="text-548">
            <a:extLst>
              <a:ext uri="{FF2B5EF4-FFF2-40B4-BE49-F238E27FC236}">
                <a16:creationId xmlns:a16="http://schemas.microsoft.com/office/drawing/2014/main" id="{7C5625BA-C410-4193-A84A-464044B70D84}"/>
              </a:ext>
            </a:extLst>
          </p:cNvPr>
          <p:cNvSpPr>
            <a:spLocks noGrp="1"/>
          </p:cNvSpPr>
          <p:nvPr/>
        </p:nvSpPr>
        <p:spPr>
          <a:xfrm>
            <a:off x="6057900" y="3441700"/>
            <a:ext cx="41656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00" b="1">
                <a:solidFill>
                  <a:srgbClr val="C86A2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00" b="1">
                <a:solidFill>
                  <a:srgbClr val="C86A22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C86A22"/>
                </a:solidFill>
                <a:latin typeface="Arial"/>
                <a:ea typeface="Arial"/>
                <a:cs typeface="Arial"/>
              </a:rPr>
              <a:t>571 records</a:t>
            </a:r>
          </a:p>
        </p:txBody>
      </p:sp>
      <p:sp>
        <p:nvSpPr>
          <p:cNvPr id="26" name="text-549">
            <a:extLst>
              <a:ext uri="{FF2B5EF4-FFF2-40B4-BE49-F238E27FC236}">
                <a16:creationId xmlns:a16="http://schemas.microsoft.com/office/drawing/2014/main" id="{55D140E6-8BDB-4638-B289-7450852CA6D2}"/>
              </a:ext>
            </a:extLst>
          </p:cNvPr>
          <p:cNvSpPr>
            <a:spLocks noGrp="1"/>
          </p:cNvSpPr>
          <p:nvPr/>
        </p:nvSpPr>
        <p:spPr>
          <a:xfrm>
            <a:off x="6057900" y="4267200"/>
            <a:ext cx="4165600" cy="119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Average age   51.6</a:t>
            </a:r>
          </a:p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Average BMI   31.1</a:t>
            </a:r>
          </a:p>
        </p:txBody>
      </p:sp>
      <p:sp>
        <p:nvSpPr>
          <p:cNvPr id="27" name="text-550">
            <a:extLst>
              <a:ext uri="{FF2B5EF4-FFF2-40B4-BE49-F238E27FC236}">
                <a16:creationId xmlns:a16="http://schemas.microsoft.com/office/drawing/2014/main" id="{CC6B5F0E-8BFE-49B9-9446-1620CC8D95C5}"/>
              </a:ext>
            </a:extLst>
          </p:cNvPr>
          <p:cNvSpPr>
            <a:spLocks noGrp="1"/>
          </p:cNvSpPr>
          <p:nvPr/>
        </p:nvSpPr>
        <p:spPr>
          <a:xfrm>
            <a:off x="6057900" y="5765800"/>
            <a:ext cx="4165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800" b="1">
                <a:solidFill>
                  <a:srgbClr val="C86A2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800" b="1">
                <a:solidFill>
                  <a:srgbClr val="C86A22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C86A22"/>
                </a:solidFill>
                <a:latin typeface="Arial"/>
                <a:ea typeface="Arial"/>
                <a:cs typeface="Arial"/>
              </a:rPr>
              <a:t>$12,775</a:t>
            </a:r>
          </a:p>
        </p:txBody>
      </p:sp>
      <p:sp>
        <p:nvSpPr>
          <p:cNvPr id="28" name="text-551">
            <a:extLst>
              <a:ext uri="{FF2B5EF4-FFF2-40B4-BE49-F238E27FC236}">
                <a16:creationId xmlns:a16="http://schemas.microsoft.com/office/drawing/2014/main" id="{EC55606F-65D3-44A7-84CC-CBDDD021F726}"/>
              </a:ext>
            </a:extLst>
          </p:cNvPr>
          <p:cNvSpPr>
            <a:spLocks noGrp="1"/>
          </p:cNvSpPr>
          <p:nvPr/>
        </p:nvSpPr>
        <p:spPr>
          <a:xfrm>
            <a:off x="6057900" y="6489700"/>
            <a:ext cx="4165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average charges</a:t>
            </a:r>
          </a:p>
        </p:txBody>
      </p:sp>
      <p:sp>
        <p:nvSpPr>
          <p:cNvPr id="29" name="block-552">
            <a:extLst>
              <a:ext uri="{FF2B5EF4-FFF2-40B4-BE49-F238E27FC236}">
                <a16:creationId xmlns:a16="http://schemas.microsoft.com/office/drawing/2014/main" id="{DA4CEA94-E08B-438A-8FF7-1799A8B0E633}"/>
              </a:ext>
            </a:extLst>
          </p:cNvPr>
          <p:cNvSpPr>
            <a:spLocks noGrp="1"/>
          </p:cNvSpPr>
          <p:nvPr/>
        </p:nvSpPr>
        <p:spPr>
          <a:xfrm>
            <a:off x="10833100" y="2349500"/>
            <a:ext cx="4762500" cy="4749800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block-553">
            <a:extLst>
              <a:ext uri="{FF2B5EF4-FFF2-40B4-BE49-F238E27FC236}">
                <a16:creationId xmlns:a16="http://schemas.microsoft.com/office/drawing/2014/main" id="{7346BD6B-607C-41E0-A7C1-11B95434DDD5}"/>
              </a:ext>
            </a:extLst>
          </p:cNvPr>
          <p:cNvSpPr>
            <a:spLocks noGrp="1"/>
          </p:cNvSpPr>
          <p:nvPr/>
        </p:nvSpPr>
        <p:spPr>
          <a:xfrm>
            <a:off x="10833100" y="2349500"/>
            <a:ext cx="4762500" cy="774700"/>
          </a:xfrm>
          <a:prstGeom prst="roundRect">
            <a:avLst>
              <a:gd name="adj" fmla="val 13115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-554">
            <a:extLst>
              <a:ext uri="{FF2B5EF4-FFF2-40B4-BE49-F238E27FC236}">
                <a16:creationId xmlns:a16="http://schemas.microsoft.com/office/drawing/2014/main" id="{487885D4-E2F7-4FE0-9C41-F408603C640E}"/>
              </a:ext>
            </a:extLst>
          </p:cNvPr>
          <p:cNvSpPr>
            <a:spLocks noGrp="1"/>
          </p:cNvSpPr>
          <p:nvPr/>
        </p:nvSpPr>
        <p:spPr>
          <a:xfrm>
            <a:off x="11087100" y="2527300"/>
            <a:ext cx="42545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GROUP 3</a:t>
            </a:r>
          </a:p>
        </p:txBody>
      </p:sp>
      <p:sp>
        <p:nvSpPr>
          <p:cNvPr id="32" name="text-555">
            <a:extLst>
              <a:ext uri="{FF2B5EF4-FFF2-40B4-BE49-F238E27FC236}">
                <a16:creationId xmlns:a16="http://schemas.microsoft.com/office/drawing/2014/main" id="{C5BEE089-7F68-44EA-B3AF-5B4E43F2FB07}"/>
              </a:ext>
            </a:extLst>
          </p:cNvPr>
          <p:cNvSpPr>
            <a:spLocks noGrp="1"/>
          </p:cNvSpPr>
          <p:nvPr/>
        </p:nvSpPr>
        <p:spPr>
          <a:xfrm>
            <a:off x="11137900" y="3441700"/>
            <a:ext cx="4165600" cy="469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162 records</a:t>
            </a:r>
          </a:p>
        </p:txBody>
      </p:sp>
      <p:sp>
        <p:nvSpPr>
          <p:cNvPr id="33" name="text-556">
            <a:extLst>
              <a:ext uri="{FF2B5EF4-FFF2-40B4-BE49-F238E27FC236}">
                <a16:creationId xmlns:a16="http://schemas.microsoft.com/office/drawing/2014/main" id="{57184D57-81F9-4C97-B857-5CEA3A290143}"/>
              </a:ext>
            </a:extLst>
          </p:cNvPr>
          <p:cNvSpPr>
            <a:spLocks noGrp="1"/>
          </p:cNvSpPr>
          <p:nvPr/>
        </p:nvSpPr>
        <p:spPr>
          <a:xfrm>
            <a:off x="11137900" y="4267200"/>
            <a:ext cx="4165600" cy="1193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Average age   39.8</a:t>
            </a:r>
          </a:p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Average BMI   35.3</a:t>
            </a:r>
          </a:p>
        </p:txBody>
      </p:sp>
      <p:sp>
        <p:nvSpPr>
          <p:cNvPr id="34" name="text-557">
            <a:extLst>
              <a:ext uri="{FF2B5EF4-FFF2-40B4-BE49-F238E27FC236}">
                <a16:creationId xmlns:a16="http://schemas.microsoft.com/office/drawing/2014/main" id="{135E8FB1-09A4-43F1-B708-FEB76D83F655}"/>
              </a:ext>
            </a:extLst>
          </p:cNvPr>
          <p:cNvSpPr>
            <a:spLocks noGrp="1"/>
          </p:cNvSpPr>
          <p:nvPr/>
        </p:nvSpPr>
        <p:spPr>
          <a:xfrm>
            <a:off x="11137900" y="5765800"/>
            <a:ext cx="41656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8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38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$40,582</a:t>
            </a:r>
          </a:p>
        </p:txBody>
      </p:sp>
      <p:sp>
        <p:nvSpPr>
          <p:cNvPr id="35" name="text-558">
            <a:extLst>
              <a:ext uri="{FF2B5EF4-FFF2-40B4-BE49-F238E27FC236}">
                <a16:creationId xmlns:a16="http://schemas.microsoft.com/office/drawing/2014/main" id="{DCDAE2A6-E9D3-427D-A019-B5BF03A2D72C}"/>
              </a:ext>
            </a:extLst>
          </p:cNvPr>
          <p:cNvSpPr>
            <a:spLocks noGrp="1"/>
          </p:cNvSpPr>
          <p:nvPr/>
        </p:nvSpPr>
        <p:spPr>
          <a:xfrm>
            <a:off x="11137900" y="6489700"/>
            <a:ext cx="4165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average charges</a:t>
            </a:r>
          </a:p>
        </p:txBody>
      </p:sp>
      <p:sp>
        <p:nvSpPr>
          <p:cNvPr id="36" name="text-559">
            <a:extLst>
              <a:ext uri="{FF2B5EF4-FFF2-40B4-BE49-F238E27FC236}">
                <a16:creationId xmlns:a16="http://schemas.microsoft.com/office/drawing/2014/main" id="{6EB2B37E-25CE-4B41-A13E-15C43E3437A6}"/>
              </a:ext>
            </a:extLst>
          </p:cNvPr>
          <p:cNvSpPr>
            <a:spLocks noGrp="1"/>
          </p:cNvSpPr>
          <p:nvPr/>
        </p:nvSpPr>
        <p:spPr>
          <a:xfrm>
            <a:off x="800100" y="7289800"/>
            <a:ext cx="14541500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After forming the groups, we checked smoking: about 11%, 10% and 92% were smokers.</a:t>
            </a:r>
          </a:p>
        </p:txBody>
      </p:sp>
      <p:sp>
        <p:nvSpPr>
          <p:cNvPr id="37" name="block-560">
            <a:extLst>
              <a:ext uri="{FF2B5EF4-FFF2-40B4-BE49-F238E27FC236}">
                <a16:creationId xmlns:a16="http://schemas.microsoft.com/office/drawing/2014/main" id="{ADE3508C-3653-42A0-B6EA-2004809F71EC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block-561">
            <a:extLst>
              <a:ext uri="{FF2B5EF4-FFF2-40B4-BE49-F238E27FC236}">
                <a16:creationId xmlns:a16="http://schemas.microsoft.com/office/drawing/2014/main" id="{53EF3826-5286-482C-8E42-F1AD913E92A3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-562">
            <a:extLst>
              <a:ext uri="{FF2B5EF4-FFF2-40B4-BE49-F238E27FC236}">
                <a16:creationId xmlns:a16="http://schemas.microsoft.com/office/drawing/2014/main" id="{67070C7A-1D76-4448-A50C-92A64C45AEB4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KEY FINDING</a:t>
            </a:r>
          </a:p>
        </p:txBody>
      </p:sp>
      <p:sp>
        <p:nvSpPr>
          <p:cNvPr id="40" name="text-563">
            <a:extLst>
              <a:ext uri="{FF2B5EF4-FFF2-40B4-BE49-F238E27FC236}">
                <a16:creationId xmlns:a16="http://schemas.microsoft.com/office/drawing/2014/main" id="{2D968C1C-D132-4C7C-9670-D49D1F768171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highest-cost group contains mostly smokers—even though smoking was not used for clustering.</a:t>
            </a:r>
          </a:p>
        </p:txBody>
      </p:sp>
    </p:spTree>
    <p:extLst>
      <p:ext uri="{BB962C8B-B14F-4D97-AF65-F5344CB8AC3E}">
        <p14:creationId xmlns:p14="http://schemas.microsoft.com/office/powerpoint/2010/main" val="1574859868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lock-564">
            <a:extLst>
              <a:ext uri="{FF2B5EF4-FFF2-40B4-BE49-F238E27FC236}">
                <a16:creationId xmlns:a16="http://schemas.microsoft.com/office/drawing/2014/main" id="{74BBB4F1-89A0-4F48-9D80-17416058CD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65">
            <a:extLst>
              <a:ext uri="{FF2B5EF4-FFF2-40B4-BE49-F238E27FC236}">
                <a16:creationId xmlns:a16="http://schemas.microsoft.com/office/drawing/2014/main" id="{BAA19593-65D3-41EB-AABE-4DE8DDCC27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566">
            <a:extLst>
              <a:ext uri="{FF2B5EF4-FFF2-40B4-BE49-F238E27FC236}">
                <a16:creationId xmlns:a16="http://schemas.microsoft.com/office/drawing/2014/main" id="{C316A493-A388-4C2D-AA53-3257FDFF3BC9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567">
            <a:extLst>
              <a:ext uri="{FF2B5EF4-FFF2-40B4-BE49-F238E27FC236}">
                <a16:creationId xmlns:a16="http://schemas.microsoft.com/office/drawing/2014/main" id="{DBDF47FC-16FB-4AEB-9C9A-6BB23D57DC5D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568">
            <a:extLst>
              <a:ext uri="{FF2B5EF4-FFF2-40B4-BE49-F238E27FC236}">
                <a16:creationId xmlns:a16="http://schemas.microsoft.com/office/drawing/2014/main" id="{B6593B32-8802-4CAA-90F7-358592B831C2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569">
            <a:extLst>
              <a:ext uri="{FF2B5EF4-FFF2-40B4-BE49-F238E27FC236}">
                <a16:creationId xmlns:a16="http://schemas.microsoft.com/office/drawing/2014/main" id="{AFD9062D-561B-4106-AB1F-9989260E874E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570">
            <a:extLst>
              <a:ext uri="{FF2B5EF4-FFF2-40B4-BE49-F238E27FC236}">
                <a16:creationId xmlns:a16="http://schemas.microsoft.com/office/drawing/2014/main" id="{571BA3F8-CE64-44C6-B691-78731F2F3231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571">
            <a:extLst>
              <a:ext uri="{FF2B5EF4-FFF2-40B4-BE49-F238E27FC236}">
                <a16:creationId xmlns:a16="http://schemas.microsoft.com/office/drawing/2014/main" id="{0917C243-1C7D-4B50-B2B2-F8642AF76515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572">
            <a:extLst>
              <a:ext uri="{FF2B5EF4-FFF2-40B4-BE49-F238E27FC236}">
                <a16:creationId xmlns:a16="http://schemas.microsoft.com/office/drawing/2014/main" id="{DE4BB9DE-81F9-40AB-B937-F0FA49997F9E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573">
            <a:extLst>
              <a:ext uri="{FF2B5EF4-FFF2-40B4-BE49-F238E27FC236}">
                <a16:creationId xmlns:a16="http://schemas.microsoft.com/office/drawing/2014/main" id="{77DD015F-C0FC-4D55-A6AB-6938DDCCD625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574">
            <a:extLst>
              <a:ext uri="{FF2B5EF4-FFF2-40B4-BE49-F238E27FC236}">
                <a16:creationId xmlns:a16="http://schemas.microsoft.com/office/drawing/2014/main" id="{C39FDF5F-5C9D-436D-8727-C38913C3A866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What can we take away from the project?</a:t>
            </a:r>
          </a:p>
        </p:txBody>
      </p:sp>
      <p:sp>
        <p:nvSpPr>
          <p:cNvPr id="12" name="text-575">
            <a:extLst>
              <a:ext uri="{FF2B5EF4-FFF2-40B4-BE49-F238E27FC236}">
                <a16:creationId xmlns:a16="http://schemas.microsoft.com/office/drawing/2014/main" id="{3614DE15-F05D-4B5C-861B-71853919E7FE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The results answer different questions—not one single “accuracy” question</a:t>
            </a:r>
          </a:p>
        </p:txBody>
      </p:sp>
      <p:sp>
        <p:nvSpPr>
          <p:cNvPr id="13" name="text-576">
            <a:extLst>
              <a:ext uri="{FF2B5EF4-FFF2-40B4-BE49-F238E27FC236}">
                <a16:creationId xmlns:a16="http://schemas.microsoft.com/office/drawing/2014/main" id="{1DAD6511-E551-4260-BF6A-C7B6F44C8F8D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577">
            <a:extLst>
              <a:ext uri="{FF2B5EF4-FFF2-40B4-BE49-F238E27FC236}">
                <a16:creationId xmlns:a16="http://schemas.microsoft.com/office/drawing/2014/main" id="{15D571F0-B69D-40D6-A3DB-D4FF761F14F5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23 / 24</a:t>
            </a:r>
          </a:p>
        </p:txBody>
      </p:sp>
      <p:sp>
        <p:nvSpPr>
          <p:cNvPr id="15" name="text-578">
            <a:extLst>
              <a:ext uri="{FF2B5EF4-FFF2-40B4-BE49-F238E27FC236}">
                <a16:creationId xmlns:a16="http://schemas.microsoft.com/office/drawing/2014/main" id="{8B402777-1E6E-478A-B955-B79AD1BB98A3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3759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Statistical tests</a:t>
            </a:r>
          </a:p>
        </p:txBody>
      </p:sp>
      <p:sp>
        <p:nvSpPr>
          <p:cNvPr id="16" name="text-579">
            <a:extLst>
              <a:ext uri="{FF2B5EF4-FFF2-40B4-BE49-F238E27FC236}">
                <a16:creationId xmlns:a16="http://schemas.microsoft.com/office/drawing/2014/main" id="{34CFF252-2771-4252-ACA2-4DB3113389DC}"/>
              </a:ext>
            </a:extLst>
          </p:cNvPr>
          <p:cNvSpPr>
            <a:spLocks noGrp="1"/>
          </p:cNvSpPr>
          <p:nvPr/>
        </p:nvSpPr>
        <p:spPr>
          <a:xfrm>
            <a:off x="5080000" y="2324100"/>
            <a:ext cx="102489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Charges differed from our $10,000 benchmark and between smoking groups.</a:t>
            </a:r>
          </a:p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We did not find clear evidence that smoking rates differed by dependents.</a:t>
            </a:r>
          </a:p>
        </p:txBody>
      </p:sp>
      <p:sp>
        <p:nvSpPr>
          <p:cNvPr id="17" name="block-580">
            <a:extLst>
              <a:ext uri="{FF2B5EF4-FFF2-40B4-BE49-F238E27FC236}">
                <a16:creationId xmlns:a16="http://schemas.microsoft.com/office/drawing/2014/main" id="{303FC2DA-6BD1-4575-AAB6-C574D5C477B4}"/>
              </a:ext>
            </a:extLst>
          </p:cNvPr>
          <p:cNvSpPr>
            <a:spLocks noGrp="1"/>
          </p:cNvSpPr>
          <p:nvPr/>
        </p:nvSpPr>
        <p:spPr>
          <a:xfrm>
            <a:off x="5080000" y="3759200"/>
            <a:ext cx="10083800" cy="12700"/>
          </a:xfrm>
          <a:prstGeom prst="rect">
            <a:avLst/>
          </a:prstGeom>
          <a:solidFill>
            <a:srgbClr val="D5DD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581">
            <a:extLst>
              <a:ext uri="{FF2B5EF4-FFF2-40B4-BE49-F238E27FC236}">
                <a16:creationId xmlns:a16="http://schemas.microsoft.com/office/drawing/2014/main" id="{3DB54CF4-C299-4084-8E9A-2F5B7F65523C}"/>
              </a:ext>
            </a:extLst>
          </p:cNvPr>
          <p:cNvSpPr>
            <a:spLocks noGrp="1"/>
          </p:cNvSpPr>
          <p:nvPr/>
        </p:nvSpPr>
        <p:spPr>
          <a:xfrm>
            <a:off x="800100" y="4013200"/>
            <a:ext cx="3759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19" name="text-582">
            <a:extLst>
              <a:ext uri="{FF2B5EF4-FFF2-40B4-BE49-F238E27FC236}">
                <a16:creationId xmlns:a16="http://schemas.microsoft.com/office/drawing/2014/main" id="{7345F3AC-4095-4A85-878A-470F56426B33}"/>
              </a:ext>
            </a:extLst>
          </p:cNvPr>
          <p:cNvSpPr>
            <a:spLocks noGrp="1"/>
          </p:cNvSpPr>
          <p:nvPr/>
        </p:nvSpPr>
        <p:spPr>
          <a:xfrm>
            <a:off x="5080000" y="4013200"/>
            <a:ext cx="102489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Both classifiers got 261 of 268 test cases right.</a:t>
            </a:r>
          </a:p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Charge estimates still had sizeable errors, averaging about $4,192.</a:t>
            </a:r>
          </a:p>
        </p:txBody>
      </p:sp>
      <p:sp>
        <p:nvSpPr>
          <p:cNvPr id="20" name="block-583">
            <a:extLst>
              <a:ext uri="{FF2B5EF4-FFF2-40B4-BE49-F238E27FC236}">
                <a16:creationId xmlns:a16="http://schemas.microsoft.com/office/drawing/2014/main" id="{A80931D5-2065-4076-937D-AC8152F18EAE}"/>
              </a:ext>
            </a:extLst>
          </p:cNvPr>
          <p:cNvSpPr>
            <a:spLocks noGrp="1"/>
          </p:cNvSpPr>
          <p:nvPr/>
        </p:nvSpPr>
        <p:spPr>
          <a:xfrm>
            <a:off x="5080000" y="5448300"/>
            <a:ext cx="10083800" cy="12700"/>
          </a:xfrm>
          <a:prstGeom prst="rect">
            <a:avLst/>
          </a:prstGeom>
          <a:solidFill>
            <a:srgbClr val="D5DDE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-584">
            <a:extLst>
              <a:ext uri="{FF2B5EF4-FFF2-40B4-BE49-F238E27FC236}">
                <a16:creationId xmlns:a16="http://schemas.microsoft.com/office/drawing/2014/main" id="{1BF48A38-084C-49EE-AF0D-60D989CF227E}"/>
              </a:ext>
            </a:extLst>
          </p:cNvPr>
          <p:cNvSpPr>
            <a:spLocks noGrp="1"/>
          </p:cNvSpPr>
          <p:nvPr/>
        </p:nvSpPr>
        <p:spPr>
          <a:xfrm>
            <a:off x="800100" y="5702300"/>
            <a:ext cx="37592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7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Grouping</a:t>
            </a:r>
          </a:p>
        </p:txBody>
      </p:sp>
      <p:sp>
        <p:nvSpPr>
          <p:cNvPr id="22" name="text-585">
            <a:extLst>
              <a:ext uri="{FF2B5EF4-FFF2-40B4-BE49-F238E27FC236}">
                <a16:creationId xmlns:a16="http://schemas.microsoft.com/office/drawing/2014/main" id="{A588F548-1F71-48BF-BABA-FCB823E52FC5}"/>
              </a:ext>
            </a:extLst>
          </p:cNvPr>
          <p:cNvSpPr>
            <a:spLocks noGrp="1"/>
          </p:cNvSpPr>
          <p:nvPr/>
        </p:nvSpPr>
        <p:spPr>
          <a:xfrm>
            <a:off x="5080000" y="5702300"/>
            <a:ext cx="102489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Three groups described age, BMI and charge patterns.</a:t>
            </a:r>
          </a:p>
          <a:p>
            <a:pPr algn="l">
              <a:defRPr sz="24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 groups overlap; they are not proven natural categories.</a:t>
            </a:r>
          </a:p>
        </p:txBody>
      </p:sp>
      <p:sp>
        <p:nvSpPr>
          <p:cNvPr id="23" name="block-586">
            <a:extLst>
              <a:ext uri="{FF2B5EF4-FFF2-40B4-BE49-F238E27FC236}">
                <a16:creationId xmlns:a16="http://schemas.microsoft.com/office/drawing/2014/main" id="{7BE08D84-A12B-42B7-9430-4784A03D2C34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block-587">
            <a:extLst>
              <a:ext uri="{FF2B5EF4-FFF2-40B4-BE49-F238E27FC236}">
                <a16:creationId xmlns:a16="http://schemas.microsoft.com/office/drawing/2014/main" id="{5D1E4FB5-1C2C-4BEC-844B-A39DA350B8D3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-588">
            <a:extLst>
              <a:ext uri="{FF2B5EF4-FFF2-40B4-BE49-F238E27FC236}">
                <a16:creationId xmlns:a16="http://schemas.microsoft.com/office/drawing/2014/main" id="{1CD216FF-61E8-4ABA-BAC5-2AFC06B6DE7C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FINAL MESSAGE</a:t>
            </a:r>
          </a:p>
        </p:txBody>
      </p:sp>
      <p:sp>
        <p:nvSpPr>
          <p:cNvPr id="26" name="text-589">
            <a:extLst>
              <a:ext uri="{FF2B5EF4-FFF2-40B4-BE49-F238E27FC236}">
                <a16:creationId xmlns:a16="http://schemas.microsoft.com/office/drawing/2014/main" id="{9A005B45-9352-4CA4-AC67-84273577266D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These methods help us understand this dataset. They do not prove causes or guarantee future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31361759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D294EF2-6C4D-4BAE-AD4D-2AF791295EBA}"/>
              </a:ext>
            </a:extLst>
          </p:cNvPr>
          <p:cNvCxnSpPr>
            <a:stCxn id="71" idx="2"/>
            <a:endCxn id="75" idx="0"/>
          </p:cNvCxnSpPr>
          <p:nvPr/>
        </p:nvCxnSpPr>
        <p:spPr>
          <a:xfrm>
            <a:off x="14655800" y="66167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C24CB3D2-C659-4935-8B2A-4B4DBDA7C9CD}"/>
              </a:ext>
            </a:extLst>
          </p:cNvPr>
          <p:cNvCxnSpPr>
            <a:stCxn id="71" idx="2"/>
            <a:endCxn id="73" idx="0"/>
          </p:cNvCxnSpPr>
          <p:nvPr/>
        </p:nvCxnSpPr>
        <p:spPr>
          <a:xfrm flipH="1">
            <a:off x="14185900" y="66167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6E29944-1861-4829-8698-2B9C743EC864}"/>
              </a:ext>
            </a:extLst>
          </p:cNvPr>
          <p:cNvCxnSpPr>
            <a:stCxn id="67" idx="2"/>
            <a:endCxn id="71" idx="0"/>
          </p:cNvCxnSpPr>
          <p:nvPr/>
        </p:nvCxnSpPr>
        <p:spPr>
          <a:xfrm>
            <a:off x="13950950" y="5676900"/>
            <a:ext cx="70485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97A22CF-AF34-46AB-95A5-249D6CA90C38}"/>
              </a:ext>
            </a:extLst>
          </p:cNvPr>
          <p:cNvCxnSpPr>
            <a:stCxn id="67" idx="2"/>
            <a:endCxn id="69" idx="0"/>
          </p:cNvCxnSpPr>
          <p:nvPr/>
        </p:nvCxnSpPr>
        <p:spPr>
          <a:xfrm flipH="1">
            <a:off x="13246100" y="5676900"/>
            <a:ext cx="70485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90A73036-FB3E-4D0F-8994-7F5DD6F8135D}"/>
              </a:ext>
            </a:extLst>
          </p:cNvPr>
          <p:cNvCxnSpPr>
            <a:stCxn id="61" idx="2"/>
            <a:endCxn id="65" idx="0"/>
          </p:cNvCxnSpPr>
          <p:nvPr/>
        </p:nvCxnSpPr>
        <p:spPr>
          <a:xfrm>
            <a:off x="11836400" y="56769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B8AF8B84-D55C-4F00-8671-5613B40D3425}"/>
              </a:ext>
            </a:extLst>
          </p:cNvPr>
          <p:cNvCxnSpPr>
            <a:stCxn id="61" idx="2"/>
            <a:endCxn id="63" idx="0"/>
          </p:cNvCxnSpPr>
          <p:nvPr/>
        </p:nvCxnSpPr>
        <p:spPr>
          <a:xfrm flipH="1">
            <a:off x="11366500" y="56769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1016897-419A-4007-84EB-75698079CFC3}"/>
              </a:ext>
            </a:extLst>
          </p:cNvPr>
          <p:cNvCxnSpPr>
            <a:stCxn id="59" idx="2"/>
            <a:endCxn id="67" idx="0"/>
          </p:cNvCxnSpPr>
          <p:nvPr/>
        </p:nvCxnSpPr>
        <p:spPr>
          <a:xfrm>
            <a:off x="12893675" y="4737100"/>
            <a:ext cx="1057275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86B097DD-CD33-4A8E-992E-FCC3CB70BBD7}"/>
              </a:ext>
            </a:extLst>
          </p:cNvPr>
          <p:cNvCxnSpPr>
            <a:stCxn id="59" idx="2"/>
            <a:endCxn id="61" idx="0"/>
          </p:cNvCxnSpPr>
          <p:nvPr/>
        </p:nvCxnSpPr>
        <p:spPr>
          <a:xfrm flipH="1">
            <a:off x="11836400" y="4737100"/>
            <a:ext cx="1057275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5631B49-B30D-4200-9A36-F2523537309B}"/>
              </a:ext>
            </a:extLst>
          </p:cNvPr>
          <p:cNvCxnSpPr>
            <a:stCxn id="51" idx="2"/>
            <a:endCxn id="55" idx="0"/>
          </p:cNvCxnSpPr>
          <p:nvPr/>
        </p:nvCxnSpPr>
        <p:spPr>
          <a:xfrm>
            <a:off x="9017000" y="66167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AAFB0F6-5649-4660-B8DD-B6BA841C4461}"/>
              </a:ext>
            </a:extLst>
          </p:cNvPr>
          <p:cNvCxnSpPr>
            <a:stCxn id="51" idx="2"/>
            <a:endCxn id="53" idx="0"/>
          </p:cNvCxnSpPr>
          <p:nvPr/>
        </p:nvCxnSpPr>
        <p:spPr>
          <a:xfrm flipH="1">
            <a:off x="8547100" y="66167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024D7C1-189D-4696-8930-EF775F4A7FB3}"/>
              </a:ext>
            </a:extLst>
          </p:cNvPr>
          <p:cNvCxnSpPr>
            <a:stCxn id="45" idx="2"/>
            <a:endCxn id="49" idx="0"/>
          </p:cNvCxnSpPr>
          <p:nvPr/>
        </p:nvCxnSpPr>
        <p:spPr>
          <a:xfrm>
            <a:off x="7137400" y="66167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BCF7746-658C-4B4E-A3B0-F9AC737C809B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 flipH="1">
            <a:off x="6667500" y="66167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A72A9BF-258D-4421-AA3E-BC2B3CDCA13E}"/>
              </a:ext>
            </a:extLst>
          </p:cNvPr>
          <p:cNvCxnSpPr>
            <a:stCxn id="43" idx="2"/>
            <a:endCxn id="51" idx="0"/>
          </p:cNvCxnSpPr>
          <p:nvPr/>
        </p:nvCxnSpPr>
        <p:spPr>
          <a:xfrm>
            <a:off x="8077200" y="5676900"/>
            <a:ext cx="9398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AA72A70-BA6F-44B6-8ABE-5F44D4E8C878}"/>
              </a:ext>
            </a:extLst>
          </p:cNvPr>
          <p:cNvCxnSpPr>
            <a:stCxn id="43" idx="2"/>
            <a:endCxn id="45" idx="0"/>
          </p:cNvCxnSpPr>
          <p:nvPr/>
        </p:nvCxnSpPr>
        <p:spPr>
          <a:xfrm flipH="1">
            <a:off x="7137400" y="5676900"/>
            <a:ext cx="9398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FAA07A3-71F9-46F2-87B8-77C3C840A2DB}"/>
              </a:ext>
            </a:extLst>
          </p:cNvPr>
          <p:cNvCxnSpPr>
            <a:stCxn id="41" idx="2"/>
            <a:endCxn id="57" idx="0"/>
          </p:cNvCxnSpPr>
          <p:nvPr/>
        </p:nvCxnSpPr>
        <p:spPr>
          <a:xfrm>
            <a:off x="9251950" y="4737100"/>
            <a:ext cx="117475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B712C17-ABBC-4FDC-ABE9-E1E7F0F4985C}"/>
              </a:ext>
            </a:extLst>
          </p:cNvPr>
          <p:cNvCxnSpPr>
            <a:stCxn id="41" idx="2"/>
            <a:endCxn id="43" idx="0"/>
          </p:cNvCxnSpPr>
          <p:nvPr/>
        </p:nvCxnSpPr>
        <p:spPr>
          <a:xfrm flipH="1">
            <a:off x="8077200" y="4737100"/>
            <a:ext cx="117475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214B5F5-6432-4333-AA47-39F8F1BC318E}"/>
              </a:ext>
            </a:extLst>
          </p:cNvPr>
          <p:cNvCxnSpPr>
            <a:stCxn id="39" idx="2"/>
            <a:endCxn id="59" idx="0"/>
          </p:cNvCxnSpPr>
          <p:nvPr/>
        </p:nvCxnSpPr>
        <p:spPr>
          <a:xfrm>
            <a:off x="11072812" y="3797300"/>
            <a:ext cx="1820863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C8EACAA-B6C0-4D00-95BA-9722D808C8FD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9251950" y="3797300"/>
            <a:ext cx="1820862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89BB9FC-EDEB-493E-AADB-B6BECF41CBFE}"/>
              </a:ext>
            </a:extLst>
          </p:cNvPr>
          <p:cNvCxnSpPr>
            <a:stCxn id="33" idx="2"/>
            <a:endCxn id="37" idx="0"/>
          </p:cNvCxnSpPr>
          <p:nvPr/>
        </p:nvCxnSpPr>
        <p:spPr>
          <a:xfrm>
            <a:off x="5257800" y="47371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DD7D24F-EEA3-4B4F-B017-BDE052C15C12}"/>
              </a:ext>
            </a:extLst>
          </p:cNvPr>
          <p:cNvCxnSpPr>
            <a:stCxn id="33" idx="2"/>
            <a:endCxn id="35" idx="0"/>
          </p:cNvCxnSpPr>
          <p:nvPr/>
        </p:nvCxnSpPr>
        <p:spPr>
          <a:xfrm flipH="1">
            <a:off x="4787900" y="47371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95787C5-3E6C-4430-B8B8-EC4D9982E9FB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>
            <a:off x="2438400" y="66167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F8BCE27-099E-4B77-8E99-CC03822B72B7}"/>
              </a:ext>
            </a:extLst>
          </p:cNvPr>
          <p:cNvCxnSpPr>
            <a:stCxn id="25" idx="2"/>
            <a:endCxn id="27" idx="0"/>
          </p:cNvCxnSpPr>
          <p:nvPr/>
        </p:nvCxnSpPr>
        <p:spPr>
          <a:xfrm flipH="1">
            <a:off x="1968500" y="6616700"/>
            <a:ext cx="46990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09C293A-E11C-497D-8393-52782BB30C49}"/>
              </a:ext>
            </a:extLst>
          </p:cNvPr>
          <p:cNvCxnSpPr>
            <a:stCxn id="21" idx="2"/>
            <a:endCxn id="25" idx="0"/>
          </p:cNvCxnSpPr>
          <p:nvPr/>
        </p:nvCxnSpPr>
        <p:spPr>
          <a:xfrm>
            <a:off x="1733550" y="5676900"/>
            <a:ext cx="70485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F725771-6DBA-40F8-8DBE-72A8CE1D9036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 flipH="1">
            <a:off x="1028700" y="5676900"/>
            <a:ext cx="704850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70DA709-2CEB-489F-8A32-E4E5598654F4}"/>
              </a:ext>
            </a:extLst>
          </p:cNvPr>
          <p:cNvCxnSpPr>
            <a:stCxn id="19" idx="2"/>
            <a:endCxn id="31" idx="0"/>
          </p:cNvCxnSpPr>
          <p:nvPr/>
        </p:nvCxnSpPr>
        <p:spPr>
          <a:xfrm>
            <a:off x="2790825" y="4737100"/>
            <a:ext cx="1057275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087106F-594D-45FE-A945-1FA4F4606891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flipH="1">
            <a:off x="1733550" y="4737100"/>
            <a:ext cx="1057275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B3C2580-3CAA-455F-9E12-AB0BE3176A40}"/>
              </a:ext>
            </a:extLst>
          </p:cNvPr>
          <p:cNvCxnSpPr>
            <a:stCxn id="17" idx="2"/>
            <a:endCxn id="33" idx="0"/>
          </p:cNvCxnSpPr>
          <p:nvPr/>
        </p:nvCxnSpPr>
        <p:spPr>
          <a:xfrm>
            <a:off x="4024312" y="3797300"/>
            <a:ext cx="1233488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04BB686-F387-48E7-B1B7-1862FABE8CC6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2790825" y="3797300"/>
            <a:ext cx="1233487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D658756-510C-495E-B006-CF1DB429F934}"/>
              </a:ext>
            </a:extLst>
          </p:cNvPr>
          <p:cNvCxnSpPr>
            <a:stCxn id="15" idx="2"/>
            <a:endCxn id="39" idx="0"/>
          </p:cNvCxnSpPr>
          <p:nvPr/>
        </p:nvCxnSpPr>
        <p:spPr>
          <a:xfrm>
            <a:off x="7548563" y="2857500"/>
            <a:ext cx="3524249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ECD5441-49E9-4582-8397-825A84A28FCB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4024312" y="2857500"/>
            <a:ext cx="3524251" cy="317500"/>
          </a:xfrm>
          <a:prstGeom prst="straightConnector1">
            <a:avLst/>
          </a:prstGeom>
          <a:ln w="8890">
            <a:solidFill>
              <a:srgbClr val="596975"/>
            </a:solidFill>
          </a:ln>
        </p:spPr>
      </p:cxnSp>
      <p:sp>
        <p:nvSpPr>
          <p:cNvPr id="141" name="block-590">
            <a:extLst>
              <a:ext uri="{FF2B5EF4-FFF2-40B4-BE49-F238E27FC236}">
                <a16:creationId xmlns:a16="http://schemas.microsoft.com/office/drawing/2014/main" id="{AB4E6A20-31E2-44A1-AC3B-D6E7C921F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-591">
            <a:extLst>
              <a:ext uri="{FF2B5EF4-FFF2-40B4-BE49-F238E27FC236}">
                <a16:creationId xmlns:a16="http://schemas.microsoft.com/office/drawing/2014/main" id="{AD52323C-5971-42F9-9EDE-FDDB8A7BB0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" name="block-592">
            <a:extLst>
              <a:ext uri="{FF2B5EF4-FFF2-40B4-BE49-F238E27FC236}">
                <a16:creationId xmlns:a16="http://schemas.microsoft.com/office/drawing/2014/main" id="{793AAC89-8795-47AF-A2B8-96897D7583A7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593">
            <a:extLst>
              <a:ext uri="{FF2B5EF4-FFF2-40B4-BE49-F238E27FC236}">
                <a16:creationId xmlns:a16="http://schemas.microsoft.com/office/drawing/2014/main" id="{5B2E7440-AB16-439F-9E07-FFD456A80B36}"/>
              </a:ext>
            </a:extLst>
          </p:cNvPr>
          <p:cNvSpPr>
            <a:spLocks noGrp="1"/>
          </p:cNvSpPr>
          <p:nvPr/>
        </p:nvSpPr>
        <p:spPr>
          <a:xfrm>
            <a:off x="32512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5" name="block-594">
            <a:extLst>
              <a:ext uri="{FF2B5EF4-FFF2-40B4-BE49-F238E27FC236}">
                <a16:creationId xmlns:a16="http://schemas.microsoft.com/office/drawing/2014/main" id="{576FA9EE-9F1C-4474-97D4-AAB3548DA622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-595">
            <a:extLst>
              <a:ext uri="{FF2B5EF4-FFF2-40B4-BE49-F238E27FC236}">
                <a16:creationId xmlns:a16="http://schemas.microsoft.com/office/drawing/2014/main" id="{CBB4EF94-BFBA-4F55-ABF8-6B758BB1BC49}"/>
              </a:ext>
            </a:extLst>
          </p:cNvPr>
          <p:cNvSpPr>
            <a:spLocks noGrp="1"/>
          </p:cNvSpPr>
          <p:nvPr/>
        </p:nvSpPr>
        <p:spPr>
          <a:xfrm>
            <a:off x="65024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7" name="block-596">
            <a:extLst>
              <a:ext uri="{FF2B5EF4-FFF2-40B4-BE49-F238E27FC236}">
                <a16:creationId xmlns:a16="http://schemas.microsoft.com/office/drawing/2014/main" id="{7A0EB7F0-7D94-4245-98E6-A6F2ADB1A33E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-597">
            <a:extLst>
              <a:ext uri="{FF2B5EF4-FFF2-40B4-BE49-F238E27FC236}">
                <a16:creationId xmlns:a16="http://schemas.microsoft.com/office/drawing/2014/main" id="{888DE5B7-23F9-4B4A-B103-F621AC053C20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TREES</a:t>
            </a:r>
          </a:p>
        </p:txBody>
      </p:sp>
      <p:sp>
        <p:nvSpPr>
          <p:cNvPr id="9" name="block-598">
            <a:extLst>
              <a:ext uri="{FF2B5EF4-FFF2-40B4-BE49-F238E27FC236}">
                <a16:creationId xmlns:a16="http://schemas.microsoft.com/office/drawing/2014/main" id="{4C675563-DCB5-4EC9-A8EC-E3724342F5F5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-599">
            <a:extLst>
              <a:ext uri="{FF2B5EF4-FFF2-40B4-BE49-F238E27FC236}">
                <a16:creationId xmlns:a16="http://schemas.microsoft.com/office/drawing/2014/main" id="{F3A93110-9B8D-426A-BD4D-D2FB231D91E1}"/>
              </a:ext>
            </a:extLst>
          </p:cNvPr>
          <p:cNvSpPr>
            <a:spLocks noGrp="1"/>
          </p:cNvSpPr>
          <p:nvPr/>
        </p:nvSpPr>
        <p:spPr>
          <a:xfrm>
            <a:off x="13004800" y="0"/>
            <a:ext cx="3251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11" name="text-600">
            <a:extLst>
              <a:ext uri="{FF2B5EF4-FFF2-40B4-BE49-F238E27FC236}">
                <a16:creationId xmlns:a16="http://schemas.microsoft.com/office/drawing/2014/main" id="{5AD1B103-8F4D-40E5-AB37-9406E6ED76C3}"/>
              </a:ext>
            </a:extLst>
          </p:cNvPr>
          <p:cNvSpPr>
            <a:spLocks noGrp="1"/>
          </p:cNvSpPr>
          <p:nvPr/>
        </p:nvSpPr>
        <p:spPr>
          <a:xfrm>
            <a:off x="660400" y="711200"/>
            <a:ext cx="14935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400" b="1">
                <a:solidFill>
                  <a:srgbClr val="1565A0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565A0"/>
                </a:solidFill>
                <a:latin typeface="Arial"/>
                <a:ea typeface="Arial"/>
                <a:cs typeface="Arial"/>
              </a:rPr>
              <a:t>Full decision tree — reference</a:t>
            </a:r>
          </a:p>
        </p:txBody>
      </p:sp>
      <p:sp>
        <p:nvSpPr>
          <p:cNvPr id="12" name="text-601">
            <a:extLst>
              <a:ext uri="{FF2B5EF4-FFF2-40B4-BE49-F238E27FC236}">
                <a16:creationId xmlns:a16="http://schemas.microsoft.com/office/drawing/2014/main" id="{4D1842D1-25B6-449E-8CC2-07BF53632257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4859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The complete fitted model · YES = smoker prediction · NO = non-smoker prediction</a:t>
            </a:r>
          </a:p>
        </p:txBody>
      </p:sp>
      <p:sp>
        <p:nvSpPr>
          <p:cNvPr id="13" name="text-602">
            <a:extLst>
              <a:ext uri="{FF2B5EF4-FFF2-40B4-BE49-F238E27FC236}">
                <a16:creationId xmlns:a16="http://schemas.microsoft.com/office/drawing/2014/main" id="{B4E8750B-89CF-4882-8E7A-4932798BA75F}"/>
              </a:ext>
            </a:extLst>
          </p:cNvPr>
          <p:cNvSpPr>
            <a:spLocks noGrp="1"/>
          </p:cNvSpPr>
          <p:nvPr/>
        </p:nvSpPr>
        <p:spPr>
          <a:xfrm>
            <a:off x="660400" y="8813800"/>
            <a:ext cx="12827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Talha Shahzad  ·  Keshav sarmoria</a:t>
            </a:r>
          </a:p>
        </p:txBody>
      </p:sp>
      <p:sp>
        <p:nvSpPr>
          <p:cNvPr id="14" name="text-603">
            <a:extLst>
              <a:ext uri="{FF2B5EF4-FFF2-40B4-BE49-F238E27FC236}">
                <a16:creationId xmlns:a16="http://schemas.microsoft.com/office/drawing/2014/main" id="{A4C75ADD-B9F4-48AB-ADB8-50B9BFA24D08}"/>
              </a:ext>
            </a:extLst>
          </p:cNvPr>
          <p:cNvSpPr>
            <a:spLocks noGrp="1"/>
          </p:cNvSpPr>
          <p:nvPr/>
        </p:nvSpPr>
        <p:spPr>
          <a:xfrm>
            <a:off x="14351000" y="8763000"/>
            <a:ext cx="1244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00" b="0">
                <a:solidFill>
                  <a:srgbClr val="5969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975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15" name="block-604">
            <a:extLst>
              <a:ext uri="{FF2B5EF4-FFF2-40B4-BE49-F238E27FC236}">
                <a16:creationId xmlns:a16="http://schemas.microsoft.com/office/drawing/2014/main" id="{BC1B83D3-018B-4AD8-9A1F-DECFE822FF2D}"/>
              </a:ext>
            </a:extLst>
          </p:cNvPr>
          <p:cNvSpPr>
            <a:spLocks noGrp="1"/>
          </p:cNvSpPr>
          <p:nvPr/>
        </p:nvSpPr>
        <p:spPr>
          <a:xfrm>
            <a:off x="7116763" y="2235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-605">
            <a:extLst>
              <a:ext uri="{FF2B5EF4-FFF2-40B4-BE49-F238E27FC236}">
                <a16:creationId xmlns:a16="http://schemas.microsoft.com/office/drawing/2014/main" id="{BCF5FDC0-6249-49FB-9080-366D9EAE99C0}"/>
              </a:ext>
            </a:extLst>
          </p:cNvPr>
          <p:cNvSpPr>
            <a:spLocks noGrp="1"/>
          </p:cNvSpPr>
          <p:nvPr/>
        </p:nvSpPr>
        <p:spPr>
          <a:xfrm>
            <a:off x="7142162" y="2273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Charges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$15,374</a:t>
            </a:r>
          </a:p>
        </p:txBody>
      </p:sp>
      <p:sp>
        <p:nvSpPr>
          <p:cNvPr id="17" name="block-606">
            <a:extLst>
              <a:ext uri="{FF2B5EF4-FFF2-40B4-BE49-F238E27FC236}">
                <a16:creationId xmlns:a16="http://schemas.microsoft.com/office/drawing/2014/main" id="{2CD4A79E-84DF-4C3E-9973-9AFF7FE069D6}"/>
              </a:ext>
            </a:extLst>
          </p:cNvPr>
          <p:cNvSpPr>
            <a:spLocks noGrp="1"/>
          </p:cNvSpPr>
          <p:nvPr/>
        </p:nvSpPr>
        <p:spPr>
          <a:xfrm>
            <a:off x="3592512" y="31750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-607">
            <a:extLst>
              <a:ext uri="{FF2B5EF4-FFF2-40B4-BE49-F238E27FC236}">
                <a16:creationId xmlns:a16="http://schemas.microsoft.com/office/drawing/2014/main" id="{412A278D-C7D9-4891-8C1D-07166D04E72C}"/>
              </a:ext>
            </a:extLst>
          </p:cNvPr>
          <p:cNvSpPr>
            <a:spLocks noGrp="1"/>
          </p:cNvSpPr>
          <p:nvPr/>
        </p:nvSpPr>
        <p:spPr>
          <a:xfrm>
            <a:off x="3617913" y="32131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Charges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$14,525</a:t>
            </a:r>
          </a:p>
        </p:txBody>
      </p:sp>
      <p:sp>
        <p:nvSpPr>
          <p:cNvPr id="19" name="block-608">
            <a:extLst>
              <a:ext uri="{FF2B5EF4-FFF2-40B4-BE49-F238E27FC236}">
                <a16:creationId xmlns:a16="http://schemas.microsoft.com/office/drawing/2014/main" id="{863E3367-B8E0-4396-85F5-06225AC01485}"/>
              </a:ext>
            </a:extLst>
          </p:cNvPr>
          <p:cNvSpPr>
            <a:spLocks noGrp="1"/>
          </p:cNvSpPr>
          <p:nvPr/>
        </p:nvSpPr>
        <p:spPr>
          <a:xfrm>
            <a:off x="2359025" y="41148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-609">
            <a:extLst>
              <a:ext uri="{FF2B5EF4-FFF2-40B4-BE49-F238E27FC236}">
                <a16:creationId xmlns:a16="http://schemas.microsoft.com/office/drawing/2014/main" id="{F3135777-8188-47AA-BDFB-B5515C1EA97B}"/>
              </a:ext>
            </a:extLst>
          </p:cNvPr>
          <p:cNvSpPr>
            <a:spLocks noGrp="1"/>
          </p:cNvSpPr>
          <p:nvPr/>
        </p:nvSpPr>
        <p:spPr>
          <a:xfrm>
            <a:off x="2384425" y="41529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BMI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21.73</a:t>
            </a:r>
          </a:p>
        </p:txBody>
      </p:sp>
      <p:sp>
        <p:nvSpPr>
          <p:cNvPr id="21" name="block-610">
            <a:extLst>
              <a:ext uri="{FF2B5EF4-FFF2-40B4-BE49-F238E27FC236}">
                <a16:creationId xmlns:a16="http://schemas.microsoft.com/office/drawing/2014/main" id="{2609DF83-754F-4DDF-9F18-4C1EB2C09E31}"/>
              </a:ext>
            </a:extLst>
          </p:cNvPr>
          <p:cNvSpPr>
            <a:spLocks noGrp="1"/>
          </p:cNvSpPr>
          <p:nvPr/>
        </p:nvSpPr>
        <p:spPr>
          <a:xfrm>
            <a:off x="1301750" y="50546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-611">
            <a:extLst>
              <a:ext uri="{FF2B5EF4-FFF2-40B4-BE49-F238E27FC236}">
                <a16:creationId xmlns:a16="http://schemas.microsoft.com/office/drawing/2014/main" id="{42E0202E-7B18-484E-82B1-9CA4D16FCFA6}"/>
              </a:ext>
            </a:extLst>
          </p:cNvPr>
          <p:cNvSpPr>
            <a:spLocks noGrp="1"/>
          </p:cNvSpPr>
          <p:nvPr/>
        </p:nvSpPr>
        <p:spPr>
          <a:xfrm>
            <a:off x="1327150" y="50927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Charges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$11,922</a:t>
            </a:r>
          </a:p>
        </p:txBody>
      </p:sp>
      <p:sp>
        <p:nvSpPr>
          <p:cNvPr id="23" name="block-612">
            <a:extLst>
              <a:ext uri="{FF2B5EF4-FFF2-40B4-BE49-F238E27FC236}">
                <a16:creationId xmlns:a16="http://schemas.microsoft.com/office/drawing/2014/main" id="{DB00A71C-A662-4B6B-AD36-0F36D52ED6B6}"/>
              </a:ext>
            </a:extLst>
          </p:cNvPr>
          <p:cNvSpPr>
            <a:spLocks noGrp="1"/>
          </p:cNvSpPr>
          <p:nvPr/>
        </p:nvSpPr>
        <p:spPr>
          <a:xfrm>
            <a:off x="596900" y="59944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-613">
            <a:extLst>
              <a:ext uri="{FF2B5EF4-FFF2-40B4-BE49-F238E27FC236}">
                <a16:creationId xmlns:a16="http://schemas.microsoft.com/office/drawing/2014/main" id="{B684AA9C-9DDE-465F-AA11-48A6C7C48AA4}"/>
              </a:ext>
            </a:extLst>
          </p:cNvPr>
          <p:cNvSpPr>
            <a:spLocks noGrp="1"/>
          </p:cNvSpPr>
          <p:nvPr/>
        </p:nvSpPr>
        <p:spPr>
          <a:xfrm>
            <a:off x="622300" y="60325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5" name="block-614">
            <a:extLst>
              <a:ext uri="{FF2B5EF4-FFF2-40B4-BE49-F238E27FC236}">
                <a16:creationId xmlns:a16="http://schemas.microsoft.com/office/drawing/2014/main" id="{C5B6D636-ED13-48DD-AC37-04AD84352F2F}"/>
              </a:ext>
            </a:extLst>
          </p:cNvPr>
          <p:cNvSpPr>
            <a:spLocks noGrp="1"/>
          </p:cNvSpPr>
          <p:nvPr/>
        </p:nvSpPr>
        <p:spPr>
          <a:xfrm>
            <a:off x="2006600" y="59944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-615">
            <a:extLst>
              <a:ext uri="{FF2B5EF4-FFF2-40B4-BE49-F238E27FC236}">
                <a16:creationId xmlns:a16="http://schemas.microsoft.com/office/drawing/2014/main" id="{3304F0AB-2D80-4E2B-B7B3-DA89D4C28380}"/>
              </a:ext>
            </a:extLst>
          </p:cNvPr>
          <p:cNvSpPr>
            <a:spLocks noGrp="1"/>
          </p:cNvSpPr>
          <p:nvPr/>
        </p:nvSpPr>
        <p:spPr>
          <a:xfrm>
            <a:off x="2032000" y="60325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40.50</a:t>
            </a:r>
          </a:p>
        </p:txBody>
      </p:sp>
      <p:sp>
        <p:nvSpPr>
          <p:cNvPr id="27" name="block-616">
            <a:extLst>
              <a:ext uri="{FF2B5EF4-FFF2-40B4-BE49-F238E27FC236}">
                <a16:creationId xmlns:a16="http://schemas.microsoft.com/office/drawing/2014/main" id="{EDCA4FBA-1CBF-4BB1-8A03-97CB9340C455}"/>
              </a:ext>
            </a:extLst>
          </p:cNvPr>
          <p:cNvSpPr>
            <a:spLocks noGrp="1"/>
          </p:cNvSpPr>
          <p:nvPr/>
        </p:nvSpPr>
        <p:spPr>
          <a:xfrm>
            <a:off x="1536700" y="6934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-617">
            <a:extLst>
              <a:ext uri="{FF2B5EF4-FFF2-40B4-BE49-F238E27FC236}">
                <a16:creationId xmlns:a16="http://schemas.microsoft.com/office/drawing/2014/main" id="{FB0277D2-E176-4FC7-9254-D132F36D9884}"/>
              </a:ext>
            </a:extLst>
          </p:cNvPr>
          <p:cNvSpPr>
            <a:spLocks noGrp="1"/>
          </p:cNvSpPr>
          <p:nvPr/>
        </p:nvSpPr>
        <p:spPr>
          <a:xfrm>
            <a:off x="1562100" y="6972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29" name="block-618">
            <a:extLst>
              <a:ext uri="{FF2B5EF4-FFF2-40B4-BE49-F238E27FC236}">
                <a16:creationId xmlns:a16="http://schemas.microsoft.com/office/drawing/2014/main" id="{F1FE8BD3-6A4B-43C2-AE34-E5740896C69F}"/>
              </a:ext>
            </a:extLst>
          </p:cNvPr>
          <p:cNvSpPr>
            <a:spLocks noGrp="1"/>
          </p:cNvSpPr>
          <p:nvPr/>
        </p:nvSpPr>
        <p:spPr>
          <a:xfrm>
            <a:off x="2476500" y="6934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-619">
            <a:extLst>
              <a:ext uri="{FF2B5EF4-FFF2-40B4-BE49-F238E27FC236}">
                <a16:creationId xmlns:a16="http://schemas.microsoft.com/office/drawing/2014/main" id="{DCF3FB8C-8679-4268-81B6-53B76A80CA86}"/>
              </a:ext>
            </a:extLst>
          </p:cNvPr>
          <p:cNvSpPr>
            <a:spLocks noGrp="1"/>
          </p:cNvSpPr>
          <p:nvPr/>
        </p:nvSpPr>
        <p:spPr>
          <a:xfrm>
            <a:off x="2501900" y="6972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1" name="block-620">
            <a:extLst>
              <a:ext uri="{FF2B5EF4-FFF2-40B4-BE49-F238E27FC236}">
                <a16:creationId xmlns:a16="http://schemas.microsoft.com/office/drawing/2014/main" id="{59F253FA-F896-4532-BABD-B96A052A5D87}"/>
              </a:ext>
            </a:extLst>
          </p:cNvPr>
          <p:cNvSpPr>
            <a:spLocks noGrp="1"/>
          </p:cNvSpPr>
          <p:nvPr/>
        </p:nvSpPr>
        <p:spPr>
          <a:xfrm>
            <a:off x="3416300" y="50546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-621">
            <a:extLst>
              <a:ext uri="{FF2B5EF4-FFF2-40B4-BE49-F238E27FC236}">
                <a16:creationId xmlns:a16="http://schemas.microsoft.com/office/drawing/2014/main" id="{45157D7D-00A5-448B-B33E-20EEA67ACA54}"/>
              </a:ext>
            </a:extLst>
          </p:cNvPr>
          <p:cNvSpPr>
            <a:spLocks noGrp="1"/>
          </p:cNvSpPr>
          <p:nvPr/>
        </p:nvSpPr>
        <p:spPr>
          <a:xfrm>
            <a:off x="3441700" y="50927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3" name="block-622">
            <a:extLst>
              <a:ext uri="{FF2B5EF4-FFF2-40B4-BE49-F238E27FC236}">
                <a16:creationId xmlns:a16="http://schemas.microsoft.com/office/drawing/2014/main" id="{FFE949F8-7BC2-426B-A6B1-F2894CC5888A}"/>
              </a:ext>
            </a:extLst>
          </p:cNvPr>
          <p:cNvSpPr>
            <a:spLocks noGrp="1"/>
          </p:cNvSpPr>
          <p:nvPr/>
        </p:nvSpPr>
        <p:spPr>
          <a:xfrm>
            <a:off x="4826000" y="41148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-623">
            <a:extLst>
              <a:ext uri="{FF2B5EF4-FFF2-40B4-BE49-F238E27FC236}">
                <a16:creationId xmlns:a16="http://schemas.microsoft.com/office/drawing/2014/main" id="{D3700717-617A-459E-944E-F2A5A988AAC2}"/>
              </a:ext>
            </a:extLst>
          </p:cNvPr>
          <p:cNvSpPr>
            <a:spLocks noGrp="1"/>
          </p:cNvSpPr>
          <p:nvPr/>
        </p:nvSpPr>
        <p:spPr>
          <a:xfrm>
            <a:off x="4851400" y="41529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43.00</a:t>
            </a:r>
          </a:p>
        </p:txBody>
      </p:sp>
      <p:sp>
        <p:nvSpPr>
          <p:cNvPr id="35" name="block-624">
            <a:extLst>
              <a:ext uri="{FF2B5EF4-FFF2-40B4-BE49-F238E27FC236}">
                <a16:creationId xmlns:a16="http://schemas.microsoft.com/office/drawing/2014/main" id="{D56BE7F4-6ED9-4EF2-89AA-CE3D26B4256B}"/>
              </a:ext>
            </a:extLst>
          </p:cNvPr>
          <p:cNvSpPr>
            <a:spLocks noGrp="1"/>
          </p:cNvSpPr>
          <p:nvPr/>
        </p:nvSpPr>
        <p:spPr>
          <a:xfrm>
            <a:off x="4356100" y="50546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-625">
            <a:extLst>
              <a:ext uri="{FF2B5EF4-FFF2-40B4-BE49-F238E27FC236}">
                <a16:creationId xmlns:a16="http://schemas.microsoft.com/office/drawing/2014/main" id="{04842E25-7DEA-4EBB-B1C7-0C741A003E22}"/>
              </a:ext>
            </a:extLst>
          </p:cNvPr>
          <p:cNvSpPr>
            <a:spLocks noGrp="1"/>
          </p:cNvSpPr>
          <p:nvPr/>
        </p:nvSpPr>
        <p:spPr>
          <a:xfrm>
            <a:off x="4381500" y="50927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37" name="block-626">
            <a:extLst>
              <a:ext uri="{FF2B5EF4-FFF2-40B4-BE49-F238E27FC236}">
                <a16:creationId xmlns:a16="http://schemas.microsoft.com/office/drawing/2014/main" id="{C76D316D-96B4-48BD-AFBC-67FF56CB3C3E}"/>
              </a:ext>
            </a:extLst>
          </p:cNvPr>
          <p:cNvSpPr>
            <a:spLocks noGrp="1"/>
          </p:cNvSpPr>
          <p:nvPr/>
        </p:nvSpPr>
        <p:spPr>
          <a:xfrm>
            <a:off x="5295900" y="50546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-627">
            <a:extLst>
              <a:ext uri="{FF2B5EF4-FFF2-40B4-BE49-F238E27FC236}">
                <a16:creationId xmlns:a16="http://schemas.microsoft.com/office/drawing/2014/main" id="{A068CD1E-2911-41E3-A5F2-140CC6322ACC}"/>
              </a:ext>
            </a:extLst>
          </p:cNvPr>
          <p:cNvSpPr>
            <a:spLocks noGrp="1"/>
          </p:cNvSpPr>
          <p:nvPr/>
        </p:nvSpPr>
        <p:spPr>
          <a:xfrm>
            <a:off x="5321300" y="50927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9" name="block-628">
            <a:extLst>
              <a:ext uri="{FF2B5EF4-FFF2-40B4-BE49-F238E27FC236}">
                <a16:creationId xmlns:a16="http://schemas.microsoft.com/office/drawing/2014/main" id="{7F3646DD-C3FA-47E9-B0DD-06ABF3977AC2}"/>
              </a:ext>
            </a:extLst>
          </p:cNvPr>
          <p:cNvSpPr>
            <a:spLocks noGrp="1"/>
          </p:cNvSpPr>
          <p:nvPr/>
        </p:nvSpPr>
        <p:spPr>
          <a:xfrm>
            <a:off x="10641012" y="31750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-629">
            <a:extLst>
              <a:ext uri="{FF2B5EF4-FFF2-40B4-BE49-F238E27FC236}">
                <a16:creationId xmlns:a16="http://schemas.microsoft.com/office/drawing/2014/main" id="{E648FE1D-C11B-48AD-B468-916437ECEF4F}"/>
              </a:ext>
            </a:extLst>
          </p:cNvPr>
          <p:cNvSpPr>
            <a:spLocks noGrp="1"/>
          </p:cNvSpPr>
          <p:nvPr/>
        </p:nvSpPr>
        <p:spPr>
          <a:xfrm>
            <a:off x="10666413" y="32131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Charges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$33,602</a:t>
            </a:r>
          </a:p>
        </p:txBody>
      </p:sp>
      <p:sp>
        <p:nvSpPr>
          <p:cNvPr id="41" name="block-630">
            <a:extLst>
              <a:ext uri="{FF2B5EF4-FFF2-40B4-BE49-F238E27FC236}">
                <a16:creationId xmlns:a16="http://schemas.microsoft.com/office/drawing/2014/main" id="{06720BCE-6FBC-492B-BF14-347BAFC4067B}"/>
              </a:ext>
            </a:extLst>
          </p:cNvPr>
          <p:cNvSpPr>
            <a:spLocks noGrp="1"/>
          </p:cNvSpPr>
          <p:nvPr/>
        </p:nvSpPr>
        <p:spPr>
          <a:xfrm>
            <a:off x="8820150" y="41148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-631">
            <a:extLst>
              <a:ext uri="{FF2B5EF4-FFF2-40B4-BE49-F238E27FC236}">
                <a16:creationId xmlns:a16="http://schemas.microsoft.com/office/drawing/2014/main" id="{6F1FE317-12DF-4FCF-AB30-3CEFE2C128B4}"/>
              </a:ext>
            </a:extLst>
          </p:cNvPr>
          <p:cNvSpPr>
            <a:spLocks noGrp="1"/>
          </p:cNvSpPr>
          <p:nvPr/>
        </p:nvSpPr>
        <p:spPr>
          <a:xfrm>
            <a:off x="8845550" y="41529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BMI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30.07</a:t>
            </a:r>
          </a:p>
        </p:txBody>
      </p:sp>
      <p:sp>
        <p:nvSpPr>
          <p:cNvPr id="43" name="block-632">
            <a:extLst>
              <a:ext uri="{FF2B5EF4-FFF2-40B4-BE49-F238E27FC236}">
                <a16:creationId xmlns:a16="http://schemas.microsoft.com/office/drawing/2014/main" id="{C501B611-1AFB-4E01-BB20-508DC9306775}"/>
              </a:ext>
            </a:extLst>
          </p:cNvPr>
          <p:cNvSpPr>
            <a:spLocks noGrp="1"/>
          </p:cNvSpPr>
          <p:nvPr/>
        </p:nvSpPr>
        <p:spPr>
          <a:xfrm>
            <a:off x="7645400" y="50546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-633">
            <a:extLst>
              <a:ext uri="{FF2B5EF4-FFF2-40B4-BE49-F238E27FC236}">
                <a16:creationId xmlns:a16="http://schemas.microsoft.com/office/drawing/2014/main" id="{AEF21412-8C2A-4B0F-97AC-8462A1579325}"/>
              </a:ext>
            </a:extLst>
          </p:cNvPr>
          <p:cNvSpPr>
            <a:spLocks noGrp="1"/>
          </p:cNvSpPr>
          <p:nvPr/>
        </p:nvSpPr>
        <p:spPr>
          <a:xfrm>
            <a:off x="7670800" y="50927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Charges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$21,982</a:t>
            </a:r>
          </a:p>
        </p:txBody>
      </p:sp>
      <p:sp>
        <p:nvSpPr>
          <p:cNvPr id="45" name="block-634">
            <a:extLst>
              <a:ext uri="{FF2B5EF4-FFF2-40B4-BE49-F238E27FC236}">
                <a16:creationId xmlns:a16="http://schemas.microsoft.com/office/drawing/2014/main" id="{EBA974AB-334F-4497-9828-36F2CEB4FF7E}"/>
              </a:ext>
            </a:extLst>
          </p:cNvPr>
          <p:cNvSpPr>
            <a:spLocks noGrp="1"/>
          </p:cNvSpPr>
          <p:nvPr/>
        </p:nvSpPr>
        <p:spPr>
          <a:xfrm>
            <a:off x="6705600" y="59944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-635">
            <a:extLst>
              <a:ext uri="{FF2B5EF4-FFF2-40B4-BE49-F238E27FC236}">
                <a16:creationId xmlns:a16="http://schemas.microsoft.com/office/drawing/2014/main" id="{965B2A33-06BF-45E6-8869-68C87245743B}"/>
              </a:ext>
            </a:extLst>
          </p:cNvPr>
          <p:cNvSpPr>
            <a:spLocks noGrp="1"/>
          </p:cNvSpPr>
          <p:nvPr/>
        </p:nvSpPr>
        <p:spPr>
          <a:xfrm>
            <a:off x="6731000" y="60325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BMI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29.22</a:t>
            </a:r>
          </a:p>
        </p:txBody>
      </p:sp>
      <p:sp>
        <p:nvSpPr>
          <p:cNvPr id="47" name="block-636">
            <a:extLst>
              <a:ext uri="{FF2B5EF4-FFF2-40B4-BE49-F238E27FC236}">
                <a16:creationId xmlns:a16="http://schemas.microsoft.com/office/drawing/2014/main" id="{96CB54C2-D908-4DE0-9196-44BE07B9BDFC}"/>
              </a:ext>
            </a:extLst>
          </p:cNvPr>
          <p:cNvSpPr>
            <a:spLocks noGrp="1"/>
          </p:cNvSpPr>
          <p:nvPr/>
        </p:nvSpPr>
        <p:spPr>
          <a:xfrm>
            <a:off x="6235700" y="6934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-637">
            <a:extLst>
              <a:ext uri="{FF2B5EF4-FFF2-40B4-BE49-F238E27FC236}">
                <a16:creationId xmlns:a16="http://schemas.microsoft.com/office/drawing/2014/main" id="{67186F4B-216C-4CC5-BED4-94F2C7E68E33}"/>
              </a:ext>
            </a:extLst>
          </p:cNvPr>
          <p:cNvSpPr>
            <a:spLocks noGrp="1"/>
          </p:cNvSpPr>
          <p:nvPr/>
        </p:nvSpPr>
        <p:spPr>
          <a:xfrm>
            <a:off x="6261100" y="6972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49" name="block-638">
            <a:extLst>
              <a:ext uri="{FF2B5EF4-FFF2-40B4-BE49-F238E27FC236}">
                <a16:creationId xmlns:a16="http://schemas.microsoft.com/office/drawing/2014/main" id="{4F2A6304-DF1F-42AB-B407-BCE53E0DB97A}"/>
              </a:ext>
            </a:extLst>
          </p:cNvPr>
          <p:cNvSpPr>
            <a:spLocks noGrp="1"/>
          </p:cNvSpPr>
          <p:nvPr/>
        </p:nvSpPr>
        <p:spPr>
          <a:xfrm>
            <a:off x="7175500" y="6934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-639">
            <a:extLst>
              <a:ext uri="{FF2B5EF4-FFF2-40B4-BE49-F238E27FC236}">
                <a16:creationId xmlns:a16="http://schemas.microsoft.com/office/drawing/2014/main" id="{D9BFF35C-4574-4A00-A382-9795A8A484E6}"/>
              </a:ext>
            </a:extLst>
          </p:cNvPr>
          <p:cNvSpPr>
            <a:spLocks noGrp="1"/>
          </p:cNvSpPr>
          <p:nvPr/>
        </p:nvSpPr>
        <p:spPr>
          <a:xfrm>
            <a:off x="7200900" y="6972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51" name="block-640">
            <a:extLst>
              <a:ext uri="{FF2B5EF4-FFF2-40B4-BE49-F238E27FC236}">
                <a16:creationId xmlns:a16="http://schemas.microsoft.com/office/drawing/2014/main" id="{D6C42B6D-EDB6-49E7-A32D-65F8550A3292}"/>
              </a:ext>
            </a:extLst>
          </p:cNvPr>
          <p:cNvSpPr>
            <a:spLocks noGrp="1"/>
          </p:cNvSpPr>
          <p:nvPr/>
        </p:nvSpPr>
        <p:spPr>
          <a:xfrm>
            <a:off x="8585200" y="59944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-641">
            <a:extLst>
              <a:ext uri="{FF2B5EF4-FFF2-40B4-BE49-F238E27FC236}">
                <a16:creationId xmlns:a16="http://schemas.microsoft.com/office/drawing/2014/main" id="{169CEB2E-DC6D-4484-92A6-B105707FEF85}"/>
              </a:ext>
            </a:extLst>
          </p:cNvPr>
          <p:cNvSpPr>
            <a:spLocks noGrp="1"/>
          </p:cNvSpPr>
          <p:nvPr/>
        </p:nvSpPr>
        <p:spPr>
          <a:xfrm>
            <a:off x="8610600" y="60325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46.50</a:t>
            </a:r>
          </a:p>
        </p:txBody>
      </p:sp>
      <p:sp>
        <p:nvSpPr>
          <p:cNvPr id="53" name="block-642">
            <a:extLst>
              <a:ext uri="{FF2B5EF4-FFF2-40B4-BE49-F238E27FC236}">
                <a16:creationId xmlns:a16="http://schemas.microsoft.com/office/drawing/2014/main" id="{13928A8C-73A0-4767-81A6-DD6F99220165}"/>
              </a:ext>
            </a:extLst>
          </p:cNvPr>
          <p:cNvSpPr>
            <a:spLocks noGrp="1"/>
          </p:cNvSpPr>
          <p:nvPr/>
        </p:nvSpPr>
        <p:spPr>
          <a:xfrm>
            <a:off x="8115300" y="6934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-643">
            <a:extLst>
              <a:ext uri="{FF2B5EF4-FFF2-40B4-BE49-F238E27FC236}">
                <a16:creationId xmlns:a16="http://schemas.microsoft.com/office/drawing/2014/main" id="{D3AD70BD-C7DB-4D3F-A0FB-983252F6D6EB}"/>
              </a:ext>
            </a:extLst>
          </p:cNvPr>
          <p:cNvSpPr>
            <a:spLocks noGrp="1"/>
          </p:cNvSpPr>
          <p:nvPr/>
        </p:nvSpPr>
        <p:spPr>
          <a:xfrm>
            <a:off x="8140700" y="6972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55" name="block-644">
            <a:extLst>
              <a:ext uri="{FF2B5EF4-FFF2-40B4-BE49-F238E27FC236}">
                <a16:creationId xmlns:a16="http://schemas.microsoft.com/office/drawing/2014/main" id="{06095BF2-CC74-48DD-89BD-B4A54A4A5175}"/>
              </a:ext>
            </a:extLst>
          </p:cNvPr>
          <p:cNvSpPr>
            <a:spLocks noGrp="1"/>
          </p:cNvSpPr>
          <p:nvPr/>
        </p:nvSpPr>
        <p:spPr>
          <a:xfrm>
            <a:off x="9055100" y="6934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-645">
            <a:extLst>
              <a:ext uri="{FF2B5EF4-FFF2-40B4-BE49-F238E27FC236}">
                <a16:creationId xmlns:a16="http://schemas.microsoft.com/office/drawing/2014/main" id="{AF96BEDB-8A4E-4E6E-BE62-5D0FD75ECB06}"/>
              </a:ext>
            </a:extLst>
          </p:cNvPr>
          <p:cNvSpPr>
            <a:spLocks noGrp="1"/>
          </p:cNvSpPr>
          <p:nvPr/>
        </p:nvSpPr>
        <p:spPr>
          <a:xfrm>
            <a:off x="9080500" y="6972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7" name="block-646">
            <a:extLst>
              <a:ext uri="{FF2B5EF4-FFF2-40B4-BE49-F238E27FC236}">
                <a16:creationId xmlns:a16="http://schemas.microsoft.com/office/drawing/2014/main" id="{52941285-0A2D-4489-A019-8B78D428880F}"/>
              </a:ext>
            </a:extLst>
          </p:cNvPr>
          <p:cNvSpPr>
            <a:spLocks noGrp="1"/>
          </p:cNvSpPr>
          <p:nvPr/>
        </p:nvSpPr>
        <p:spPr>
          <a:xfrm>
            <a:off x="9994900" y="50546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-647">
            <a:extLst>
              <a:ext uri="{FF2B5EF4-FFF2-40B4-BE49-F238E27FC236}">
                <a16:creationId xmlns:a16="http://schemas.microsoft.com/office/drawing/2014/main" id="{683FF6B3-02AC-4EE5-AC20-C6419AE8BDDB}"/>
              </a:ext>
            </a:extLst>
          </p:cNvPr>
          <p:cNvSpPr>
            <a:spLocks noGrp="1"/>
          </p:cNvSpPr>
          <p:nvPr/>
        </p:nvSpPr>
        <p:spPr>
          <a:xfrm>
            <a:off x="10020300" y="50927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59" name="block-648">
            <a:extLst>
              <a:ext uri="{FF2B5EF4-FFF2-40B4-BE49-F238E27FC236}">
                <a16:creationId xmlns:a16="http://schemas.microsoft.com/office/drawing/2014/main" id="{ABAF5A7D-3FE0-4E3C-AB90-A8C797C62C80}"/>
              </a:ext>
            </a:extLst>
          </p:cNvPr>
          <p:cNvSpPr>
            <a:spLocks noGrp="1"/>
          </p:cNvSpPr>
          <p:nvPr/>
        </p:nvSpPr>
        <p:spPr>
          <a:xfrm>
            <a:off x="12461875" y="41148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-649">
            <a:extLst>
              <a:ext uri="{FF2B5EF4-FFF2-40B4-BE49-F238E27FC236}">
                <a16:creationId xmlns:a16="http://schemas.microsoft.com/office/drawing/2014/main" id="{644BDC3B-8982-4EA5-AD9B-E092D8F72A54}"/>
              </a:ext>
            </a:extLst>
          </p:cNvPr>
          <p:cNvSpPr>
            <a:spLocks noGrp="1"/>
          </p:cNvSpPr>
          <p:nvPr/>
        </p:nvSpPr>
        <p:spPr>
          <a:xfrm>
            <a:off x="12487275" y="41529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BMI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27.65</a:t>
            </a:r>
          </a:p>
        </p:txBody>
      </p:sp>
      <p:sp>
        <p:nvSpPr>
          <p:cNvPr id="61" name="block-650">
            <a:extLst>
              <a:ext uri="{FF2B5EF4-FFF2-40B4-BE49-F238E27FC236}">
                <a16:creationId xmlns:a16="http://schemas.microsoft.com/office/drawing/2014/main" id="{B3FB419A-71F9-4677-8001-62DAF5D49542}"/>
              </a:ext>
            </a:extLst>
          </p:cNvPr>
          <p:cNvSpPr>
            <a:spLocks noGrp="1"/>
          </p:cNvSpPr>
          <p:nvPr/>
        </p:nvSpPr>
        <p:spPr>
          <a:xfrm>
            <a:off x="11404600" y="50546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-651">
            <a:extLst>
              <a:ext uri="{FF2B5EF4-FFF2-40B4-BE49-F238E27FC236}">
                <a16:creationId xmlns:a16="http://schemas.microsoft.com/office/drawing/2014/main" id="{AD787AE6-7680-4999-8D61-A99CDE57102A}"/>
              </a:ext>
            </a:extLst>
          </p:cNvPr>
          <p:cNvSpPr>
            <a:spLocks noGrp="1"/>
          </p:cNvSpPr>
          <p:nvPr/>
        </p:nvSpPr>
        <p:spPr>
          <a:xfrm>
            <a:off x="11430000" y="50927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BMI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26.43</a:t>
            </a:r>
          </a:p>
        </p:txBody>
      </p:sp>
      <p:sp>
        <p:nvSpPr>
          <p:cNvPr id="63" name="block-652">
            <a:extLst>
              <a:ext uri="{FF2B5EF4-FFF2-40B4-BE49-F238E27FC236}">
                <a16:creationId xmlns:a16="http://schemas.microsoft.com/office/drawing/2014/main" id="{2A643BFC-A85C-439C-AE17-7572D320E70C}"/>
              </a:ext>
            </a:extLst>
          </p:cNvPr>
          <p:cNvSpPr>
            <a:spLocks noGrp="1"/>
          </p:cNvSpPr>
          <p:nvPr/>
        </p:nvSpPr>
        <p:spPr>
          <a:xfrm>
            <a:off x="10934700" y="59944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-653">
            <a:extLst>
              <a:ext uri="{FF2B5EF4-FFF2-40B4-BE49-F238E27FC236}">
                <a16:creationId xmlns:a16="http://schemas.microsoft.com/office/drawing/2014/main" id="{9512B9C6-2AE0-4781-961D-814C1340C891}"/>
              </a:ext>
            </a:extLst>
          </p:cNvPr>
          <p:cNvSpPr>
            <a:spLocks noGrp="1"/>
          </p:cNvSpPr>
          <p:nvPr/>
        </p:nvSpPr>
        <p:spPr>
          <a:xfrm>
            <a:off x="10960100" y="60325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65" name="block-654">
            <a:extLst>
              <a:ext uri="{FF2B5EF4-FFF2-40B4-BE49-F238E27FC236}">
                <a16:creationId xmlns:a16="http://schemas.microsoft.com/office/drawing/2014/main" id="{FA9EE3F0-1BA1-4B5C-8480-C16A99B2553B}"/>
              </a:ext>
            </a:extLst>
          </p:cNvPr>
          <p:cNvSpPr>
            <a:spLocks noGrp="1"/>
          </p:cNvSpPr>
          <p:nvPr/>
        </p:nvSpPr>
        <p:spPr>
          <a:xfrm>
            <a:off x="11874500" y="59944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-655">
            <a:extLst>
              <a:ext uri="{FF2B5EF4-FFF2-40B4-BE49-F238E27FC236}">
                <a16:creationId xmlns:a16="http://schemas.microsoft.com/office/drawing/2014/main" id="{DC4781A5-A38E-4B92-A940-3587DE221100}"/>
              </a:ext>
            </a:extLst>
          </p:cNvPr>
          <p:cNvSpPr>
            <a:spLocks noGrp="1"/>
          </p:cNvSpPr>
          <p:nvPr/>
        </p:nvSpPr>
        <p:spPr>
          <a:xfrm>
            <a:off x="11899900" y="60325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67" name="block-656">
            <a:extLst>
              <a:ext uri="{FF2B5EF4-FFF2-40B4-BE49-F238E27FC236}">
                <a16:creationId xmlns:a16="http://schemas.microsoft.com/office/drawing/2014/main" id="{0844AB41-450E-4F50-B024-9EFA2A8FD83E}"/>
              </a:ext>
            </a:extLst>
          </p:cNvPr>
          <p:cNvSpPr>
            <a:spLocks noGrp="1"/>
          </p:cNvSpPr>
          <p:nvPr/>
        </p:nvSpPr>
        <p:spPr>
          <a:xfrm>
            <a:off x="13519150" y="50546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-657">
            <a:extLst>
              <a:ext uri="{FF2B5EF4-FFF2-40B4-BE49-F238E27FC236}">
                <a16:creationId xmlns:a16="http://schemas.microsoft.com/office/drawing/2014/main" id="{3E19881B-3D26-43D8-85EB-FEE30E15914B}"/>
              </a:ext>
            </a:extLst>
          </p:cNvPr>
          <p:cNvSpPr>
            <a:spLocks noGrp="1"/>
          </p:cNvSpPr>
          <p:nvPr/>
        </p:nvSpPr>
        <p:spPr>
          <a:xfrm>
            <a:off x="13544550" y="50927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58.50</a:t>
            </a:r>
          </a:p>
        </p:txBody>
      </p:sp>
      <p:sp>
        <p:nvSpPr>
          <p:cNvPr id="69" name="block-658">
            <a:extLst>
              <a:ext uri="{FF2B5EF4-FFF2-40B4-BE49-F238E27FC236}">
                <a16:creationId xmlns:a16="http://schemas.microsoft.com/office/drawing/2014/main" id="{8C3C96B8-D543-4A29-8024-7B1B568CBBD9}"/>
              </a:ext>
            </a:extLst>
          </p:cNvPr>
          <p:cNvSpPr>
            <a:spLocks noGrp="1"/>
          </p:cNvSpPr>
          <p:nvPr/>
        </p:nvSpPr>
        <p:spPr>
          <a:xfrm>
            <a:off x="12814300" y="59944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-659">
            <a:extLst>
              <a:ext uri="{FF2B5EF4-FFF2-40B4-BE49-F238E27FC236}">
                <a16:creationId xmlns:a16="http://schemas.microsoft.com/office/drawing/2014/main" id="{1A25B3AE-73FA-4C69-976B-A399441D6A38}"/>
              </a:ext>
            </a:extLst>
          </p:cNvPr>
          <p:cNvSpPr>
            <a:spLocks noGrp="1"/>
          </p:cNvSpPr>
          <p:nvPr/>
        </p:nvSpPr>
        <p:spPr>
          <a:xfrm>
            <a:off x="12839700" y="60325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71" name="block-660">
            <a:extLst>
              <a:ext uri="{FF2B5EF4-FFF2-40B4-BE49-F238E27FC236}">
                <a16:creationId xmlns:a16="http://schemas.microsoft.com/office/drawing/2014/main" id="{8BD2E128-49A1-4E50-83B6-0C769AA68FAB}"/>
              </a:ext>
            </a:extLst>
          </p:cNvPr>
          <p:cNvSpPr>
            <a:spLocks noGrp="1"/>
          </p:cNvSpPr>
          <p:nvPr/>
        </p:nvSpPr>
        <p:spPr>
          <a:xfrm>
            <a:off x="14224000" y="59944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1565A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-661">
            <a:extLst>
              <a:ext uri="{FF2B5EF4-FFF2-40B4-BE49-F238E27FC236}">
                <a16:creationId xmlns:a16="http://schemas.microsoft.com/office/drawing/2014/main" id="{3574B3E6-8BC6-41C1-8A3E-6255F7B9998E}"/>
              </a:ext>
            </a:extLst>
          </p:cNvPr>
          <p:cNvSpPr>
            <a:spLocks noGrp="1"/>
          </p:cNvSpPr>
          <p:nvPr/>
        </p:nvSpPr>
        <p:spPr>
          <a:xfrm>
            <a:off x="14249400" y="60325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Charges</a:t>
            </a:r>
          </a:p>
          <a:p>
            <a:pPr algn="ctr"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≤ $40,960</a:t>
            </a:r>
          </a:p>
        </p:txBody>
      </p:sp>
      <p:sp>
        <p:nvSpPr>
          <p:cNvPr id="73" name="block-662">
            <a:extLst>
              <a:ext uri="{FF2B5EF4-FFF2-40B4-BE49-F238E27FC236}">
                <a16:creationId xmlns:a16="http://schemas.microsoft.com/office/drawing/2014/main" id="{77CA74AE-E40C-4A01-BBAD-A254044C118B}"/>
              </a:ext>
            </a:extLst>
          </p:cNvPr>
          <p:cNvSpPr>
            <a:spLocks noGrp="1"/>
          </p:cNvSpPr>
          <p:nvPr/>
        </p:nvSpPr>
        <p:spPr>
          <a:xfrm>
            <a:off x="13754100" y="6934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C86A2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-663">
            <a:extLst>
              <a:ext uri="{FF2B5EF4-FFF2-40B4-BE49-F238E27FC236}">
                <a16:creationId xmlns:a16="http://schemas.microsoft.com/office/drawing/2014/main" id="{2265E088-490C-4031-8505-9CB0B0BB65E3}"/>
              </a:ext>
            </a:extLst>
          </p:cNvPr>
          <p:cNvSpPr>
            <a:spLocks noGrp="1"/>
          </p:cNvSpPr>
          <p:nvPr/>
        </p:nvSpPr>
        <p:spPr>
          <a:xfrm>
            <a:off x="13779500" y="6972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75" name="block-664">
            <a:extLst>
              <a:ext uri="{FF2B5EF4-FFF2-40B4-BE49-F238E27FC236}">
                <a16:creationId xmlns:a16="http://schemas.microsoft.com/office/drawing/2014/main" id="{72CE4737-C5A7-443F-B94A-AE4D3D932598}"/>
              </a:ext>
            </a:extLst>
          </p:cNvPr>
          <p:cNvSpPr>
            <a:spLocks noGrp="1"/>
          </p:cNvSpPr>
          <p:nvPr/>
        </p:nvSpPr>
        <p:spPr>
          <a:xfrm>
            <a:off x="14693900" y="6934200"/>
            <a:ext cx="863600" cy="622300"/>
          </a:xfrm>
          <a:prstGeom prst="roundRect">
            <a:avLst>
              <a:gd name="adj" fmla="val 8163"/>
            </a:avLst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-665">
            <a:extLst>
              <a:ext uri="{FF2B5EF4-FFF2-40B4-BE49-F238E27FC236}">
                <a16:creationId xmlns:a16="http://schemas.microsoft.com/office/drawing/2014/main" id="{41AD47DF-2A7B-4176-A38B-073F3009246C}"/>
              </a:ext>
            </a:extLst>
          </p:cNvPr>
          <p:cNvSpPr>
            <a:spLocks noGrp="1"/>
          </p:cNvSpPr>
          <p:nvPr/>
        </p:nvSpPr>
        <p:spPr>
          <a:xfrm>
            <a:off x="14719300" y="6972300"/>
            <a:ext cx="8128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78" name="text-666">
            <a:extLst>
              <a:ext uri="{FF2B5EF4-FFF2-40B4-BE49-F238E27FC236}">
                <a16:creationId xmlns:a16="http://schemas.microsoft.com/office/drawing/2014/main" id="{A94DD57A-51D2-4547-B130-CCFFA02A945A}"/>
              </a:ext>
            </a:extLst>
          </p:cNvPr>
          <p:cNvSpPr>
            <a:spLocks noGrp="1"/>
          </p:cNvSpPr>
          <p:nvPr/>
        </p:nvSpPr>
        <p:spPr>
          <a:xfrm>
            <a:off x="5672138" y="29400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80" name="text-667">
            <a:extLst>
              <a:ext uri="{FF2B5EF4-FFF2-40B4-BE49-F238E27FC236}">
                <a16:creationId xmlns:a16="http://schemas.microsoft.com/office/drawing/2014/main" id="{6B94E480-2530-4244-B753-D6FD541FF342}"/>
              </a:ext>
            </a:extLst>
          </p:cNvPr>
          <p:cNvSpPr>
            <a:spLocks noGrp="1"/>
          </p:cNvSpPr>
          <p:nvPr/>
        </p:nvSpPr>
        <p:spPr>
          <a:xfrm>
            <a:off x="9196388" y="29400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82" name="text-668">
            <a:extLst>
              <a:ext uri="{FF2B5EF4-FFF2-40B4-BE49-F238E27FC236}">
                <a16:creationId xmlns:a16="http://schemas.microsoft.com/office/drawing/2014/main" id="{2C8FFB32-1525-4A81-943A-B08686B4971C}"/>
              </a:ext>
            </a:extLst>
          </p:cNvPr>
          <p:cNvSpPr>
            <a:spLocks noGrp="1"/>
          </p:cNvSpPr>
          <p:nvPr/>
        </p:nvSpPr>
        <p:spPr>
          <a:xfrm>
            <a:off x="3293269" y="38798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84" name="text-669">
            <a:extLst>
              <a:ext uri="{FF2B5EF4-FFF2-40B4-BE49-F238E27FC236}">
                <a16:creationId xmlns:a16="http://schemas.microsoft.com/office/drawing/2014/main" id="{74B5ABC3-FAF9-45F2-AC33-06BF19B3916E}"/>
              </a:ext>
            </a:extLst>
          </p:cNvPr>
          <p:cNvSpPr>
            <a:spLocks noGrp="1"/>
          </p:cNvSpPr>
          <p:nvPr/>
        </p:nvSpPr>
        <p:spPr>
          <a:xfrm>
            <a:off x="4526756" y="38798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86" name="text-670">
            <a:extLst>
              <a:ext uri="{FF2B5EF4-FFF2-40B4-BE49-F238E27FC236}">
                <a16:creationId xmlns:a16="http://schemas.microsoft.com/office/drawing/2014/main" id="{EB3A3922-585F-43EF-99F1-36A1720EAE49}"/>
              </a:ext>
            </a:extLst>
          </p:cNvPr>
          <p:cNvSpPr>
            <a:spLocks noGrp="1"/>
          </p:cNvSpPr>
          <p:nvPr/>
        </p:nvSpPr>
        <p:spPr>
          <a:xfrm>
            <a:off x="2147888" y="48196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88" name="text-671">
            <a:extLst>
              <a:ext uri="{FF2B5EF4-FFF2-40B4-BE49-F238E27FC236}">
                <a16:creationId xmlns:a16="http://schemas.microsoft.com/office/drawing/2014/main" id="{3CC70D13-4312-4F54-A65D-F4575D0F307D}"/>
              </a:ext>
            </a:extLst>
          </p:cNvPr>
          <p:cNvSpPr>
            <a:spLocks noGrp="1"/>
          </p:cNvSpPr>
          <p:nvPr/>
        </p:nvSpPr>
        <p:spPr>
          <a:xfrm>
            <a:off x="3205163" y="48196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0" name="text-672">
            <a:extLst>
              <a:ext uri="{FF2B5EF4-FFF2-40B4-BE49-F238E27FC236}">
                <a16:creationId xmlns:a16="http://schemas.microsoft.com/office/drawing/2014/main" id="{7FB27A7E-2003-414A-B99F-6B757D5B748C}"/>
              </a:ext>
            </a:extLst>
          </p:cNvPr>
          <p:cNvSpPr>
            <a:spLocks noGrp="1"/>
          </p:cNvSpPr>
          <p:nvPr/>
        </p:nvSpPr>
        <p:spPr>
          <a:xfrm>
            <a:off x="1266825" y="57594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92" name="text-673">
            <a:extLst>
              <a:ext uri="{FF2B5EF4-FFF2-40B4-BE49-F238E27FC236}">
                <a16:creationId xmlns:a16="http://schemas.microsoft.com/office/drawing/2014/main" id="{F68392A9-6CCC-4C0D-9284-BD47401341E2}"/>
              </a:ext>
            </a:extLst>
          </p:cNvPr>
          <p:cNvSpPr>
            <a:spLocks noGrp="1"/>
          </p:cNvSpPr>
          <p:nvPr/>
        </p:nvSpPr>
        <p:spPr>
          <a:xfrm>
            <a:off x="1971675" y="57594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4" name="text-674">
            <a:extLst>
              <a:ext uri="{FF2B5EF4-FFF2-40B4-BE49-F238E27FC236}">
                <a16:creationId xmlns:a16="http://schemas.microsoft.com/office/drawing/2014/main" id="{7EE0039E-7391-4FE6-8366-04A5813C206F}"/>
              </a:ext>
            </a:extLst>
          </p:cNvPr>
          <p:cNvSpPr>
            <a:spLocks noGrp="1"/>
          </p:cNvSpPr>
          <p:nvPr/>
        </p:nvSpPr>
        <p:spPr>
          <a:xfrm>
            <a:off x="2089150" y="66992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96" name="text-675">
            <a:extLst>
              <a:ext uri="{FF2B5EF4-FFF2-40B4-BE49-F238E27FC236}">
                <a16:creationId xmlns:a16="http://schemas.microsoft.com/office/drawing/2014/main" id="{DD58ADD1-B283-44A0-A6DD-2625FE530473}"/>
              </a:ext>
            </a:extLst>
          </p:cNvPr>
          <p:cNvSpPr>
            <a:spLocks noGrp="1"/>
          </p:cNvSpPr>
          <p:nvPr/>
        </p:nvSpPr>
        <p:spPr>
          <a:xfrm>
            <a:off x="2559050" y="66992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98" name="text-676">
            <a:extLst>
              <a:ext uri="{FF2B5EF4-FFF2-40B4-BE49-F238E27FC236}">
                <a16:creationId xmlns:a16="http://schemas.microsoft.com/office/drawing/2014/main" id="{CD5C7EB9-6AB8-4687-B5CE-35B655A85B3A}"/>
              </a:ext>
            </a:extLst>
          </p:cNvPr>
          <p:cNvSpPr>
            <a:spLocks noGrp="1"/>
          </p:cNvSpPr>
          <p:nvPr/>
        </p:nvSpPr>
        <p:spPr>
          <a:xfrm>
            <a:off x="4908550" y="48196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00" name="text-677">
            <a:extLst>
              <a:ext uri="{FF2B5EF4-FFF2-40B4-BE49-F238E27FC236}">
                <a16:creationId xmlns:a16="http://schemas.microsoft.com/office/drawing/2014/main" id="{BBA40D13-B624-4594-B9C7-9251D1FD6AD7}"/>
              </a:ext>
            </a:extLst>
          </p:cNvPr>
          <p:cNvSpPr>
            <a:spLocks noGrp="1"/>
          </p:cNvSpPr>
          <p:nvPr/>
        </p:nvSpPr>
        <p:spPr>
          <a:xfrm>
            <a:off x="5378450" y="48196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2" name="text-678">
            <a:extLst>
              <a:ext uri="{FF2B5EF4-FFF2-40B4-BE49-F238E27FC236}">
                <a16:creationId xmlns:a16="http://schemas.microsoft.com/office/drawing/2014/main" id="{6FC7380F-ED64-435B-9FCB-804CAC2E2D72}"/>
              </a:ext>
            </a:extLst>
          </p:cNvPr>
          <p:cNvSpPr>
            <a:spLocks noGrp="1"/>
          </p:cNvSpPr>
          <p:nvPr/>
        </p:nvSpPr>
        <p:spPr>
          <a:xfrm>
            <a:off x="10048081" y="38798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04" name="text-679">
            <a:extLst>
              <a:ext uri="{FF2B5EF4-FFF2-40B4-BE49-F238E27FC236}">
                <a16:creationId xmlns:a16="http://schemas.microsoft.com/office/drawing/2014/main" id="{55B90AF9-316C-4ADD-AC05-AFE5FE9736BB}"/>
              </a:ext>
            </a:extLst>
          </p:cNvPr>
          <p:cNvSpPr>
            <a:spLocks noGrp="1"/>
          </p:cNvSpPr>
          <p:nvPr/>
        </p:nvSpPr>
        <p:spPr>
          <a:xfrm>
            <a:off x="11868944" y="38798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06" name="text-680">
            <a:extLst>
              <a:ext uri="{FF2B5EF4-FFF2-40B4-BE49-F238E27FC236}">
                <a16:creationId xmlns:a16="http://schemas.microsoft.com/office/drawing/2014/main" id="{1EE08378-43DA-40AD-96B9-41AC2BA7D891}"/>
              </a:ext>
            </a:extLst>
          </p:cNvPr>
          <p:cNvSpPr>
            <a:spLocks noGrp="1"/>
          </p:cNvSpPr>
          <p:nvPr/>
        </p:nvSpPr>
        <p:spPr>
          <a:xfrm>
            <a:off x="8550275" y="48196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08" name="text-681">
            <a:extLst>
              <a:ext uri="{FF2B5EF4-FFF2-40B4-BE49-F238E27FC236}">
                <a16:creationId xmlns:a16="http://schemas.microsoft.com/office/drawing/2014/main" id="{3BEF41ED-35B0-490C-81DF-05AA55FA85F6}"/>
              </a:ext>
            </a:extLst>
          </p:cNvPr>
          <p:cNvSpPr>
            <a:spLocks noGrp="1"/>
          </p:cNvSpPr>
          <p:nvPr/>
        </p:nvSpPr>
        <p:spPr>
          <a:xfrm>
            <a:off x="9725025" y="48196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0" name="text-682">
            <a:extLst>
              <a:ext uri="{FF2B5EF4-FFF2-40B4-BE49-F238E27FC236}">
                <a16:creationId xmlns:a16="http://schemas.microsoft.com/office/drawing/2014/main" id="{090F0474-90E0-4410-9C7B-105F2FA9EDEA}"/>
              </a:ext>
            </a:extLst>
          </p:cNvPr>
          <p:cNvSpPr>
            <a:spLocks noGrp="1"/>
          </p:cNvSpPr>
          <p:nvPr/>
        </p:nvSpPr>
        <p:spPr>
          <a:xfrm>
            <a:off x="7493000" y="57594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12" name="text-683">
            <a:extLst>
              <a:ext uri="{FF2B5EF4-FFF2-40B4-BE49-F238E27FC236}">
                <a16:creationId xmlns:a16="http://schemas.microsoft.com/office/drawing/2014/main" id="{3F97EA56-F469-4825-8CCA-630019897763}"/>
              </a:ext>
            </a:extLst>
          </p:cNvPr>
          <p:cNvSpPr>
            <a:spLocks noGrp="1"/>
          </p:cNvSpPr>
          <p:nvPr/>
        </p:nvSpPr>
        <p:spPr>
          <a:xfrm>
            <a:off x="8432800" y="57594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4" name="text-684">
            <a:extLst>
              <a:ext uri="{FF2B5EF4-FFF2-40B4-BE49-F238E27FC236}">
                <a16:creationId xmlns:a16="http://schemas.microsoft.com/office/drawing/2014/main" id="{AA100BC3-0E50-4E0D-AE37-FB211AE57450}"/>
              </a:ext>
            </a:extLst>
          </p:cNvPr>
          <p:cNvSpPr>
            <a:spLocks noGrp="1"/>
          </p:cNvSpPr>
          <p:nvPr/>
        </p:nvSpPr>
        <p:spPr>
          <a:xfrm>
            <a:off x="6788150" y="66992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16" name="text-685">
            <a:extLst>
              <a:ext uri="{FF2B5EF4-FFF2-40B4-BE49-F238E27FC236}">
                <a16:creationId xmlns:a16="http://schemas.microsoft.com/office/drawing/2014/main" id="{BE50EE60-8974-4C08-91AD-8D4175203FA7}"/>
              </a:ext>
            </a:extLst>
          </p:cNvPr>
          <p:cNvSpPr>
            <a:spLocks noGrp="1"/>
          </p:cNvSpPr>
          <p:nvPr/>
        </p:nvSpPr>
        <p:spPr>
          <a:xfrm>
            <a:off x="7258050" y="66992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18" name="text-686">
            <a:extLst>
              <a:ext uri="{FF2B5EF4-FFF2-40B4-BE49-F238E27FC236}">
                <a16:creationId xmlns:a16="http://schemas.microsoft.com/office/drawing/2014/main" id="{D4891E1B-994E-4B32-A0CD-A24BD76F12AA}"/>
              </a:ext>
            </a:extLst>
          </p:cNvPr>
          <p:cNvSpPr>
            <a:spLocks noGrp="1"/>
          </p:cNvSpPr>
          <p:nvPr/>
        </p:nvSpPr>
        <p:spPr>
          <a:xfrm>
            <a:off x="8667750" y="66992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20" name="text-687">
            <a:extLst>
              <a:ext uri="{FF2B5EF4-FFF2-40B4-BE49-F238E27FC236}">
                <a16:creationId xmlns:a16="http://schemas.microsoft.com/office/drawing/2014/main" id="{AF2E2405-7DD0-4025-99C0-9A5AEEEF8DF6}"/>
              </a:ext>
            </a:extLst>
          </p:cNvPr>
          <p:cNvSpPr>
            <a:spLocks noGrp="1"/>
          </p:cNvSpPr>
          <p:nvPr/>
        </p:nvSpPr>
        <p:spPr>
          <a:xfrm>
            <a:off x="9137650" y="66992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22" name="text-688">
            <a:extLst>
              <a:ext uri="{FF2B5EF4-FFF2-40B4-BE49-F238E27FC236}">
                <a16:creationId xmlns:a16="http://schemas.microsoft.com/office/drawing/2014/main" id="{A2FDE862-FB58-42A1-B0C4-9041F95E742E}"/>
              </a:ext>
            </a:extLst>
          </p:cNvPr>
          <p:cNvSpPr>
            <a:spLocks noGrp="1"/>
          </p:cNvSpPr>
          <p:nvPr/>
        </p:nvSpPr>
        <p:spPr>
          <a:xfrm>
            <a:off x="12250737" y="48196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24" name="text-689">
            <a:extLst>
              <a:ext uri="{FF2B5EF4-FFF2-40B4-BE49-F238E27FC236}">
                <a16:creationId xmlns:a16="http://schemas.microsoft.com/office/drawing/2014/main" id="{A3068FA3-4E7B-41F8-8157-43D970660279}"/>
              </a:ext>
            </a:extLst>
          </p:cNvPr>
          <p:cNvSpPr>
            <a:spLocks noGrp="1"/>
          </p:cNvSpPr>
          <p:nvPr/>
        </p:nvSpPr>
        <p:spPr>
          <a:xfrm>
            <a:off x="13308012" y="48196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26" name="text-690">
            <a:extLst>
              <a:ext uri="{FF2B5EF4-FFF2-40B4-BE49-F238E27FC236}">
                <a16:creationId xmlns:a16="http://schemas.microsoft.com/office/drawing/2014/main" id="{9791315B-51C8-4FDC-8D3C-9CD7303BE1FA}"/>
              </a:ext>
            </a:extLst>
          </p:cNvPr>
          <p:cNvSpPr>
            <a:spLocks noGrp="1"/>
          </p:cNvSpPr>
          <p:nvPr/>
        </p:nvSpPr>
        <p:spPr>
          <a:xfrm>
            <a:off x="11487150" y="57594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28" name="text-691">
            <a:extLst>
              <a:ext uri="{FF2B5EF4-FFF2-40B4-BE49-F238E27FC236}">
                <a16:creationId xmlns:a16="http://schemas.microsoft.com/office/drawing/2014/main" id="{9D25E964-882C-4E6E-9895-BC4AE731637D}"/>
              </a:ext>
            </a:extLst>
          </p:cNvPr>
          <p:cNvSpPr>
            <a:spLocks noGrp="1"/>
          </p:cNvSpPr>
          <p:nvPr/>
        </p:nvSpPr>
        <p:spPr>
          <a:xfrm>
            <a:off x="11957050" y="57594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30" name="text-692">
            <a:extLst>
              <a:ext uri="{FF2B5EF4-FFF2-40B4-BE49-F238E27FC236}">
                <a16:creationId xmlns:a16="http://schemas.microsoft.com/office/drawing/2014/main" id="{F1775499-3A65-41F6-B519-3E79437F6986}"/>
              </a:ext>
            </a:extLst>
          </p:cNvPr>
          <p:cNvSpPr>
            <a:spLocks noGrp="1"/>
          </p:cNvSpPr>
          <p:nvPr/>
        </p:nvSpPr>
        <p:spPr>
          <a:xfrm>
            <a:off x="13484225" y="57594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32" name="text-693">
            <a:extLst>
              <a:ext uri="{FF2B5EF4-FFF2-40B4-BE49-F238E27FC236}">
                <a16:creationId xmlns:a16="http://schemas.microsoft.com/office/drawing/2014/main" id="{74B68EA6-3776-4969-9CA2-6B4EF8CB28A1}"/>
              </a:ext>
            </a:extLst>
          </p:cNvPr>
          <p:cNvSpPr>
            <a:spLocks noGrp="1"/>
          </p:cNvSpPr>
          <p:nvPr/>
        </p:nvSpPr>
        <p:spPr>
          <a:xfrm>
            <a:off x="14189075" y="57594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34" name="text-694">
            <a:extLst>
              <a:ext uri="{FF2B5EF4-FFF2-40B4-BE49-F238E27FC236}">
                <a16:creationId xmlns:a16="http://schemas.microsoft.com/office/drawing/2014/main" id="{6E235BA9-1604-4EEB-98B8-3AAA48C03874}"/>
              </a:ext>
            </a:extLst>
          </p:cNvPr>
          <p:cNvSpPr>
            <a:spLocks noGrp="1"/>
          </p:cNvSpPr>
          <p:nvPr/>
        </p:nvSpPr>
        <p:spPr>
          <a:xfrm>
            <a:off x="14306550" y="66992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36" name="text-695">
            <a:extLst>
              <a:ext uri="{FF2B5EF4-FFF2-40B4-BE49-F238E27FC236}">
                <a16:creationId xmlns:a16="http://schemas.microsoft.com/office/drawing/2014/main" id="{1AEE2525-E0A4-43F7-B381-B68A23665EC1}"/>
              </a:ext>
            </a:extLst>
          </p:cNvPr>
          <p:cNvSpPr>
            <a:spLocks noGrp="1"/>
          </p:cNvSpPr>
          <p:nvPr/>
        </p:nvSpPr>
        <p:spPr>
          <a:xfrm>
            <a:off x="14776450" y="6699250"/>
            <a:ext cx="2286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C2833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37" name="block-696">
            <a:extLst>
              <a:ext uri="{FF2B5EF4-FFF2-40B4-BE49-F238E27FC236}">
                <a16:creationId xmlns:a16="http://schemas.microsoft.com/office/drawing/2014/main" id="{294A0E10-743C-4858-A581-BD4DDA4BA0E4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14935200" cy="774700"/>
          </a:xfrm>
          <a:prstGeom prst="rect">
            <a:avLst/>
          </a:prstGeom>
          <a:solidFill>
            <a:srgbClr val="E5F2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block-697">
            <a:extLst>
              <a:ext uri="{FF2B5EF4-FFF2-40B4-BE49-F238E27FC236}">
                <a16:creationId xmlns:a16="http://schemas.microsoft.com/office/drawing/2014/main" id="{28551A79-F1CE-45DA-9F15-EE2D91569DDF}"/>
              </a:ext>
            </a:extLst>
          </p:cNvPr>
          <p:cNvSpPr>
            <a:spLocks noGrp="1"/>
          </p:cNvSpPr>
          <p:nvPr/>
        </p:nvSpPr>
        <p:spPr>
          <a:xfrm>
            <a:off x="660400" y="7912100"/>
            <a:ext cx="63500" cy="7747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-698">
            <a:extLst>
              <a:ext uri="{FF2B5EF4-FFF2-40B4-BE49-F238E27FC236}">
                <a16:creationId xmlns:a16="http://schemas.microsoft.com/office/drawing/2014/main" id="{0CBC627B-B864-4BC0-A0FC-4A575EA54ED7}"/>
              </a:ext>
            </a:extLst>
          </p:cNvPr>
          <p:cNvSpPr>
            <a:spLocks noGrp="1"/>
          </p:cNvSpPr>
          <p:nvPr/>
        </p:nvSpPr>
        <p:spPr>
          <a:xfrm>
            <a:off x="939800" y="8013700"/>
            <a:ext cx="2032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0D8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8A8A"/>
                </a:solidFill>
                <a:latin typeface="Arial"/>
                <a:ea typeface="Arial"/>
                <a:cs typeface="Arial"/>
              </a:rPr>
              <a:t>HOW TO READ</a:t>
            </a:r>
          </a:p>
        </p:txBody>
      </p:sp>
      <p:sp>
        <p:nvSpPr>
          <p:cNvPr id="140" name="text-699">
            <a:extLst>
              <a:ext uri="{FF2B5EF4-FFF2-40B4-BE49-F238E27FC236}">
                <a16:creationId xmlns:a16="http://schemas.microsoft.com/office/drawing/2014/main" id="{38B59020-DE01-4F79-8074-0DBFCDBA117B}"/>
              </a:ext>
            </a:extLst>
          </p:cNvPr>
          <p:cNvSpPr>
            <a:spLocks noGrp="1"/>
          </p:cNvSpPr>
          <p:nvPr/>
        </p:nvSpPr>
        <p:spPr>
          <a:xfrm>
            <a:off x="3073400" y="8001000"/>
            <a:ext cx="122047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0">
                <a:solidFill>
                  <a:srgbClr val="1C28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2833"/>
                </a:solidFill>
                <a:latin typeface="Arial"/>
                <a:ea typeface="Arial"/>
                <a:cs typeface="Arial"/>
              </a:rPr>
              <a:t>Y follows the “≤” condition; N follows “&gt;”. Thresholds are rounded. Slides 13–14 explain example paths.</a:t>
            </a:r>
          </a:p>
        </p:txBody>
      </p:sp>
    </p:spTree>
    <p:extLst>
      <p:ext uri="{BB962C8B-B14F-4D97-AF65-F5344CB8AC3E}">
        <p14:creationId xmlns:p14="http://schemas.microsoft.com/office/powerpoint/2010/main" val="11957205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Microsoft Office PowerPoint</Application>
  <DocSecurity>0</DocSecurity>
  <PresentationFormat>Custom</PresentationFormat>
  <Paragraphs>647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Talha Shahzad</cp:lastModifiedBy>
  <cp:revision>1</cp:revision>
  <dcterms:created xsi:type="dcterms:W3CDTF">2026-10-08T13:22:26Z</dcterms:created>
  <dcterms:modified xsi:type="dcterms:W3CDTF">2026-10-08T18:16:37Z</dcterms:modified>
</cp:coreProperties>
</file>